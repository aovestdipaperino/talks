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37" name="Shape 337"/>
          <p:cNvSpPr/>
          <p:nvPr>
            <p:ph type="sldImg"/>
          </p:nvPr>
        </p:nvSpPr>
        <p:spPr>
          <a:xfrm>
            <a:off x="1143000" y="685800"/>
            <a:ext cx="4572000" cy="3429000"/>
          </a:xfrm>
          <a:prstGeom prst="rect">
            <a:avLst/>
          </a:prstGeom>
        </p:spPr>
        <p:txBody>
          <a:bodyPr/>
          <a:lstStyle/>
          <a:p>
            <a:pPr/>
          </a:p>
        </p:txBody>
      </p:sp>
      <p:sp>
        <p:nvSpPr>
          <p:cNvPr id="338" name="Shape 33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marL="457200" indent="-298450">
              <a:buClr>
                <a:srgbClr val="000000"/>
              </a:buClr>
              <a:buSzPts val="1100"/>
              <a:buFont typeface="Arial"/>
              <a:buChar char="●"/>
              <a:defRPr sz="1100"/>
            </a:pPr>
            <a:r>
              <a:t>CHIAREZZA</a:t>
            </a:r>
          </a:p>
          <a:p>
            <a:pPr marL="457200" indent="-298450">
              <a:buClr>
                <a:srgbClr val="000000"/>
              </a:buClr>
              <a:buSzPts val="1100"/>
              <a:buFont typeface="Arial"/>
              <a:buChar char="●"/>
              <a:defRPr sz="1100"/>
            </a:pPr>
            <a:r>
              <a:t>SCHIFO</a:t>
            </a:r>
          </a:p>
          <a:p>
            <a:pPr marL="457200" indent="-298450">
              <a:buClr>
                <a:srgbClr val="000000"/>
              </a:buClr>
              <a:buSzPts val="1100"/>
              <a:buFont typeface="Arial"/>
              <a:buChar char="●"/>
              <a:defRPr sz="1100"/>
            </a:pPr>
            <a:r>
              <a:t>ABITUDINI ADOTTATE E SE SERVONO</a:t>
            </a:r>
          </a:p>
          <a:p>
            <a:pPr marL="457200" indent="-298450">
              <a:buClr>
                <a:srgbClr val="000000"/>
              </a:buClr>
              <a:buSzPts val="1100"/>
              <a:buFont typeface="Arial"/>
              <a:buChar char="●"/>
              <a:defRPr sz="1100"/>
            </a:pPr>
            <a:r>
              <a:t>PREMESSA OOP E LINGUAGGI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hape 370"/>
          <p:cNvSpPr/>
          <p:nvPr>
            <p:ph type="sldImg"/>
          </p:nvPr>
        </p:nvSpPr>
        <p:spPr>
          <a:prstGeom prst="rect">
            <a:avLst/>
          </a:prstGeom>
        </p:spPr>
        <p:txBody>
          <a:bodyPr/>
          <a:lstStyle/>
          <a:p>
            <a:pPr/>
          </a:p>
        </p:txBody>
      </p:sp>
      <p:sp>
        <p:nvSpPr>
          <p:cNvPr id="371" name="Shape 371"/>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Non devo sapere la risposta. Ma voglio che la pensiate. Quante volte. Questa settimana.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Shape 380"/>
          <p:cNvSpPr/>
          <p:nvPr>
            <p:ph type="sldImg"/>
          </p:nvPr>
        </p:nvSpPr>
        <p:spPr>
          <a:prstGeom prst="rect">
            <a:avLst/>
          </a:prstGeom>
        </p:spPr>
        <p:txBody>
          <a:bodyPr/>
          <a:lstStyle/>
          <a:p>
            <a:pPr/>
          </a:p>
        </p:txBody>
      </p:sp>
      <p:sp>
        <p:nvSpPr>
          <p:cNvPr id="381" name="Shape 381"/>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Smettere di usarlo per abitudine, senza farsi la domanda.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Shape 409"/>
          <p:cNvSpPr/>
          <p:nvPr>
            <p:ph type="sldImg"/>
          </p:nvPr>
        </p:nvSpPr>
        <p:spPr>
          <a:prstGeom prst="rect">
            <a:avLst/>
          </a:prstGeom>
        </p:spPr>
        <p:txBody>
          <a:bodyPr/>
          <a:lstStyle/>
          <a:p>
            <a:pPr/>
          </a:p>
        </p:txBody>
      </p:sp>
      <p:sp>
        <p:nvSpPr>
          <p:cNvPr id="410" name="Shape 410"/>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Oggi ci muoviamo in quattro blocchi.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423"/>
          <p:cNvSpPr/>
          <p:nvPr>
            <p:ph type="sldImg"/>
          </p:nvPr>
        </p:nvSpPr>
        <p:spPr>
          <a:prstGeom prst="rect">
            <a:avLst/>
          </a:prstGeom>
        </p:spPr>
        <p:txBody>
          <a:bodyPr/>
          <a:lstStyle/>
          <a:p>
            <a:pPr/>
          </a:p>
        </p:txBody>
      </p:sp>
      <p:sp>
        <p:nvSpPr>
          <p:cNvPr id="424" name="Shape 424"/>
          <p:cNvSpPr/>
          <p:nvPr>
            <p:ph type="body" sz="quarter" idx="1"/>
          </p:nvPr>
        </p:nvSpPr>
        <p:spPr>
          <a:prstGeom prst="rect">
            <a:avLst/>
          </a:prstGeom>
        </p:spPr>
        <p:txBody>
          <a:bodyPr/>
          <a:lstStyle/>
          <a:p>
            <a:pPr marL="457200" indent="-298450">
              <a:buClr>
                <a:srgbClr val="000000"/>
              </a:buClr>
              <a:buSzPts val="1100"/>
              <a:buFont typeface="Arial"/>
              <a:buChar char="●"/>
              <a:defRPr sz="1100"/>
            </a:pPr>
            <a:r>
              <a:t>l'astrazione che hanno trovato era potente: prendi le entità del mondo reale, modellale come oggetti, dagli stato e comportamento.</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Semplice. Intuitivo. Funzionava.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marL="457200" indent="-298450">
              <a:buClr>
                <a:srgbClr val="000000"/>
              </a:buClr>
              <a:buSzPts val="1100"/>
              <a:buFont typeface="Arial"/>
              <a:buChar char="●"/>
              <a:defRPr sz="1100"/>
            </a:pPr>
            <a:r>
              <a:t>Tre parole. Il catechismo.</a:t>
            </a:r>
          </a:p>
          <a:p>
            <a:pPr marL="457200" indent="-298450">
              <a:buClr>
                <a:srgbClr val="000000"/>
              </a:buClr>
              <a:buSzPts val="1100"/>
              <a:buFont typeface="Arial"/>
              <a:buChar char="●"/>
              <a:defRPr sz="1100"/>
            </a:pPr>
            <a:r>
              <a:t>Erano — e sono — idee valide. Il problema non è qui. Il problema è quello che è successo dopo.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Shape 457"/>
          <p:cNvSpPr/>
          <p:nvPr>
            <p:ph type="sldImg"/>
          </p:nvPr>
        </p:nvSpPr>
        <p:spPr>
          <a:prstGeom prst="rect">
            <a:avLst/>
          </a:prstGeom>
        </p:spPr>
        <p:txBody>
          <a:bodyPr/>
          <a:lstStyle/>
          <a:p>
            <a:pPr/>
          </a:p>
        </p:txBody>
      </p:sp>
      <p:sp>
        <p:nvSpPr>
          <p:cNvPr id="458" name="Shape 458"/>
          <p:cNvSpPr/>
          <p:nvPr>
            <p:ph type="body" sz="quarter" idx="1"/>
          </p:nvPr>
        </p:nvSpPr>
        <p:spPr>
          <a:prstGeom prst="rect">
            <a:avLst/>
          </a:prstGeom>
        </p:spPr>
        <p:txBody>
          <a:bodyPr/>
          <a:lstStyle/>
          <a:p>
            <a:pPr marL="457200" indent="-298450">
              <a:buClr>
                <a:srgbClr val="000000"/>
              </a:buClr>
              <a:buSzPts val="1100"/>
              <a:buFont typeface="Arial"/>
              <a:buChar char="●"/>
              <a:defRPr sz="1100"/>
            </a:pPr>
            <a:r>
              <a:t>Sembrava naturale. Sembrava ovvio. Il codice doveva rispecchiare il mondo reale, e l'OOP ci dava esattamente questo.</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E quando provi a modellarlo con gerarchie rigide, le cose iniziano a scricchiolare.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Shape 485"/>
          <p:cNvSpPr/>
          <p:nvPr>
            <p:ph type="sldImg"/>
          </p:nvPr>
        </p:nvSpPr>
        <p:spPr>
          <a:prstGeom prst="rect">
            <a:avLst/>
          </a:prstGeom>
        </p:spPr>
        <p:txBody>
          <a:bodyPr/>
          <a:lstStyle/>
          <a:p>
            <a:pPr/>
          </a:p>
        </p:txBody>
      </p:sp>
      <p:sp>
        <p:nvSpPr>
          <p:cNvPr id="486" name="Shape 486"/>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Bello, no? Pulito. Ordinato. Ogni cosa al suo posto. Una gerarchia che rispecchia la biologia, la tassonomia, il mondo reale.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p>
            <a:pPr marL="457200" indent="-298450">
              <a:buClr>
                <a:srgbClr val="000000"/>
              </a:buClr>
              <a:buSzPts val="1100"/>
              <a:buFont typeface="Arial"/>
              <a:buChar char="●"/>
              <a:defRPr sz="1100"/>
            </a:pPr>
            <a:r>
              <a:t>Avete presente quella sensazione? Quando siete in riunione di design e qualcuno dice "ma aspetta, e questo caso?" e la lavagna inizia a riempirsi di frecce che vanno in tutte le direzioni?</a:t>
            </a:r>
          </a:p>
          <a:p>
            <a:pPr marL="457200" indent="-298450">
              <a:buClr>
                <a:srgbClr val="000000"/>
              </a:buClr>
              <a:buSzPts val="1100"/>
              <a:buFont typeface="Arial"/>
              <a:buChar char="●"/>
              <a:defRPr sz="1100"/>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3" name="Shape 513"/>
          <p:cNvSpPr/>
          <p:nvPr>
            <p:ph type="sldImg"/>
          </p:nvPr>
        </p:nvSpPr>
        <p:spPr>
          <a:prstGeom prst="rect">
            <a:avLst/>
          </a:prstGeom>
        </p:spPr>
        <p:txBody>
          <a:bodyPr/>
          <a:lstStyle/>
          <a:p>
            <a:pPr/>
          </a:p>
        </p:txBody>
      </p:sp>
      <p:sp>
        <p:nvSpPr>
          <p:cNvPr id="514" name="Shape 514"/>
          <p:cNvSpPr/>
          <p:nvPr>
            <p:ph type="body" sz="quarter" idx="1"/>
          </p:nvPr>
        </p:nvSpPr>
        <p:spPr>
          <a:prstGeom prst="rect">
            <a:avLst/>
          </a:prstGeom>
        </p:spPr>
        <p:txBody>
          <a:bodyPr/>
          <a:lstStyle/>
          <a:p>
            <a:pPr marL="457200" indent="-298450">
              <a:buClr>
                <a:srgbClr val="000000"/>
              </a:buClr>
              <a:buSzPts val="1100"/>
              <a:buFont typeface="Arial"/>
              <a:buChar char="●"/>
              <a:defRPr sz="1100"/>
            </a:pPr>
            <a:r>
              <a:t>Una generazione intera di sviluppatori — la mia, probabilmente la vostra — ha imparato a programmare con Java. Ha imparato che *questo* è il modo di fare le cose.</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Non era dogma. Era semplicemente quello che tutti insegnavano. E quello che tutti insegnano diventa, nel tempo, quello che tutti danno per scontato.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6" name="Shape 526"/>
          <p:cNvSpPr/>
          <p:nvPr>
            <p:ph type="sldImg"/>
          </p:nvPr>
        </p:nvSpPr>
        <p:spPr>
          <a:prstGeom prst="rect">
            <a:avLst/>
          </a:prstGeom>
        </p:spPr>
        <p:txBody>
          <a:bodyPr/>
          <a:lstStyle/>
          <a:p>
            <a:pPr/>
          </a:p>
        </p:txBody>
      </p:sp>
      <p:sp>
        <p:nvSpPr>
          <p:cNvPr id="527" name="Shape 52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Pagina 20. Primo capitolo. Prima raccomandazione:"*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5" name="Shape 545"/>
          <p:cNvSpPr/>
          <p:nvPr>
            <p:ph type="sldImg"/>
          </p:nvPr>
        </p:nvSpPr>
        <p:spPr>
          <a:prstGeom prst="rect">
            <a:avLst/>
          </a:prstGeom>
        </p:spPr>
        <p:txBody>
          <a:bodyPr/>
          <a:lstStyle/>
          <a:p>
            <a:pPr/>
          </a:p>
        </p:txBody>
      </p:sp>
      <p:sp>
        <p:nvSpPr>
          <p:cNvPr id="546" name="Shape 546"/>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ha un nome preciso perché è un problema noto, documentato, studiato. Non è un'opinione. È una conseguenza strutturale dell'ereditarietà.</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8" name="Shape 578"/>
          <p:cNvSpPr/>
          <p:nvPr>
            <p:ph type="sldImg"/>
          </p:nvPr>
        </p:nvSpPr>
        <p:spPr>
          <a:prstGeom prst="rect">
            <a:avLst/>
          </a:prstGeom>
        </p:spPr>
        <p:txBody>
          <a:bodyPr/>
          <a:lstStyle/>
          <a:p>
            <a:pPr/>
          </a:p>
        </p:txBody>
      </p:sp>
      <p:sp>
        <p:nvSpPr>
          <p:cNvPr id="579" name="Shape 579"/>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Questo è il Fragile Base Class Problem. La sottoclasse dipende dai dettagli implementativi della superclasse. Non dall'interfaccia — dall'implementazione. E quei dettagli possono cambiare.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1" name="Shape 621"/>
          <p:cNvSpPr/>
          <p:nvPr>
            <p:ph type="sldImg"/>
          </p:nvPr>
        </p:nvSpPr>
        <p:spPr>
          <a:prstGeom prst="rect">
            <a:avLst/>
          </a:prstGeom>
        </p:spPr>
        <p:txBody>
          <a:bodyPr/>
          <a:lstStyle/>
          <a:p>
            <a:pPr/>
          </a:p>
        </p:txBody>
      </p:sp>
      <p:sp>
        <p:nvSpPr>
          <p:cNvPr id="622" name="Shape 622"/>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Quanti di voi conoscono un developer che ha ammesso un errore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9" name="Shape 639"/>
          <p:cNvSpPr/>
          <p:nvPr>
            <p:ph type="sldImg"/>
          </p:nvPr>
        </p:nvSpPr>
        <p:spPr>
          <a:prstGeom prst="rect">
            <a:avLst/>
          </a:prstGeom>
        </p:spPr>
        <p:txBody>
          <a:bodyPr/>
          <a:lstStyle/>
          <a:p>
            <a:pPr/>
          </a:p>
        </p:txBody>
      </p:sp>
      <p:sp>
        <p:nvSpPr>
          <p:cNvPr id="640" name="Shape 640"/>
          <p:cNvSpPr/>
          <p:nvPr>
            <p:ph type="body" sz="quarter" idx="1"/>
          </p:nvPr>
        </p:nvSpPr>
        <p:spPr>
          <a:prstGeom prst="rect">
            <a:avLst/>
          </a:prstGeom>
        </p:spPr>
        <p:txBody>
          <a:bodyPr/>
          <a:lstStyle/>
          <a:p>
            <a:pPr marL="457200" indent="-298450">
              <a:buClr>
                <a:srgbClr val="000000"/>
              </a:buClr>
              <a:buSzPts val="1100"/>
              <a:buFont typeface="Arial"/>
              <a:buChar char="●"/>
              <a:defRPr sz="1100"/>
            </a:pPr>
            <a:r>
              <a:t>Il problema di null non è che i programmatori sono distratti. È che null è ambiguo per design.</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A sinistra: quello che pensi di scrivere. Una chiamata a metodo su un riferimento. Normale. A destra: quello che può succedere. Se qualcuno — in qualsiasi punto della catena — ha restituito null invece di un valore, esplode. Runtime. In produzione. Magari a mezzanotte.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3" name="Shape 653"/>
          <p:cNvSpPr/>
          <p:nvPr>
            <p:ph type="sldImg"/>
          </p:nvPr>
        </p:nvSpPr>
        <p:spPr>
          <a:prstGeom prst="rect">
            <a:avLst/>
          </a:prstGeom>
        </p:spPr>
        <p:txBody>
          <a:bodyPr/>
          <a:lstStyle/>
          <a:p>
            <a:pPr/>
          </a:p>
        </p:txBody>
      </p:sp>
      <p:sp>
        <p:nvSpPr>
          <p:cNvPr id="654" name="Shape 654"/>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Non c'è nessun modo di saperlo dalla firma. Devi leggere l'implementazione, la documentazione — se esiste — o scoprirlo in produzione.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5" name="Shape 675"/>
          <p:cNvSpPr/>
          <p:nvPr>
            <p:ph type="sldImg"/>
          </p:nvPr>
        </p:nvSpPr>
        <p:spPr>
          <a:prstGeom prst="rect">
            <a:avLst/>
          </a:prstGeom>
        </p:spPr>
        <p:txBody>
          <a:bodyPr/>
          <a:lstStyle/>
          <a:p>
            <a:pPr/>
          </a:p>
        </p:txBody>
      </p:sp>
      <p:sp>
        <p:nvSpPr>
          <p:cNvPr id="676" name="Shape 676"/>
          <p:cNvSpPr/>
          <p:nvPr>
            <p:ph type="body" sz="quarter" idx="1"/>
          </p:nvPr>
        </p:nvSpPr>
        <p:spPr>
          <a:prstGeom prst="rect">
            <a:avLst/>
          </a:prstGeom>
        </p:spPr>
        <p:txBody>
          <a:bodyPr/>
          <a:lstStyle/>
          <a:p>
            <a:pPr marL="457200" indent="-298450">
              <a:buClr>
                <a:srgbClr val="000000"/>
              </a:buClr>
              <a:buSzPts val="1100"/>
              <a:buFont typeface="Arial"/>
              <a:buChar char="●"/>
              <a:defRPr sz="1100"/>
            </a:pPr>
            <a:r>
              <a:t>Tre snippet. Tre usi di null che ho visto in codebases reali — non inventati, cambiati solo i nomi</a:t>
            </a:r>
          </a:p>
          <a:p>
            <a:pPr marL="457200" indent="-298450">
              <a:buClr>
                <a:srgbClr val="000000"/>
              </a:buClr>
              <a:buSzPts val="1100"/>
              <a:buFont typeface="Arial"/>
              <a:buChar char="●"/>
              <a:defRPr sz="1100"/>
            </a:pPr>
            <a:r>
              <a:t>Stesso tipo. Tre significati completamente diversi. Nessuna informazione nel tipo. Il chiamante deve conoscere la semantica di ogni singolo metodo per sapere quale null sta ricevendo.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6" name="Shape 686"/>
          <p:cNvSpPr/>
          <p:nvPr>
            <p:ph type="sldImg"/>
          </p:nvPr>
        </p:nvSpPr>
        <p:spPr>
          <a:prstGeom prst="rect">
            <a:avLst/>
          </a:prstGeom>
        </p:spPr>
        <p:txBody>
          <a:bodyPr/>
          <a:lstStyle/>
          <a:p>
            <a:pPr/>
          </a:p>
        </p:txBody>
      </p:sp>
      <p:sp>
        <p:nvSpPr>
          <p:cNvPr id="687" name="Shape 68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Terza crepa. Questa è più subdola delle prime due perché non esplode in modo ovvio. Si accumula. Diventa overhead cognitivo. Diventa quell'"ho paura di toccare quel codice" che tutti conoscete.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4" name="Shape 704"/>
          <p:cNvSpPr/>
          <p:nvPr>
            <p:ph type="sldImg"/>
          </p:nvPr>
        </p:nvSpPr>
        <p:spPr>
          <a:prstGeom prst="rect">
            <a:avLst/>
          </a:prstGeom>
        </p:spPr>
        <p:txBody>
          <a:bodyPr/>
          <a:lstStyle/>
          <a:p>
            <a:pPr/>
          </a:p>
        </p:txBody>
      </p:sp>
      <p:sp>
        <p:nvSpPr>
          <p:cNvPr id="705" name="Shape 705"/>
          <p:cNvSpPr/>
          <p:nvPr>
            <p:ph type="body" sz="quarter" idx="1"/>
          </p:nvPr>
        </p:nvSpPr>
        <p:spPr>
          <a:prstGeom prst="rect">
            <a:avLst/>
          </a:prstGeom>
        </p:spPr>
        <p:txBody>
          <a:bodyPr/>
          <a:lstStyle/>
          <a:p>
            <a:pPr marL="457200" indent="-298450">
              <a:buClr>
                <a:srgbClr val="000000"/>
              </a:buClr>
              <a:buSzPts val="1100"/>
              <a:buFont typeface="Arial"/>
              <a:buChar char="●"/>
              <a:defRPr sz="1100"/>
            </a:pPr>
            <a:r>
              <a:t>Ma il sistema si comporta in modo imprevedibile perché nessuno ...</a:t>
            </a:r>
          </a:p>
          <a:p>
            <a:pPr marL="457200" indent="-298450">
              <a:buClr>
                <a:srgbClr val="000000"/>
              </a:buClr>
              <a:buSzPts val="1100"/>
              <a:buFont typeface="Arial"/>
              <a:buChar char="●"/>
              <a:defRPr sz="1100"/>
            </a:pPr>
            <a:r>
              <a:t> Chi lo legge e si aspetta che rimanga stabile.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6" name="Shape 716"/>
          <p:cNvSpPr/>
          <p:nvPr>
            <p:ph type="sldImg"/>
          </p:nvPr>
        </p:nvSpPr>
        <p:spPr>
          <a:prstGeom prst="rect">
            <a:avLst/>
          </a:prstGeom>
        </p:spPr>
        <p:txBody>
          <a:bodyPr/>
          <a:lstStyle/>
          <a:p>
            <a:pPr/>
          </a:p>
        </p:txBody>
      </p:sp>
      <p:sp>
        <p:nvSpPr>
          <p:cNvPr id="717" name="Shape 717"/>
          <p:cNvSpPr/>
          <p:nvPr>
            <p:ph type="body" sz="quarter" idx="1"/>
          </p:nvPr>
        </p:nvSpPr>
        <p:spPr>
          <a:prstGeom prst="rect">
            <a:avLst/>
          </a:prstGeom>
        </p:spPr>
        <p:txBody>
          <a:bodyPr/>
          <a:lstStyle/>
          <a:p>
            <a:pPr marL="457200" indent="-298450">
              <a:buClr>
                <a:srgbClr val="000000"/>
              </a:buClr>
              <a:buSzPts val="1100"/>
              <a:buFont typeface="Arial"/>
              <a:buChar char="●"/>
              <a:defRPr sz="1100"/>
            </a:pPr>
            <a:r>
              <a:t>Chi ha chiamato il metodo non ha fatto nulla di sbagliato — dal suo punto di vista.</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Il problema è che il linguaggio non ha un meccanismo per dichiarare l'intenzione. Passi un oggetto: viene modificato? Viene copiato? Viene solo letto? Non puoi saperlo dal tipo.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3" name="Shape 733"/>
          <p:cNvSpPr/>
          <p:nvPr>
            <p:ph type="sldImg"/>
          </p:nvPr>
        </p:nvSpPr>
        <p:spPr>
          <a:prstGeom prst="rect">
            <a:avLst/>
          </a:prstGeom>
        </p:spPr>
        <p:txBody>
          <a:bodyPr/>
          <a:lstStyle/>
          <a:p>
            <a:pPr/>
          </a:p>
        </p:txBody>
      </p:sp>
      <p:sp>
        <p:nvSpPr>
          <p:cNvPr id="734" name="Shape 734"/>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Ogni volta che passi un oggetto, stai passando un riferimento. Aliasing implicito. Non puoi saperlo dal tipo.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7" name="Shape 747"/>
          <p:cNvSpPr/>
          <p:nvPr>
            <p:ph type="sldImg"/>
          </p:nvPr>
        </p:nvSpPr>
        <p:spPr>
          <a:prstGeom prst="rect">
            <a:avLst/>
          </a:prstGeom>
        </p:spPr>
        <p:txBody>
          <a:bodyPr/>
          <a:lstStyle/>
          <a:p>
            <a:pPr/>
          </a:p>
        </p:txBody>
      </p:sp>
      <p:sp>
        <p:nvSpPr>
          <p:cNvPr id="748" name="Shape 748"/>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Funziona. Ma è rumoroso. È facile da dimenticare — e quando lo dimentichi, il bug è sottile e difficile da riprodurre. Ed è boilerplate che non porta valore al dominio: stai scrivendo codice per difenderti dal linguaggio, non per risolvere il problema del tuo utente.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6" name="Shape 766"/>
          <p:cNvSpPr/>
          <p:nvPr>
            <p:ph type="sldImg"/>
          </p:nvPr>
        </p:nvSpPr>
        <p:spPr>
          <a:prstGeom prst="rect">
            <a:avLst/>
          </a:prstGeom>
        </p:spPr>
        <p:txBody>
          <a:bodyPr/>
          <a:lstStyle/>
          <a:p>
            <a:pPr/>
          </a:p>
        </p:txBody>
      </p:sp>
      <p:sp>
        <p:nvSpPr>
          <p:cNvPr id="767" name="Shape 76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Lo misuri nel tempo che ci metti a capire un codebase che non hai scritto tu. O che hai scritto tu sei mesi fa.</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6" name="Shape 816"/>
          <p:cNvSpPr/>
          <p:nvPr>
            <p:ph type="sldImg"/>
          </p:nvPr>
        </p:nvSpPr>
        <p:spPr>
          <a:prstGeom prst="rect">
            <a:avLst/>
          </a:prstGeom>
        </p:spPr>
        <p:txBody>
          <a:bodyPr/>
          <a:lstStyle/>
          <a:p>
            <a:pPr/>
          </a:p>
        </p:txBody>
      </p:sp>
      <p:sp>
        <p:nvSpPr>
          <p:cNvPr id="817" name="Shape 81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Il tipo dice `String`. La realtà è molto più complessa. E il compilatore non ti aiuta a scoprirlo.</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9" name="Shape 839"/>
          <p:cNvSpPr/>
          <p:nvPr>
            <p:ph type="sldImg"/>
          </p:nvPr>
        </p:nvSpPr>
        <p:spPr>
          <a:prstGeom prst="rect">
            <a:avLst/>
          </a:prstGeom>
        </p:spPr>
        <p:txBody>
          <a:bodyPr/>
          <a:lstStyle/>
          <a:p>
            <a:pPr/>
          </a:p>
        </p:txBody>
      </p:sp>
      <p:sp>
        <p:nvSpPr>
          <p:cNvPr id="840" name="Shape 840"/>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Questo è il contratto rotto</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6" name="Shape 856"/>
          <p:cNvSpPr/>
          <p:nvPr>
            <p:ph type="sldImg"/>
          </p:nvPr>
        </p:nvSpPr>
        <p:spPr>
          <a:prstGeom prst="rect">
            <a:avLst/>
          </a:prstGeom>
        </p:spPr>
        <p:txBody>
          <a:bodyPr/>
          <a:lstStyle/>
          <a:p>
            <a:pPr/>
          </a:p>
        </p:txBody>
      </p:sp>
      <p:sp>
        <p:nvSpPr>
          <p:cNvPr id="857" name="Shape 85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Questo non è un attacco. È una diagnosi</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5" name="Shape 875"/>
          <p:cNvSpPr/>
          <p:nvPr>
            <p:ph type="sldImg"/>
          </p:nvPr>
        </p:nvSpPr>
        <p:spPr>
          <a:prstGeom prst="rect">
            <a:avLst/>
          </a:prstGeom>
        </p:spPr>
        <p:txBody>
          <a:bodyPr/>
          <a:lstStyle/>
          <a:p>
            <a:pPr/>
          </a:p>
        </p:txBody>
      </p:sp>
      <p:sp>
        <p:nvSpPr>
          <p:cNvPr id="876" name="Shape 876"/>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Quello che abbiamo visto nelle quattro crepe — la fragilità dell'ereditarietà, il dispatch virtuale implicito, i null, l'ownership implicito, le eccezioni invisibili — è complessità accidentale. Non viene dal dominio. Viene dalle scelte del paradigma.</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8" name="Shape 888"/>
          <p:cNvSpPr/>
          <p:nvPr>
            <p:ph type="sldImg"/>
          </p:nvPr>
        </p:nvSpPr>
        <p:spPr>
          <a:prstGeom prst="rect">
            <a:avLst/>
          </a:prstGeom>
        </p:spPr>
        <p:txBody>
          <a:bodyPr/>
          <a:lstStyle/>
          <a:p>
            <a:pPr/>
          </a:p>
        </p:txBody>
      </p:sp>
      <p:sp>
        <p:nvSpPr>
          <p:cNvPr id="889" name="Shape 889"/>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'abbiamo preso come dato. Come l'unica via. Come la risposta giusta per default.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8" name="Shape 898"/>
          <p:cNvSpPr/>
          <p:nvPr>
            <p:ph type="sldImg"/>
          </p:nvPr>
        </p:nvSpPr>
        <p:spPr>
          <a:prstGeom prst="rect">
            <a:avLst/>
          </a:prstGeom>
        </p:spPr>
        <p:txBody>
          <a:bodyPr/>
          <a:lstStyle/>
          <a:p>
            <a:pPr/>
          </a:p>
        </p:txBody>
      </p:sp>
      <p:sp>
        <p:nvSpPr>
          <p:cNvPr id="899" name="Shape 899"/>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Lo so. Questa fa male. Andiamo avanti.</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6" name="Shape 916"/>
          <p:cNvSpPr/>
          <p:nvPr>
            <p:ph type="sldImg"/>
          </p:nvPr>
        </p:nvSpPr>
        <p:spPr>
          <a:prstGeom prst="rect">
            <a:avLst/>
          </a:prstGeom>
        </p:spPr>
        <p:txBody>
          <a:bodyPr/>
          <a:lstStyle/>
          <a:p>
            <a:pPr/>
          </a:p>
        </p:txBody>
      </p:sp>
      <p:sp>
        <p:nvSpPr>
          <p:cNvPr id="917" name="Shape 917"/>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Il problema che Strategy risolve: non puoi passare un comportamento come valore. In Java classico, non puoi passare una funzione. Puoi passare solo oggetti. Quindi se vuoi che un algoritmo sia configurabile, crei un'interfaccia con un metodo, e passi oggetti che implementano quell'interfaccia.</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3" name="Shape 943"/>
          <p:cNvSpPr/>
          <p:nvPr>
            <p:ph type="sldImg"/>
          </p:nvPr>
        </p:nvSpPr>
        <p:spPr>
          <a:prstGeom prst="rect">
            <a:avLst/>
          </a:prstGeom>
        </p:spPr>
        <p:txBody>
          <a:bodyPr/>
          <a:lstStyle/>
          <a:p>
            <a:pPr/>
          </a:p>
        </p:txBody>
      </p:sp>
      <p:sp>
        <p:nvSpPr>
          <p:cNvPr id="944" name="Shape 944"/>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Adapter. Avete una classe di una libreria esterna che non implementa l'interfaccia che vi aspettate. Non potete modificarla. Quindi create una classe separata — l'adapter — che implementa la vostra interfaccia e delega all'altra.</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4" name="Shape 964"/>
          <p:cNvSpPr/>
          <p:nvPr>
            <p:ph type="sldImg"/>
          </p:nvPr>
        </p:nvSpPr>
        <p:spPr>
          <a:prstGeom prst="rect">
            <a:avLst/>
          </a:prstGeom>
        </p:spPr>
        <p:txBody>
          <a:bodyPr/>
          <a:lstStyle/>
          <a:p>
            <a:pPr/>
          </a:p>
        </p:txBody>
      </p:sp>
      <p:sp>
        <p:nvSpPr>
          <p:cNvPr id="965" name="Shape 965"/>
          <p:cNvSpPr/>
          <p:nvPr>
            <p:ph type="body" sz="quarter" idx="1"/>
          </p:nvPr>
        </p:nvSpPr>
        <p:spPr>
          <a:prstGeom prst="rect">
            <a:avLst/>
          </a:prstGeom>
        </p:spPr>
        <p:txBody>
          <a:bodyPr/>
          <a:lstStyle/>
          <a:p>
            <a:pPr marL="457200" indent="-298450">
              <a:buClr>
                <a:srgbClr val="000000"/>
              </a:buClr>
              <a:buSzPts val="1100"/>
              <a:buFont typeface="Arial"/>
              <a:buChar char="●"/>
              <a:defRPr sz="1100"/>
            </a:pPr>
            <a:r>
              <a:t>In Rust, in Haskell, in linguaggi con un sistema di tipi espressivo — questi pattern non esistono come tali. Non servono. Il linguaggio li risolve a livello di sintassi e sistema dei tipi.</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Non sto dicendo che il catalogo GoF sia inutile. Sto dicendo che la sua densità — ventitré pattern, molti dei quali sono workaround — è un segnale.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7" name="Shape 977"/>
          <p:cNvSpPr/>
          <p:nvPr>
            <p:ph type="sldImg"/>
          </p:nvPr>
        </p:nvSpPr>
        <p:spPr>
          <a:prstGeom prst="rect">
            <a:avLst/>
          </a:prstGeom>
        </p:spPr>
        <p:txBody>
          <a:bodyPr/>
          <a:lstStyle/>
          <a:p>
            <a:pPr/>
          </a:p>
        </p:txBody>
      </p:sp>
      <p:sp>
        <p:nvSpPr>
          <p:cNvPr id="978" name="Shape 978"/>
          <p:cNvSpPr/>
          <p:nvPr>
            <p:ph type="body" sz="quarter" idx="1"/>
          </p:nvPr>
        </p:nvSpPr>
        <p:spPr>
          <a:prstGeom prst="rect">
            <a:avLst/>
          </a:prstGeom>
        </p:spPr>
        <p:txBody>
          <a:bodyPr/>
          <a:lstStyle/>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Non stiamo dicendo che i pattern siano inutili. In Java 8, applicare Strategy ha ancora senso. In un codebase legacy, Builder è una scelta pragmatica.</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7" name="Shape 987"/>
          <p:cNvSpPr/>
          <p:nvPr>
            <p:ph type="sldImg"/>
          </p:nvPr>
        </p:nvSpPr>
        <p:spPr>
          <a:prstGeom prst="rect">
            <a:avLst/>
          </a:prstGeom>
        </p:spPr>
        <p:txBody>
          <a:bodyPr/>
          <a:lstStyle/>
          <a:p>
            <a:pPr/>
          </a:p>
        </p:txBody>
      </p:sp>
      <p:sp>
        <p:nvSpPr>
          <p:cNvPr id="988" name="Shape 988"/>
          <p:cNvSpPr/>
          <p:nvPr>
            <p:ph type="body" sz="quarter" idx="1"/>
          </p:nvPr>
        </p:nvSpPr>
        <p:spPr>
          <a:prstGeom prst="rect">
            <a:avLst/>
          </a:prstGeom>
        </p:spPr>
        <p:txBody>
          <a:bodyPr/>
          <a:lstStyle/>
          <a:p>
            <a:pPr marL="457200" indent="-298450">
              <a:buClr>
                <a:srgbClr val="000000"/>
              </a:buClr>
              <a:buSzPts val="1100"/>
              <a:buFont typeface="Arial"/>
              <a:buChar char="●"/>
              <a:defRPr sz="1100"/>
            </a:pPr>
            <a:r>
              <a:t>Adesso la parte positiva. Perché non voglio lasciarvi con un elenco di problemi senza nessuna direzione.</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Guardiamo come alcuni linguaggi moderni hanno affrontato esattamente questi problemi. E — questo è il punto chiave — le idee sono portabili. Non dovete imparare Rust per applicarle.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7" name="Shape 1007"/>
          <p:cNvSpPr/>
          <p:nvPr>
            <p:ph type="sldImg"/>
          </p:nvPr>
        </p:nvSpPr>
        <p:spPr>
          <a:prstGeom prst="rect">
            <a:avLst/>
          </a:prstGeom>
        </p:spPr>
        <p:txBody>
          <a:bodyPr/>
          <a:lstStyle/>
          <a:p>
            <a:pPr/>
          </a:p>
        </p:txBody>
      </p:sp>
      <p:sp>
        <p:nvSpPr>
          <p:cNvPr id="1008" name="Shape 1008"/>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l'assenza un concetto esplicito nel sistema dei tipi invece di lasciarlo implicito nel comportamento a runtime.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1" name="Shape 1051"/>
          <p:cNvSpPr/>
          <p:nvPr>
            <p:ph type="sldImg"/>
          </p:nvPr>
        </p:nvSpPr>
        <p:spPr>
          <a:prstGeom prst="rect">
            <a:avLst/>
          </a:prstGeom>
        </p:spPr>
        <p:txBody>
          <a:bodyPr/>
          <a:lstStyle/>
          <a:p>
            <a:pPr/>
          </a:p>
        </p:txBody>
      </p:sp>
      <p:sp>
        <p:nvSpPr>
          <p:cNvPr id="1052" name="Shape 1052"/>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I trait di Rust — come le type class di Haskell, come le interfacce di Go — sono composizione invece di ereditarietà. Un tipo può implementare venti trait senza creare nessuna gerarchia. Niente Fragile Base Class. Niente accoppiamento implicito. Niente dispatch virtuale implicito su ogni chiamata. Polimorfismo senza ereditarietà.</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7" name="Shape 1077"/>
          <p:cNvSpPr/>
          <p:nvPr>
            <p:ph type="sldImg"/>
          </p:nvPr>
        </p:nvSpPr>
        <p:spPr>
          <a:prstGeom prst="rect">
            <a:avLst/>
          </a:prstGeom>
        </p:spPr>
        <p:txBody>
          <a:bodyPr/>
          <a:lstStyle/>
          <a:p>
            <a:pPr/>
          </a:p>
        </p:txBody>
      </p:sp>
      <p:sp>
        <p:nvSpPr>
          <p:cNvPr id="1078" name="Shape 1078"/>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Molte sono già disponibili. Alcune richiedono disciplina invece che sintassi. Ma sono portabili.</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1" name="Shape 1111"/>
          <p:cNvSpPr/>
          <p:nvPr>
            <p:ph type="sldImg"/>
          </p:nvPr>
        </p:nvSpPr>
        <p:spPr>
          <a:prstGeom prst="rect">
            <a:avLst/>
          </a:prstGeom>
        </p:spPr>
        <p:txBody>
          <a:bodyPr/>
          <a:lstStyle/>
          <a:p>
            <a:pPr/>
          </a:p>
        </p:txBody>
      </p:sp>
      <p:sp>
        <p:nvSpPr>
          <p:cNvPr id="1112" name="Shape 1112"/>
          <p:cNvSpPr/>
          <p:nvPr>
            <p:ph type="body" sz="quarter" idx="1"/>
          </p:nvPr>
        </p:nvSpPr>
        <p:spPr>
          <a:prstGeom prst="rect">
            <a:avLst/>
          </a:prstGeom>
        </p:spPr>
        <p:txBody>
          <a:bodyPr/>
          <a:lstStyle/>
          <a:p>
            <a:pPr marL="457200" indent="-298450">
              <a:buClr>
                <a:srgbClr val="000000"/>
              </a:buClr>
              <a:buSzPts val="1100"/>
              <a:buFont typeface="Arial"/>
              <a:buChar char="●"/>
              <a:defRPr sz="1100"/>
            </a:pPr>
            <a:r>
              <a:t>Non sto dicendo che il codice a destra sia sempre meglio. Sto dicendo che il codice a destra ha proprietà diverse — è più facile da testare in isolamento, più facile da modificare senza effetti a cascata, più facile da capire senza conoscere la gerarchia.</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In molti casi, vale la pena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7" name="Shape 1207"/>
          <p:cNvSpPr/>
          <p:nvPr>
            <p:ph type="sldImg"/>
          </p:nvPr>
        </p:nvSpPr>
        <p:spPr>
          <a:prstGeom prst="rect">
            <a:avLst/>
          </a:prstGeom>
        </p:spPr>
        <p:txBody>
          <a:bodyPr/>
          <a:lstStyle/>
          <a:p>
            <a:pPr/>
          </a:p>
        </p:txBody>
      </p:sp>
      <p:sp>
        <p:nvSpPr>
          <p:cNvPr id="1208" name="Shape 1208"/>
          <p:cNvSpPr/>
          <p:nvPr>
            <p:ph type="body" sz="quarter" idx="1"/>
          </p:nvPr>
        </p:nvSpPr>
        <p:spPr>
          <a:prstGeom prst="rect">
            <a:avLst/>
          </a:prstGeom>
        </p:spPr>
        <p:txBody>
          <a:bodyPr/>
          <a:lstStyle/>
          <a:p>
            <a:pPr marL="457200" indent="-298450">
              <a:buClr>
                <a:srgbClr val="000000"/>
              </a:buClr>
              <a:buSzPts val="1100"/>
              <a:buFont typeface="Arial"/>
              <a:buChar char="●"/>
              <a:defRPr sz="1100"/>
            </a:pPr>
            <a:r>
              <a:t>Sul serio — sono più interessato alle obiezioni che agli applausi. Se avete un caso in cui la gerarchia profonda era davvero la scelta giusta, voglio sentirlo. Se avete un pattern che secondo voi risolve qualcosa di genuino e non è un workaround, voglio sentirlo.</a:t>
            </a:r>
          </a:p>
          <a:p>
            <a:pPr marL="457200" indent="-298450">
              <a:buClr>
                <a:srgbClr val="000000"/>
              </a:buClr>
              <a:buSzPts val="1100"/>
              <a:buFont typeface="Arial"/>
              <a:buChar char="●"/>
              <a:defRPr sz="1100"/>
            </a:pPr>
          </a:p>
          <a:p>
            <a:pPr marL="457200" indent="-298450">
              <a:buClr>
                <a:srgbClr val="000000"/>
              </a:buClr>
              <a:buSzPts val="1100"/>
              <a:buFont typeface="Arial"/>
              <a:buChar char="●"/>
              <a:defRPr sz="1100"/>
            </a:pPr>
            <a:r>
              <a:t>Questo è il tipo di conversazione che vale la pena avere.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4.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6.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20.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0.pn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16.png"/></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14.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8.png"/></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5.png"/><Relationship Id="rId10" Type="http://schemas.openxmlformats.org/officeDocument/2006/relationships/image" Target="../media/image6.png"/></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11708" y="744574"/>
            <a:ext cx="8520601" cy="2052601"/>
          </a:xfrm>
          <a:prstGeom prst="rect">
            <a:avLst/>
          </a:prstGeom>
        </p:spPr>
        <p:txBody>
          <a:bodyPr anchor="b"/>
          <a:lstStyle>
            <a:lvl1pPr algn="ctr">
              <a:defRPr sz="5200"/>
            </a:lvl1pPr>
          </a:lstStyle>
          <a:p>
            <a:pPr/>
            <a:r>
              <a:t>Title Text</a:t>
            </a:r>
          </a:p>
        </p:txBody>
      </p:sp>
      <p:sp>
        <p:nvSpPr>
          <p:cNvPr id="12" name="Body Level One…"/>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311699" y="2150849"/>
            <a:ext cx="8520602" cy="841801"/>
          </a:xfrm>
          <a:prstGeom prst="rect">
            <a:avLst/>
          </a:prstGeom>
        </p:spPr>
        <p:txBody>
          <a:bodyPr anchor="ctr"/>
          <a:lstStyle>
            <a:lvl1pPr algn="ctr">
              <a:defRPr sz="3600"/>
            </a:lvl1pP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39" name="Google Shape;23;p5"/>
          <p:cNvSpPr txBox="1"/>
          <p:nvPr>
            <p:ph type="body" sz="half" idx="21"/>
          </p:nvPr>
        </p:nvSpPr>
        <p:spPr>
          <a:xfrm>
            <a:off x="4832399" y="1152475"/>
            <a:ext cx="3999902" cy="3416400"/>
          </a:xfrm>
          <a:prstGeom prst="rect">
            <a:avLst/>
          </a:prstGeom>
        </p:spPr>
        <p:txBody>
          <a:bodyPr/>
          <a:lstStyle/>
          <a:p>
            <a:pPr indent="-317500">
              <a:buSzPts val="1400"/>
              <a:defRPr sz="1400"/>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itle Text"/>
          <p:cNvSpPr txBox="1"/>
          <p:nvPr>
            <p:ph type="title"/>
          </p:nvPr>
        </p:nvSpPr>
        <p:spPr>
          <a:xfrm>
            <a:off x="311699" y="555600"/>
            <a:ext cx="2808001" cy="755700"/>
          </a:xfrm>
          <a:prstGeom prst="rect">
            <a:avLst/>
          </a:prstGeom>
        </p:spPr>
        <p:txBody>
          <a:bodyPr anchor="b"/>
          <a:lstStyle>
            <a:lvl1pPr>
              <a:defRPr sz="2400"/>
            </a:lvl1pPr>
          </a:lstStyle>
          <a:p>
            <a:pPr/>
            <a:r>
              <a:t>Title Text</a:t>
            </a:r>
          </a:p>
        </p:txBody>
      </p:sp>
      <p:sp>
        <p:nvSpPr>
          <p:cNvPr id="56" name="Body Level One…"/>
          <p:cNvSpPr txBox="1"/>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itle Text"/>
          <p:cNvSpPr txBox="1"/>
          <p:nvPr>
            <p:ph type="title"/>
          </p:nvPr>
        </p:nvSpPr>
        <p:spPr>
          <a:xfrm>
            <a:off x="490250" y="450149"/>
            <a:ext cx="6367801" cy="4090801"/>
          </a:xfrm>
          <a:prstGeom prst="rect">
            <a:avLst/>
          </a:prstGeom>
        </p:spPr>
        <p:txBody>
          <a:bodyPr anchor="ctr"/>
          <a:lstStyle>
            <a:lvl1pPr>
              <a:defRPr sz="4800"/>
            </a:lvl1p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pPr/>
          </a:p>
        </p:txBody>
      </p:sp>
      <p:sp>
        <p:nvSpPr>
          <p:cNvPr id="73" name="Title Text"/>
          <p:cNvSpPr txBox="1"/>
          <p:nvPr>
            <p:ph type="title"/>
          </p:nvPr>
        </p:nvSpPr>
        <p:spPr>
          <a:xfrm>
            <a:off x="265500" y="1233175"/>
            <a:ext cx="4045200" cy="1482301"/>
          </a:xfrm>
          <a:prstGeom prst="rect">
            <a:avLst/>
          </a:prstGeom>
        </p:spPr>
        <p:txBody>
          <a:bodyPr anchor="b"/>
          <a:lstStyle>
            <a:lvl1pPr algn="ctr">
              <a:defRPr sz="4200"/>
            </a:lvl1pPr>
          </a:lstStyle>
          <a:p>
            <a:pPr/>
            <a:r>
              <a:t>Title Text</a:t>
            </a:r>
          </a:p>
        </p:txBody>
      </p:sp>
      <p:sp>
        <p:nvSpPr>
          <p:cNvPr id="74"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75" name="Google Shape;39;p9"/>
          <p:cNvSpPr txBox="1"/>
          <p:nvPr>
            <p:ph type="body" sz="half" idx="21"/>
          </p:nvPr>
        </p:nvSpPr>
        <p:spPr>
          <a:xfrm>
            <a:off x="4939500" y="724074"/>
            <a:ext cx="3837000" cy="3695102"/>
          </a:xfrm>
          <a:prstGeom prst="rect">
            <a:avLst/>
          </a:prstGeom>
        </p:spPr>
        <p:txBody>
          <a:bodyPr anchor="ctr"/>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Body Level One…"/>
          <p:cNvSpPr txBox="1"/>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311699" y="1106125"/>
            <a:ext cx="8520602" cy="1963500"/>
          </a:xfrm>
          <a:prstGeom prst="rect">
            <a:avLst/>
          </a:prstGeom>
        </p:spPr>
        <p:txBody>
          <a:bodyPr anchor="b"/>
          <a:lstStyle>
            <a:lvl1pPr algn="ctr">
              <a:defRPr sz="12000"/>
            </a:lvl1pPr>
          </a:lstStyle>
          <a:p>
            <a:pPr/>
            <a:r>
              <a:t>xx%</a:t>
            </a:r>
          </a:p>
        </p:txBody>
      </p:sp>
      <p:sp>
        <p:nvSpPr>
          <p:cNvPr id="92" name="Body Level One…"/>
          <p:cNvSpPr txBox="1"/>
          <p:nvPr>
            <p:ph type="body" sz="half" idx="1"/>
          </p:nvPr>
        </p:nvSpPr>
        <p:spPr>
          <a:xfrm>
            <a:off x="311699" y="3152225"/>
            <a:ext cx="8520602" cy="1300800"/>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07" name="Slide Number"/>
          <p:cNvSpPr txBox="1"/>
          <p:nvPr>
            <p:ph type="sldNum" sz="quarter" idx="2"/>
          </p:nvPr>
        </p:nvSpPr>
        <p:spPr>
          <a:xfrm>
            <a:off x="4419600" y="4608064"/>
            <a:ext cx="2133600" cy="318397"/>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2">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14" name="Google Shape;53;p15" descr="Google Shape;53;p15"/>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115" name="Google Shape;55;p15" descr="Google Shape;55;p15"/>
          <p:cNvPicPr>
            <a:picLocks noChangeAspect="1"/>
          </p:cNvPicPr>
          <p:nvPr/>
        </p:nvPicPr>
        <p:blipFill>
          <a:blip r:embed="rId4">
            <a:extLst/>
          </a:blip>
          <a:stretch>
            <a:fillRect/>
          </a:stretch>
        </p:blipFill>
        <p:spPr>
          <a:xfrm>
            <a:off x="7575874" y="1944700"/>
            <a:ext cx="1034551" cy="648151"/>
          </a:xfrm>
          <a:prstGeom prst="rect">
            <a:avLst/>
          </a:prstGeom>
          <a:ln w="12700">
            <a:miter lim="400000"/>
          </a:ln>
        </p:spPr>
      </p:pic>
      <p:pic>
        <p:nvPicPr>
          <p:cNvPr id="116" name="Google Shape;56;p15" descr="Google Shape;56;p15"/>
          <p:cNvPicPr>
            <a:picLocks noChangeAspect="1"/>
          </p:cNvPicPr>
          <p:nvPr/>
        </p:nvPicPr>
        <p:blipFill>
          <a:blip r:embed="rId5">
            <a:extLst/>
          </a:blip>
          <a:stretch>
            <a:fillRect/>
          </a:stretch>
        </p:blipFill>
        <p:spPr>
          <a:xfrm>
            <a:off x="478649" y="407705"/>
            <a:ext cx="548701" cy="343767"/>
          </a:xfrm>
          <a:prstGeom prst="rect">
            <a:avLst/>
          </a:prstGeom>
          <a:ln w="12700">
            <a:miter lim="400000"/>
          </a:ln>
        </p:spPr>
      </p:pic>
      <p:pic>
        <p:nvPicPr>
          <p:cNvPr id="117" name="Google Shape;57;p15" descr="Google Shape;57;p15"/>
          <p:cNvPicPr>
            <a:picLocks noChangeAspect="1"/>
          </p:cNvPicPr>
          <p:nvPr/>
        </p:nvPicPr>
        <p:blipFill>
          <a:blip r:embed="rId6">
            <a:extLst/>
          </a:blip>
          <a:stretch>
            <a:fillRect/>
          </a:stretch>
        </p:blipFill>
        <p:spPr>
          <a:xfrm>
            <a:off x="2324399" y="702074"/>
            <a:ext cx="4495201" cy="1031626"/>
          </a:xfrm>
          <a:prstGeom prst="rect">
            <a:avLst/>
          </a:prstGeom>
          <a:ln w="12700">
            <a:miter lim="400000"/>
          </a:ln>
        </p:spPr>
      </p:pic>
      <p:pic>
        <p:nvPicPr>
          <p:cNvPr id="118" name="Google Shape;58;p15" descr="Google Shape;58;p15"/>
          <p:cNvPicPr>
            <a:picLocks noChangeAspect="1"/>
          </p:cNvPicPr>
          <p:nvPr/>
        </p:nvPicPr>
        <p:blipFill>
          <a:blip r:embed="rId7">
            <a:extLst/>
          </a:blip>
          <a:stretch>
            <a:fillRect/>
          </a:stretch>
        </p:blipFill>
        <p:spPr>
          <a:xfrm>
            <a:off x="2782062" y="1919361"/>
            <a:ext cx="3579874" cy="335612"/>
          </a:xfrm>
          <a:prstGeom prst="rect">
            <a:avLst/>
          </a:prstGeom>
          <a:ln w="12700">
            <a:miter lim="400000"/>
          </a:ln>
        </p:spPr>
      </p:pic>
      <p:pic>
        <p:nvPicPr>
          <p:cNvPr id="119" name="Google Shape;59;p15" descr="Google Shape;59;p15"/>
          <p:cNvPicPr>
            <a:picLocks noChangeAspect="1"/>
          </p:cNvPicPr>
          <p:nvPr/>
        </p:nvPicPr>
        <p:blipFill>
          <a:blip r:embed="rId8">
            <a:extLst/>
          </a:blip>
          <a:stretch>
            <a:fillRect/>
          </a:stretch>
        </p:blipFill>
        <p:spPr>
          <a:xfrm>
            <a:off x="1520999" y="2876275"/>
            <a:ext cx="6102003" cy="1269251"/>
          </a:xfrm>
          <a:prstGeom prst="rect">
            <a:avLst/>
          </a:prstGeom>
          <a:ln w="12700">
            <a:miter lim="400000"/>
          </a:ln>
        </p:spPr>
      </p:pic>
      <p:pic>
        <p:nvPicPr>
          <p:cNvPr id="120" name="Google Shape;60;p15" descr="Google Shape;60;p15"/>
          <p:cNvPicPr>
            <a:picLocks noChangeAspect="1"/>
          </p:cNvPicPr>
          <p:nvPr/>
        </p:nvPicPr>
        <p:blipFill>
          <a:blip r:embed="rId9">
            <a:extLst/>
          </a:blip>
          <a:stretch>
            <a:fillRect/>
          </a:stretch>
        </p:blipFill>
        <p:spPr>
          <a:xfrm>
            <a:off x="0" y="0"/>
            <a:ext cx="9144004" cy="5147970"/>
          </a:xfrm>
          <a:prstGeom prst="rect">
            <a:avLst/>
          </a:prstGeom>
          <a:ln w="12700">
            <a:miter lim="400000"/>
          </a:ln>
        </p:spPr>
      </p:pic>
      <p:sp>
        <p:nvSpPr>
          <p:cNvPr id="121" name="Slide Number"/>
          <p:cNvSpPr txBox="1"/>
          <p:nvPr>
            <p:ph type="sldNum" sz="quarter" idx="2"/>
          </p:nvPr>
        </p:nvSpPr>
        <p:spPr>
          <a:prstGeom prst="rect">
            <a:avLst/>
          </a:prstGeom>
        </p:spPr>
        <p:txBody>
          <a:bodyPr/>
          <a:lstStyle>
            <a:lvl1pPr>
              <a:defRPr>
                <a:solidFill>
                  <a:srgbClr val="44546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_1">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28" name="Google Shape;62;p16" descr="Google Shape;62;p16"/>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129" name="Google Shape;63;p16" descr="Google Shape;63;p16"/>
          <p:cNvPicPr>
            <a:picLocks noChangeAspect="1"/>
          </p:cNvPicPr>
          <p:nvPr/>
        </p:nvPicPr>
        <p:blipFill>
          <a:blip r:embed="rId4">
            <a:extLst/>
          </a:blip>
          <a:stretch>
            <a:fillRect/>
          </a:stretch>
        </p:blipFill>
        <p:spPr>
          <a:xfrm>
            <a:off x="0" y="0"/>
            <a:ext cx="9144004" cy="5147970"/>
          </a:xfrm>
          <a:prstGeom prst="rect">
            <a:avLst/>
          </a:prstGeom>
          <a:ln w="12700">
            <a:miter lim="400000"/>
          </a:ln>
        </p:spPr>
      </p:pic>
      <p:pic>
        <p:nvPicPr>
          <p:cNvPr id="130" name="Google Shape;65;p16" descr="Google Shape;65;p16"/>
          <p:cNvPicPr>
            <a:picLocks noChangeAspect="1"/>
          </p:cNvPicPr>
          <p:nvPr/>
        </p:nvPicPr>
        <p:blipFill>
          <a:blip r:embed="rId5">
            <a:extLst/>
          </a:blip>
          <a:srcRect l="0" t="0" r="0" b="49262"/>
          <a:stretch>
            <a:fillRect/>
          </a:stretch>
        </p:blipFill>
        <p:spPr>
          <a:xfrm>
            <a:off x="315662" y="3965624"/>
            <a:ext cx="2150700" cy="1091203"/>
          </a:xfrm>
          <a:prstGeom prst="rect">
            <a:avLst/>
          </a:prstGeom>
          <a:ln w="12700">
            <a:miter lim="400000"/>
          </a:ln>
        </p:spPr>
      </p:pic>
      <p:pic>
        <p:nvPicPr>
          <p:cNvPr id="131" name="Google Shape;66;p16" descr="Google Shape;66;p16"/>
          <p:cNvPicPr>
            <a:picLocks noChangeAspect="1"/>
          </p:cNvPicPr>
          <p:nvPr/>
        </p:nvPicPr>
        <p:blipFill>
          <a:blip r:embed="rId6">
            <a:extLst/>
          </a:blip>
          <a:stretch>
            <a:fillRect/>
          </a:stretch>
        </p:blipFill>
        <p:spPr>
          <a:xfrm>
            <a:off x="154550" y="168059"/>
            <a:ext cx="1229077" cy="749717"/>
          </a:xfrm>
          <a:prstGeom prst="rect">
            <a:avLst/>
          </a:prstGeom>
          <a:ln w="12700">
            <a:miter lim="400000"/>
          </a:ln>
        </p:spPr>
      </p:pic>
      <p:pic>
        <p:nvPicPr>
          <p:cNvPr id="132" name="Google Shape;69;p16" descr="Google Shape;69;p16"/>
          <p:cNvPicPr>
            <a:picLocks noChangeAspect="1"/>
          </p:cNvPicPr>
          <p:nvPr/>
        </p:nvPicPr>
        <p:blipFill>
          <a:blip r:embed="rId7">
            <a:extLst/>
          </a:blip>
          <a:stretch>
            <a:fillRect/>
          </a:stretch>
        </p:blipFill>
        <p:spPr>
          <a:xfrm>
            <a:off x="7335925" y="303525"/>
            <a:ext cx="853150" cy="533826"/>
          </a:xfrm>
          <a:prstGeom prst="rect">
            <a:avLst/>
          </a:prstGeom>
          <a:ln w="12700">
            <a:miter lim="400000"/>
          </a:ln>
        </p:spPr>
      </p:pic>
      <p:pic>
        <p:nvPicPr>
          <p:cNvPr id="133" name="Google Shape;70;p16" descr="Google Shape;70;p16"/>
          <p:cNvPicPr>
            <a:picLocks noChangeAspect="1"/>
          </p:cNvPicPr>
          <p:nvPr/>
        </p:nvPicPr>
        <p:blipFill>
          <a:blip r:embed="rId8">
            <a:extLst/>
          </a:blip>
          <a:stretch>
            <a:fillRect/>
          </a:stretch>
        </p:blipFill>
        <p:spPr>
          <a:xfrm>
            <a:off x="8189063" y="837354"/>
            <a:ext cx="718501" cy="451661"/>
          </a:xfrm>
          <a:prstGeom prst="rect">
            <a:avLst/>
          </a:prstGeom>
          <a:ln w="12700">
            <a:miter lim="400000"/>
          </a:ln>
        </p:spPr>
      </p:pic>
      <p:sp>
        <p:nvSpPr>
          <p:cNvPr id="134" name="Title Text"/>
          <p:cNvSpPr txBox="1"/>
          <p:nvPr>
            <p:ph type="title"/>
          </p:nvPr>
        </p:nvSpPr>
        <p:spPr>
          <a:xfrm>
            <a:off x="581974" y="1452974"/>
            <a:ext cx="7980001" cy="1482302"/>
          </a:xfrm>
          <a:prstGeom prst="rect">
            <a:avLst/>
          </a:prstGeom>
        </p:spPr>
        <p:txBody>
          <a:bodyPr anchor="ctr"/>
          <a:lstStyle>
            <a:lvl1pPr algn="ctr">
              <a:defRPr sz="4200">
                <a:solidFill>
                  <a:srgbClr val="FFFFFF"/>
                </a:solidFill>
              </a:defRPr>
            </a:lvl1pPr>
          </a:lstStyle>
          <a:p>
            <a:pPr/>
            <a:r>
              <a:t>Title Text</a:t>
            </a:r>
          </a:p>
        </p:txBody>
      </p:sp>
      <p:sp>
        <p:nvSpPr>
          <p:cNvPr id="135" name="Slide Number"/>
          <p:cNvSpPr txBox="1"/>
          <p:nvPr>
            <p:ph type="sldNum" sz="quarter" idx="2"/>
          </p:nvPr>
        </p:nvSpPr>
        <p:spPr>
          <a:prstGeom prst="rect">
            <a:avLst/>
          </a:prstGeom>
        </p:spPr>
        <p:txBody>
          <a:bodyPr/>
          <a:lstStyle>
            <a:lvl1pPr>
              <a:defRPr>
                <a:solidFill>
                  <a:srgbClr val="44546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42" name="Google Shape;77;p18" descr="Google Shape;77;p18"/>
          <p:cNvPicPr>
            <a:picLocks noChangeAspect="1"/>
          </p:cNvPicPr>
          <p:nvPr/>
        </p:nvPicPr>
        <p:blipFill>
          <a:blip r:embed="rId3">
            <a:extLst/>
          </a:blip>
          <a:stretch>
            <a:fillRect/>
          </a:stretch>
        </p:blipFill>
        <p:spPr>
          <a:xfrm>
            <a:off x="199724" y="4151209"/>
            <a:ext cx="1229078" cy="749717"/>
          </a:xfrm>
          <a:prstGeom prst="rect">
            <a:avLst/>
          </a:prstGeom>
          <a:ln w="12700">
            <a:miter lim="400000"/>
          </a:ln>
        </p:spPr>
      </p:pic>
      <p:pic>
        <p:nvPicPr>
          <p:cNvPr id="143" name="Google Shape;79;p18" descr="Google Shape;79;p18"/>
          <p:cNvPicPr>
            <a:picLocks noChangeAspect="1"/>
          </p:cNvPicPr>
          <p:nvPr/>
        </p:nvPicPr>
        <p:blipFill>
          <a:blip r:embed="rId4">
            <a:extLst/>
          </a:blip>
          <a:srcRect l="0" t="0" r="0" b="49262"/>
          <a:stretch>
            <a:fillRect/>
          </a:stretch>
        </p:blipFill>
        <p:spPr>
          <a:xfrm>
            <a:off x="315662" y="4052299"/>
            <a:ext cx="2150700" cy="1091202"/>
          </a:xfrm>
          <a:prstGeom prst="rect">
            <a:avLst/>
          </a:prstGeom>
          <a:ln w="12700">
            <a:miter lim="400000"/>
          </a:ln>
        </p:spPr>
      </p:pic>
      <p:pic>
        <p:nvPicPr>
          <p:cNvPr id="144" name="Google Shape;80;p18" descr="Google Shape;80;p18"/>
          <p:cNvPicPr>
            <a:picLocks noChangeAspect="1"/>
          </p:cNvPicPr>
          <p:nvPr/>
        </p:nvPicPr>
        <p:blipFill>
          <a:blip r:embed="rId5">
            <a:extLst/>
          </a:blip>
          <a:stretch>
            <a:fillRect/>
          </a:stretch>
        </p:blipFill>
        <p:spPr>
          <a:xfrm>
            <a:off x="0" y="0"/>
            <a:ext cx="9144004" cy="5147970"/>
          </a:xfrm>
          <a:prstGeom prst="rect">
            <a:avLst/>
          </a:prstGeom>
          <a:ln w="12700">
            <a:miter lim="400000"/>
          </a:ln>
        </p:spPr>
      </p:pic>
      <p:pic>
        <p:nvPicPr>
          <p:cNvPr id="145" name="Google Shape;81;p18" descr="Google Shape;81;p18"/>
          <p:cNvPicPr>
            <a:picLocks noChangeAspect="1"/>
          </p:cNvPicPr>
          <p:nvPr/>
        </p:nvPicPr>
        <p:blipFill>
          <a:blip r:embed="rId6">
            <a:extLst/>
          </a:blip>
          <a:stretch>
            <a:fillRect/>
          </a:stretch>
        </p:blipFill>
        <p:spPr>
          <a:xfrm>
            <a:off x="7932500" y="539799"/>
            <a:ext cx="767751" cy="286951"/>
          </a:xfrm>
          <a:prstGeom prst="rect">
            <a:avLst/>
          </a:prstGeom>
          <a:ln w="12700">
            <a:miter lim="400000"/>
          </a:ln>
        </p:spPr>
      </p:pic>
      <p:sp>
        <p:nvSpPr>
          <p:cNvPr id="146"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2">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53" name="Google Shape;83;p19" descr="Google Shape;83;p19"/>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154" name="Google Shape;85;p19" descr="Google Shape;85;p19"/>
          <p:cNvPicPr>
            <a:picLocks noChangeAspect="1"/>
          </p:cNvPicPr>
          <p:nvPr/>
        </p:nvPicPr>
        <p:blipFill>
          <a:blip r:embed="rId4">
            <a:extLst/>
          </a:blip>
          <a:stretch>
            <a:fillRect/>
          </a:stretch>
        </p:blipFill>
        <p:spPr>
          <a:xfrm>
            <a:off x="7575874" y="1944700"/>
            <a:ext cx="1034551" cy="648151"/>
          </a:xfrm>
          <a:prstGeom prst="rect">
            <a:avLst/>
          </a:prstGeom>
          <a:ln w="12700">
            <a:miter lim="400000"/>
          </a:ln>
        </p:spPr>
      </p:pic>
      <p:pic>
        <p:nvPicPr>
          <p:cNvPr id="155" name="Google Shape;86;p19" descr="Google Shape;86;p19"/>
          <p:cNvPicPr>
            <a:picLocks noChangeAspect="1"/>
          </p:cNvPicPr>
          <p:nvPr/>
        </p:nvPicPr>
        <p:blipFill>
          <a:blip r:embed="rId5">
            <a:extLst/>
          </a:blip>
          <a:stretch>
            <a:fillRect/>
          </a:stretch>
        </p:blipFill>
        <p:spPr>
          <a:xfrm>
            <a:off x="478649" y="407705"/>
            <a:ext cx="548701" cy="343767"/>
          </a:xfrm>
          <a:prstGeom prst="rect">
            <a:avLst/>
          </a:prstGeom>
          <a:ln w="12700">
            <a:miter lim="400000"/>
          </a:ln>
        </p:spPr>
      </p:pic>
      <p:pic>
        <p:nvPicPr>
          <p:cNvPr id="156" name="Google Shape;87;p19" descr="Google Shape;87;p19"/>
          <p:cNvPicPr>
            <a:picLocks noChangeAspect="1"/>
          </p:cNvPicPr>
          <p:nvPr/>
        </p:nvPicPr>
        <p:blipFill>
          <a:blip r:embed="rId6">
            <a:extLst/>
          </a:blip>
          <a:stretch>
            <a:fillRect/>
          </a:stretch>
        </p:blipFill>
        <p:spPr>
          <a:xfrm>
            <a:off x="2324399" y="702074"/>
            <a:ext cx="4495201" cy="1031626"/>
          </a:xfrm>
          <a:prstGeom prst="rect">
            <a:avLst/>
          </a:prstGeom>
          <a:ln w="12700">
            <a:miter lim="400000"/>
          </a:ln>
        </p:spPr>
      </p:pic>
      <p:pic>
        <p:nvPicPr>
          <p:cNvPr id="157" name="Google Shape;88;p19" descr="Google Shape;88;p19"/>
          <p:cNvPicPr>
            <a:picLocks noChangeAspect="1"/>
          </p:cNvPicPr>
          <p:nvPr/>
        </p:nvPicPr>
        <p:blipFill>
          <a:blip r:embed="rId7">
            <a:extLst/>
          </a:blip>
          <a:stretch>
            <a:fillRect/>
          </a:stretch>
        </p:blipFill>
        <p:spPr>
          <a:xfrm>
            <a:off x="2782062" y="1919361"/>
            <a:ext cx="3579874" cy="335612"/>
          </a:xfrm>
          <a:prstGeom prst="rect">
            <a:avLst/>
          </a:prstGeom>
          <a:ln w="12700">
            <a:miter lim="400000"/>
          </a:ln>
        </p:spPr>
      </p:pic>
      <p:pic>
        <p:nvPicPr>
          <p:cNvPr id="158" name="Google Shape;89;p19" descr="Google Shape;89;p19"/>
          <p:cNvPicPr>
            <a:picLocks noChangeAspect="1"/>
          </p:cNvPicPr>
          <p:nvPr/>
        </p:nvPicPr>
        <p:blipFill>
          <a:blip r:embed="rId8">
            <a:extLst/>
          </a:blip>
          <a:stretch>
            <a:fillRect/>
          </a:stretch>
        </p:blipFill>
        <p:spPr>
          <a:xfrm>
            <a:off x="1520999" y="2876275"/>
            <a:ext cx="6102003" cy="1269251"/>
          </a:xfrm>
          <a:prstGeom prst="rect">
            <a:avLst/>
          </a:prstGeom>
          <a:ln w="12700">
            <a:miter lim="400000"/>
          </a:ln>
        </p:spPr>
      </p:pic>
      <p:pic>
        <p:nvPicPr>
          <p:cNvPr id="159" name="Google Shape;90;p19" descr="Google Shape;90;p19"/>
          <p:cNvPicPr>
            <a:picLocks noChangeAspect="1"/>
          </p:cNvPicPr>
          <p:nvPr/>
        </p:nvPicPr>
        <p:blipFill>
          <a:blip r:embed="rId9">
            <a:extLst/>
          </a:blip>
          <a:stretch>
            <a:fillRect/>
          </a:stretch>
        </p:blipFill>
        <p:spPr>
          <a:xfrm>
            <a:off x="0" y="0"/>
            <a:ext cx="9144004" cy="5147970"/>
          </a:xfrm>
          <a:prstGeom prst="rect">
            <a:avLst/>
          </a:prstGeom>
          <a:ln w="12700">
            <a:miter lim="400000"/>
          </a:ln>
        </p:spPr>
      </p:pic>
      <p:sp>
        <p:nvSpPr>
          <p:cNvPr id="160"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7" name="Title Text"/>
          <p:cNvSpPr txBox="1"/>
          <p:nvPr>
            <p:ph type="title"/>
          </p:nvPr>
        </p:nvSpPr>
        <p:spPr>
          <a:xfrm>
            <a:off x="311699" y="461349"/>
            <a:ext cx="8520602" cy="572702"/>
          </a:xfrm>
          <a:prstGeom prst="rect">
            <a:avLst/>
          </a:prstGeom>
        </p:spPr>
        <p:txBody>
          <a:bodyPr/>
          <a:lstStyle>
            <a:lvl1pPr>
              <a:defRPr>
                <a:solidFill>
                  <a:srgbClr val="0E1E30"/>
                </a:solidFill>
                <a:latin typeface="IBM Plex Sans SemiBold"/>
                <a:ea typeface="IBM Plex Sans SemiBold"/>
                <a:cs typeface="IBM Plex Sans SemiBold"/>
                <a:sym typeface="IBM Plex Sans SemiBold"/>
              </a:defRPr>
            </a:lvl1pPr>
          </a:lstStyle>
          <a:p>
            <a:pPr/>
            <a:r>
              <a:t>Title Text</a:t>
            </a:r>
          </a:p>
        </p:txBody>
      </p:sp>
      <p:sp>
        <p:nvSpPr>
          <p:cNvPr id="168" name="Body Level One…"/>
          <p:cNvSpPr txBox="1"/>
          <p:nvPr>
            <p:ph type="body" sz="half" idx="1"/>
          </p:nvPr>
        </p:nvSpPr>
        <p:spPr>
          <a:xfrm>
            <a:off x="311699" y="1717200"/>
            <a:ext cx="3999902" cy="2557501"/>
          </a:xfrm>
          <a:prstGeom prst="rect">
            <a:avLst/>
          </a:prstGeom>
        </p:spPr>
        <p:txBody>
          <a:bodyPr/>
          <a:lstStyle>
            <a:lvl1pPr indent="-3175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1pPr>
            <a:lvl2pPr marL="9652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2pPr>
            <a:lvl3pPr marL="14224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3pPr>
            <a:lvl4pPr marL="18796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4pPr>
            <a:lvl5pPr marL="23368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169" name="Google Shape;94;p20"/>
          <p:cNvSpPr txBox="1"/>
          <p:nvPr>
            <p:ph type="body" sz="half" idx="21"/>
          </p:nvPr>
        </p:nvSpPr>
        <p:spPr>
          <a:xfrm>
            <a:off x="4832399" y="1717200"/>
            <a:ext cx="3999902" cy="2557501"/>
          </a:xfrm>
          <a:prstGeom prst="rect">
            <a:avLst/>
          </a:prstGeom>
        </p:spPr>
        <p:txBody>
          <a:bodyPr/>
          <a:lstStyle/>
          <a:p>
            <a:pPr indent="-3175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pPr>
          </a:p>
        </p:txBody>
      </p:sp>
      <p:pic>
        <p:nvPicPr>
          <p:cNvPr id="170" name="Google Shape;96;p20" descr="Google Shape;96;p20"/>
          <p:cNvPicPr>
            <a:picLocks noChangeAspect="1"/>
          </p:cNvPicPr>
          <p:nvPr/>
        </p:nvPicPr>
        <p:blipFill>
          <a:blip r:embed="rId3">
            <a:extLst/>
          </a:blip>
          <a:stretch>
            <a:fillRect/>
          </a:stretch>
        </p:blipFill>
        <p:spPr>
          <a:xfrm>
            <a:off x="7653552" y="285480"/>
            <a:ext cx="1229953" cy="282276"/>
          </a:xfrm>
          <a:prstGeom prst="rect">
            <a:avLst/>
          </a:prstGeom>
          <a:ln w="12700">
            <a:miter lim="400000"/>
          </a:ln>
        </p:spPr>
      </p:pic>
      <p:sp>
        <p:nvSpPr>
          <p:cNvPr id="171"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78" name="Title Text"/>
          <p:cNvSpPr txBox="1"/>
          <p:nvPr>
            <p:ph type="title"/>
          </p:nvPr>
        </p:nvSpPr>
        <p:spPr>
          <a:xfrm>
            <a:off x="311699" y="461349"/>
            <a:ext cx="7256101" cy="572702"/>
          </a:xfrm>
          <a:prstGeom prst="rect">
            <a:avLst/>
          </a:prstGeom>
        </p:spPr>
        <p:txBody>
          <a:bodyPr/>
          <a:lstStyle>
            <a:lvl1pPr>
              <a:defRPr>
                <a:solidFill>
                  <a:srgbClr val="0E1E30"/>
                </a:solidFill>
                <a:latin typeface="IBM Plex Sans SemiBold"/>
                <a:ea typeface="IBM Plex Sans SemiBold"/>
                <a:cs typeface="IBM Plex Sans SemiBold"/>
                <a:sym typeface="IBM Plex Sans SemiBold"/>
              </a:defRPr>
            </a:lvl1pPr>
          </a:lstStyle>
          <a:p>
            <a:pPr/>
            <a:r>
              <a:t>Title Text</a:t>
            </a:r>
          </a:p>
        </p:txBody>
      </p:sp>
      <p:sp>
        <p:nvSpPr>
          <p:cNvPr id="179" name="Body Level One…"/>
          <p:cNvSpPr txBox="1"/>
          <p:nvPr>
            <p:ph type="body" idx="1"/>
          </p:nvPr>
        </p:nvSpPr>
        <p:spPr>
          <a:xfrm>
            <a:off x="311699" y="1717200"/>
            <a:ext cx="8520602" cy="2557501"/>
          </a:xfrm>
          <a:prstGeom prst="rect">
            <a:avLst/>
          </a:prstGeom>
        </p:spPr>
        <p:txBody>
          <a:bodyPr/>
          <a:lstStyle>
            <a:lvl1pPr indent="-3175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1pPr>
            <a:lvl2pPr marL="9652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2pPr>
            <a:lvl3pPr marL="14224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3pPr>
            <a:lvl4pPr marL="18796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4pPr>
            <a:lvl5pPr marL="23368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pic>
        <p:nvPicPr>
          <p:cNvPr id="180" name="Google Shape;101;p21" descr="Google Shape;101;p21"/>
          <p:cNvPicPr>
            <a:picLocks noChangeAspect="1"/>
          </p:cNvPicPr>
          <p:nvPr/>
        </p:nvPicPr>
        <p:blipFill>
          <a:blip r:embed="rId3">
            <a:extLst/>
          </a:blip>
          <a:stretch>
            <a:fillRect/>
          </a:stretch>
        </p:blipFill>
        <p:spPr>
          <a:xfrm>
            <a:off x="7653552" y="285480"/>
            <a:ext cx="1229953" cy="282276"/>
          </a:xfrm>
          <a:prstGeom prst="rect">
            <a:avLst/>
          </a:prstGeom>
          <a:ln w="12700">
            <a:miter lim="400000"/>
          </a:ln>
        </p:spPr>
      </p:pic>
      <p:sp>
        <p:nvSpPr>
          <p:cNvPr id="181"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88" name="Body Level One…"/>
          <p:cNvSpPr txBox="1"/>
          <p:nvPr>
            <p:ph type="body" idx="1"/>
          </p:nvPr>
        </p:nvSpPr>
        <p:spPr>
          <a:xfrm>
            <a:off x="1251800" y="1717200"/>
            <a:ext cx="7220701" cy="2946001"/>
          </a:xfrm>
          <a:prstGeom prst="rect">
            <a:avLst/>
          </a:prstGeom>
        </p:spPr>
        <p:txBody>
          <a:bodyPr/>
          <a:lstStyle>
            <a:lvl1pPr>
              <a:buClr>
                <a:srgbClr val="0E1E30"/>
              </a:buClr>
              <a:buFont typeface="Helvetica"/>
              <a:defRPr>
                <a:solidFill>
                  <a:srgbClr val="0E1E30"/>
                </a:solidFill>
                <a:latin typeface="IBM Plex Sans SemiBold"/>
                <a:ea typeface="IBM Plex Sans SemiBold"/>
                <a:cs typeface="IBM Plex Sans SemiBold"/>
                <a:sym typeface="IBM Plex Sans SemiBold"/>
              </a:defRPr>
            </a:lvl1pPr>
            <a:lvl2pPr>
              <a:buClr>
                <a:srgbClr val="0E1E30"/>
              </a:buClr>
              <a:buFont typeface="Helvetica"/>
              <a:defRPr>
                <a:solidFill>
                  <a:srgbClr val="0E1E30"/>
                </a:solidFill>
                <a:latin typeface="IBM Plex Sans SemiBold"/>
                <a:ea typeface="IBM Plex Sans SemiBold"/>
                <a:cs typeface="IBM Plex Sans SemiBold"/>
                <a:sym typeface="IBM Plex Sans SemiBold"/>
              </a:defRPr>
            </a:lvl2pPr>
            <a:lvl3pPr>
              <a:buClr>
                <a:srgbClr val="0E1E30"/>
              </a:buClr>
              <a:buFont typeface="Helvetica"/>
              <a:defRPr>
                <a:solidFill>
                  <a:srgbClr val="0E1E30"/>
                </a:solidFill>
                <a:latin typeface="IBM Plex Sans SemiBold"/>
                <a:ea typeface="IBM Plex Sans SemiBold"/>
                <a:cs typeface="IBM Plex Sans SemiBold"/>
                <a:sym typeface="IBM Plex Sans SemiBold"/>
              </a:defRPr>
            </a:lvl3pPr>
            <a:lvl4pPr>
              <a:buClr>
                <a:srgbClr val="0E1E30"/>
              </a:buClr>
              <a:buFont typeface="Helvetica"/>
              <a:defRPr>
                <a:solidFill>
                  <a:srgbClr val="0E1E30"/>
                </a:solidFill>
                <a:latin typeface="IBM Plex Sans SemiBold"/>
                <a:ea typeface="IBM Plex Sans SemiBold"/>
                <a:cs typeface="IBM Plex Sans SemiBold"/>
                <a:sym typeface="IBM Plex Sans SemiBold"/>
              </a:defRPr>
            </a:lvl4pPr>
            <a:lvl5pPr>
              <a:buClr>
                <a:srgbClr val="0E1E30"/>
              </a:buClr>
              <a:buFont typeface="Helvetica"/>
              <a:defRPr>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189" name="Google Shape;105;p22"/>
          <p:cNvSpPr/>
          <p:nvPr/>
        </p:nvSpPr>
        <p:spPr>
          <a:xfrm>
            <a:off x="-1" y="-4025"/>
            <a:ext cx="894602" cy="5143501"/>
          </a:xfrm>
          <a:prstGeom prst="rect">
            <a:avLst/>
          </a:prstGeom>
          <a:solidFill>
            <a:srgbClr val="1E66FA"/>
          </a:solidFill>
          <a:ln w="12700">
            <a:miter lim="400000"/>
          </a:ln>
        </p:spPr>
        <p:txBody>
          <a:bodyPr lIns="0" tIns="0" rIns="0" bIns="0" anchor="ctr"/>
          <a:lstStyle/>
          <a:p>
            <a:pPr algn="ctr">
              <a:defRPr>
                <a:latin typeface="IBM Plex Sans SemiBold"/>
                <a:ea typeface="IBM Plex Sans SemiBold"/>
                <a:cs typeface="IBM Plex Sans SemiBold"/>
                <a:sym typeface="IBM Plex Sans SemiBold"/>
              </a:defRPr>
            </a:pPr>
          </a:p>
        </p:txBody>
      </p:sp>
      <p:pic>
        <p:nvPicPr>
          <p:cNvPr id="190" name="Google Shape;106;p22" descr="Google Shape;106;p22"/>
          <p:cNvPicPr>
            <a:picLocks noChangeAspect="1"/>
          </p:cNvPicPr>
          <p:nvPr/>
        </p:nvPicPr>
        <p:blipFill>
          <a:blip r:embed="rId2">
            <a:extLst/>
          </a:blip>
          <a:stretch>
            <a:fillRect/>
          </a:stretch>
        </p:blipFill>
        <p:spPr>
          <a:xfrm rot="10800000">
            <a:off x="73270" y="1457749"/>
            <a:ext cx="407176" cy="1517151"/>
          </a:xfrm>
          <a:prstGeom prst="rect">
            <a:avLst/>
          </a:prstGeom>
          <a:ln w="12700">
            <a:miter lim="400000"/>
          </a:ln>
        </p:spPr>
      </p:pic>
      <p:pic>
        <p:nvPicPr>
          <p:cNvPr id="191" name="Google Shape;107;p22" descr="Google Shape;107;p22"/>
          <p:cNvPicPr>
            <a:picLocks noChangeAspect="1"/>
          </p:cNvPicPr>
          <p:nvPr/>
        </p:nvPicPr>
        <p:blipFill>
          <a:blip r:embed="rId3">
            <a:extLst/>
          </a:blip>
          <a:stretch>
            <a:fillRect/>
          </a:stretch>
        </p:blipFill>
        <p:spPr>
          <a:xfrm>
            <a:off x="0" y="0"/>
            <a:ext cx="9144004" cy="5147970"/>
          </a:xfrm>
          <a:prstGeom prst="rect">
            <a:avLst/>
          </a:prstGeom>
          <a:ln w="12700">
            <a:miter lim="400000"/>
          </a:ln>
        </p:spPr>
      </p:pic>
      <p:pic>
        <p:nvPicPr>
          <p:cNvPr id="192" name="Google Shape;108;p22" descr="Google Shape;108;p22"/>
          <p:cNvPicPr>
            <a:picLocks noChangeAspect="1"/>
          </p:cNvPicPr>
          <p:nvPr/>
        </p:nvPicPr>
        <p:blipFill>
          <a:blip r:embed="rId4">
            <a:extLst/>
          </a:blip>
          <a:srcRect l="0" t="16416" r="25479" b="0"/>
          <a:stretch>
            <a:fillRect/>
          </a:stretch>
        </p:blipFill>
        <p:spPr>
          <a:xfrm rot="5400000">
            <a:off x="146724" y="3900225"/>
            <a:ext cx="842601" cy="576502"/>
          </a:xfrm>
          <a:prstGeom prst="rect">
            <a:avLst/>
          </a:prstGeom>
          <a:ln w="12700">
            <a:miter lim="400000"/>
          </a:ln>
        </p:spPr>
      </p:pic>
      <p:pic>
        <p:nvPicPr>
          <p:cNvPr id="193" name="Google Shape;109;p22" descr="Google Shape;109;p22"/>
          <p:cNvPicPr>
            <a:picLocks noChangeAspect="1"/>
          </p:cNvPicPr>
          <p:nvPr/>
        </p:nvPicPr>
        <p:blipFill>
          <a:blip r:embed="rId5">
            <a:extLst/>
          </a:blip>
          <a:stretch>
            <a:fillRect/>
          </a:stretch>
        </p:blipFill>
        <p:spPr>
          <a:xfrm>
            <a:off x="407175" y="253975"/>
            <a:ext cx="449101" cy="281010"/>
          </a:xfrm>
          <a:prstGeom prst="rect">
            <a:avLst/>
          </a:prstGeom>
          <a:ln w="12700">
            <a:miter lim="400000"/>
          </a:ln>
        </p:spPr>
      </p:pic>
      <p:sp>
        <p:nvSpPr>
          <p:cNvPr id="194" name="Title Text"/>
          <p:cNvSpPr txBox="1"/>
          <p:nvPr>
            <p:ph type="title"/>
          </p:nvPr>
        </p:nvSpPr>
        <p:spPr>
          <a:xfrm>
            <a:off x="1251800" y="461349"/>
            <a:ext cx="6483301" cy="572702"/>
          </a:xfrm>
          <a:prstGeom prst="rect">
            <a:avLst/>
          </a:prstGeom>
        </p:spPr>
        <p:txBody>
          <a:bodyPr/>
          <a:lstStyle>
            <a:lvl1pPr>
              <a:defRPr>
                <a:solidFill>
                  <a:srgbClr val="0E1E30"/>
                </a:solidFill>
                <a:latin typeface="IBM Plex Sans SemiBold"/>
                <a:ea typeface="IBM Plex Sans SemiBold"/>
                <a:cs typeface="IBM Plex Sans SemiBold"/>
                <a:sym typeface="IBM Plex Sans SemiBold"/>
              </a:defRPr>
            </a:lvl1pPr>
          </a:lstStyle>
          <a:p>
            <a:pPr/>
            <a:r>
              <a:t>Title Text</a:t>
            </a:r>
          </a:p>
        </p:txBody>
      </p:sp>
      <p:pic>
        <p:nvPicPr>
          <p:cNvPr id="195" name="Google Shape;111;p22" descr="Google Shape;111;p22"/>
          <p:cNvPicPr>
            <a:picLocks noChangeAspect="1"/>
          </p:cNvPicPr>
          <p:nvPr/>
        </p:nvPicPr>
        <p:blipFill>
          <a:blip r:embed="rId6">
            <a:extLst/>
          </a:blip>
          <a:stretch>
            <a:fillRect/>
          </a:stretch>
        </p:blipFill>
        <p:spPr>
          <a:xfrm>
            <a:off x="7653552" y="285480"/>
            <a:ext cx="1229953" cy="282276"/>
          </a:xfrm>
          <a:prstGeom prst="rect">
            <a:avLst/>
          </a:prstGeom>
          <a:ln w="12700">
            <a:miter lim="400000"/>
          </a:ln>
        </p:spPr>
      </p:pic>
      <p:sp>
        <p:nvSpPr>
          <p:cNvPr id="196"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_1">
    <p:spTree>
      <p:nvGrpSpPr>
        <p:cNvPr id="1" name=""/>
        <p:cNvGrpSpPr/>
        <p:nvPr/>
      </p:nvGrpSpPr>
      <p:grpSpPr>
        <a:xfrm>
          <a:off x="0" y="0"/>
          <a:ext cx="0" cy="0"/>
          <a:chOff x="0" y="0"/>
          <a:chExt cx="0" cy="0"/>
        </a:xfrm>
      </p:grpSpPr>
      <p:sp>
        <p:nvSpPr>
          <p:cNvPr id="203" name="Google Shape;114;p23"/>
          <p:cNvSpPr/>
          <p:nvPr/>
        </p:nvSpPr>
        <p:spPr>
          <a:xfrm>
            <a:off x="7402575" y="-4025"/>
            <a:ext cx="1741200" cy="5143501"/>
          </a:xfrm>
          <a:prstGeom prst="rect">
            <a:avLst/>
          </a:prstGeom>
          <a:solidFill>
            <a:srgbClr val="1E66FA"/>
          </a:solidFill>
          <a:ln w="12700">
            <a:miter lim="400000"/>
          </a:ln>
        </p:spPr>
        <p:txBody>
          <a:bodyPr lIns="0" tIns="0" rIns="0" bIns="0" anchor="ctr"/>
          <a:lstStyle/>
          <a:p>
            <a:pPr algn="ctr">
              <a:defRPr>
                <a:latin typeface="IBM Plex Sans SemiBold"/>
                <a:ea typeface="IBM Plex Sans SemiBold"/>
                <a:cs typeface="IBM Plex Sans SemiBold"/>
                <a:sym typeface="IBM Plex Sans SemiBold"/>
              </a:defRPr>
            </a:pPr>
          </a:p>
        </p:txBody>
      </p:sp>
      <p:pic>
        <p:nvPicPr>
          <p:cNvPr id="204" name="Google Shape;115;p23" descr="Google Shape;115;p23"/>
          <p:cNvPicPr>
            <a:picLocks noChangeAspect="1"/>
          </p:cNvPicPr>
          <p:nvPr/>
        </p:nvPicPr>
        <p:blipFill>
          <a:blip r:embed="rId2">
            <a:extLst/>
          </a:blip>
          <a:stretch>
            <a:fillRect/>
          </a:stretch>
        </p:blipFill>
        <p:spPr>
          <a:xfrm>
            <a:off x="8375025" y="1285930"/>
            <a:ext cx="548701" cy="495826"/>
          </a:xfrm>
          <a:prstGeom prst="rect">
            <a:avLst/>
          </a:prstGeom>
          <a:ln w="12700">
            <a:miter lim="400000"/>
          </a:ln>
        </p:spPr>
      </p:pic>
      <p:pic>
        <p:nvPicPr>
          <p:cNvPr id="205" name="Google Shape;116;p23" descr="Google Shape;116;p23"/>
          <p:cNvPicPr>
            <a:picLocks noChangeAspect="1"/>
          </p:cNvPicPr>
          <p:nvPr/>
        </p:nvPicPr>
        <p:blipFill>
          <a:blip r:embed="rId3">
            <a:extLst/>
          </a:blip>
          <a:stretch>
            <a:fillRect/>
          </a:stretch>
        </p:blipFill>
        <p:spPr>
          <a:xfrm rot="10800000">
            <a:off x="7402582" y="2109311"/>
            <a:ext cx="407176" cy="1517151"/>
          </a:xfrm>
          <a:prstGeom prst="rect">
            <a:avLst/>
          </a:prstGeom>
          <a:ln w="12700">
            <a:miter lim="400000"/>
          </a:ln>
        </p:spPr>
      </p:pic>
      <p:sp>
        <p:nvSpPr>
          <p:cNvPr id="206" name="Body Level One…"/>
          <p:cNvSpPr txBox="1"/>
          <p:nvPr>
            <p:ph type="body" sz="half" idx="1"/>
          </p:nvPr>
        </p:nvSpPr>
        <p:spPr>
          <a:xfrm>
            <a:off x="311699" y="1717200"/>
            <a:ext cx="6568801" cy="2517301"/>
          </a:xfrm>
          <a:prstGeom prst="rect">
            <a:avLst/>
          </a:prstGeom>
        </p:spPr>
        <p:txBody>
          <a:bodyPr/>
          <a:lstStyle>
            <a:lvl1pPr>
              <a:buClr>
                <a:srgbClr val="0E1E30"/>
              </a:buClr>
              <a:buFont typeface="Helvetica"/>
              <a:defRPr>
                <a:solidFill>
                  <a:srgbClr val="0E1E30"/>
                </a:solidFill>
                <a:latin typeface="IBM Plex Sans SemiBold"/>
                <a:ea typeface="IBM Plex Sans SemiBold"/>
                <a:cs typeface="IBM Plex Sans SemiBold"/>
                <a:sym typeface="IBM Plex Sans SemiBold"/>
              </a:defRPr>
            </a:lvl1pPr>
            <a:lvl2pPr>
              <a:buClr>
                <a:srgbClr val="0E1E30"/>
              </a:buClr>
              <a:buFont typeface="Helvetica"/>
              <a:defRPr>
                <a:solidFill>
                  <a:srgbClr val="0E1E30"/>
                </a:solidFill>
                <a:latin typeface="IBM Plex Sans SemiBold"/>
                <a:ea typeface="IBM Plex Sans SemiBold"/>
                <a:cs typeface="IBM Plex Sans SemiBold"/>
                <a:sym typeface="IBM Plex Sans SemiBold"/>
              </a:defRPr>
            </a:lvl2pPr>
            <a:lvl3pPr>
              <a:buClr>
                <a:srgbClr val="0E1E30"/>
              </a:buClr>
              <a:buFont typeface="Helvetica"/>
              <a:defRPr>
                <a:solidFill>
                  <a:srgbClr val="0E1E30"/>
                </a:solidFill>
                <a:latin typeface="IBM Plex Sans SemiBold"/>
                <a:ea typeface="IBM Plex Sans SemiBold"/>
                <a:cs typeface="IBM Plex Sans SemiBold"/>
                <a:sym typeface="IBM Plex Sans SemiBold"/>
              </a:defRPr>
            </a:lvl3pPr>
            <a:lvl4pPr>
              <a:buClr>
                <a:srgbClr val="0E1E30"/>
              </a:buClr>
              <a:buFont typeface="Helvetica"/>
              <a:defRPr>
                <a:solidFill>
                  <a:srgbClr val="0E1E30"/>
                </a:solidFill>
                <a:latin typeface="IBM Plex Sans SemiBold"/>
                <a:ea typeface="IBM Plex Sans SemiBold"/>
                <a:cs typeface="IBM Plex Sans SemiBold"/>
                <a:sym typeface="IBM Plex Sans SemiBold"/>
              </a:defRPr>
            </a:lvl4pPr>
            <a:lvl5pPr>
              <a:buClr>
                <a:srgbClr val="0E1E30"/>
              </a:buClr>
              <a:buFont typeface="Helvetica"/>
              <a:defRPr>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pic>
        <p:nvPicPr>
          <p:cNvPr id="207" name="Google Shape;118;p23" descr="Google Shape;118;p23"/>
          <p:cNvPicPr>
            <a:picLocks noChangeAspect="1"/>
          </p:cNvPicPr>
          <p:nvPr/>
        </p:nvPicPr>
        <p:blipFill>
          <a:blip r:embed="rId4">
            <a:extLst/>
          </a:blip>
          <a:srcRect l="0" t="0" r="37032" b="0"/>
          <a:stretch>
            <a:fillRect/>
          </a:stretch>
        </p:blipFill>
        <p:spPr>
          <a:xfrm>
            <a:off x="8041716" y="3411187"/>
            <a:ext cx="1102284" cy="1517152"/>
          </a:xfrm>
          <a:prstGeom prst="rect">
            <a:avLst/>
          </a:prstGeom>
          <a:ln w="12700">
            <a:miter lim="400000"/>
          </a:ln>
        </p:spPr>
      </p:pic>
      <p:sp>
        <p:nvSpPr>
          <p:cNvPr id="208" name="Title Text"/>
          <p:cNvSpPr txBox="1"/>
          <p:nvPr>
            <p:ph type="title"/>
          </p:nvPr>
        </p:nvSpPr>
        <p:spPr>
          <a:xfrm>
            <a:off x="311699" y="461349"/>
            <a:ext cx="8520602" cy="572702"/>
          </a:xfrm>
          <a:prstGeom prst="rect">
            <a:avLst/>
          </a:prstGeom>
        </p:spPr>
        <p:txBody>
          <a:bodyPr/>
          <a:lstStyle>
            <a:lvl1pPr>
              <a:defRPr>
                <a:solidFill>
                  <a:srgbClr val="0E1E30"/>
                </a:solidFill>
                <a:latin typeface="IBM Plex Sans SemiBold"/>
                <a:ea typeface="IBM Plex Sans SemiBold"/>
                <a:cs typeface="IBM Plex Sans SemiBold"/>
                <a:sym typeface="IBM Plex Sans SemiBold"/>
              </a:defRPr>
            </a:lvl1pPr>
          </a:lstStyle>
          <a:p>
            <a:pPr/>
            <a:r>
              <a:t>Title Text</a:t>
            </a:r>
          </a:p>
        </p:txBody>
      </p:sp>
      <p:pic>
        <p:nvPicPr>
          <p:cNvPr id="209" name="Google Shape;120;p23" descr="Google Shape;120;p23"/>
          <p:cNvPicPr>
            <a:picLocks noChangeAspect="1"/>
          </p:cNvPicPr>
          <p:nvPr/>
        </p:nvPicPr>
        <p:blipFill>
          <a:blip r:embed="rId5">
            <a:extLst/>
          </a:blip>
          <a:stretch>
            <a:fillRect/>
          </a:stretch>
        </p:blipFill>
        <p:spPr>
          <a:xfrm>
            <a:off x="0" y="0"/>
            <a:ext cx="9144004" cy="5147970"/>
          </a:xfrm>
          <a:prstGeom prst="rect">
            <a:avLst/>
          </a:prstGeom>
          <a:ln w="12700">
            <a:miter lim="400000"/>
          </a:ln>
        </p:spPr>
      </p:pic>
      <p:pic>
        <p:nvPicPr>
          <p:cNvPr id="210" name="Google Shape;121;p23" descr="Google Shape;121;p23"/>
          <p:cNvPicPr>
            <a:picLocks noChangeAspect="1"/>
          </p:cNvPicPr>
          <p:nvPr/>
        </p:nvPicPr>
        <p:blipFill>
          <a:blip r:embed="rId6">
            <a:extLst/>
          </a:blip>
          <a:stretch>
            <a:fillRect/>
          </a:stretch>
        </p:blipFill>
        <p:spPr>
          <a:xfrm>
            <a:off x="7653552" y="285484"/>
            <a:ext cx="1229953" cy="282268"/>
          </a:xfrm>
          <a:prstGeom prst="rect">
            <a:avLst/>
          </a:prstGeom>
          <a:ln w="12700">
            <a:miter lim="400000"/>
          </a:ln>
        </p:spPr>
      </p:pic>
      <p:sp>
        <p:nvSpPr>
          <p:cNvPr id="211"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_1_1">
    <p:spTree>
      <p:nvGrpSpPr>
        <p:cNvPr id="1" name=""/>
        <p:cNvGrpSpPr/>
        <p:nvPr/>
      </p:nvGrpSpPr>
      <p:grpSpPr>
        <a:xfrm>
          <a:off x="0" y="0"/>
          <a:ext cx="0" cy="0"/>
          <a:chOff x="0" y="0"/>
          <a:chExt cx="0" cy="0"/>
        </a:xfrm>
      </p:grpSpPr>
      <p:sp>
        <p:nvSpPr>
          <p:cNvPr id="218" name="Google Shape;123;p24"/>
          <p:cNvSpPr/>
          <p:nvPr/>
        </p:nvSpPr>
        <p:spPr>
          <a:xfrm>
            <a:off x="4595024" y="-4025"/>
            <a:ext cx="4548902" cy="5143501"/>
          </a:xfrm>
          <a:prstGeom prst="rect">
            <a:avLst/>
          </a:prstGeom>
          <a:solidFill>
            <a:srgbClr val="1E66FA"/>
          </a:solidFill>
          <a:ln w="12700">
            <a:miter lim="400000"/>
          </a:ln>
        </p:spPr>
        <p:txBody>
          <a:bodyPr lIns="0" tIns="0" rIns="0" bIns="0" anchor="ctr"/>
          <a:lstStyle/>
          <a:p>
            <a:pPr algn="ctr">
              <a:defRPr>
                <a:latin typeface="IBM Plex Sans SemiBold"/>
                <a:ea typeface="IBM Plex Sans SemiBold"/>
                <a:cs typeface="IBM Plex Sans SemiBold"/>
                <a:sym typeface="IBM Plex Sans SemiBold"/>
              </a:defRPr>
            </a:pPr>
          </a:p>
        </p:txBody>
      </p:sp>
      <p:pic>
        <p:nvPicPr>
          <p:cNvPr id="219" name="Google Shape;124;p24" descr="Google Shape;124;p24"/>
          <p:cNvPicPr>
            <a:picLocks noChangeAspect="1"/>
          </p:cNvPicPr>
          <p:nvPr/>
        </p:nvPicPr>
        <p:blipFill>
          <a:blip r:embed="rId2">
            <a:extLst/>
          </a:blip>
          <a:stretch>
            <a:fillRect/>
          </a:stretch>
        </p:blipFill>
        <p:spPr>
          <a:xfrm>
            <a:off x="0" y="0"/>
            <a:ext cx="9144004" cy="5147970"/>
          </a:xfrm>
          <a:prstGeom prst="rect">
            <a:avLst/>
          </a:prstGeom>
          <a:ln w="12700">
            <a:miter lim="400000"/>
          </a:ln>
        </p:spPr>
      </p:pic>
      <p:sp>
        <p:nvSpPr>
          <p:cNvPr id="220" name="Title Text"/>
          <p:cNvSpPr txBox="1"/>
          <p:nvPr>
            <p:ph type="title"/>
          </p:nvPr>
        </p:nvSpPr>
        <p:spPr>
          <a:xfrm>
            <a:off x="265500" y="1233175"/>
            <a:ext cx="4045200" cy="1482301"/>
          </a:xfrm>
          <a:prstGeom prst="rect">
            <a:avLst/>
          </a:prstGeom>
        </p:spPr>
        <p:txBody>
          <a:bodyPr anchor="b"/>
          <a:lstStyle>
            <a:lvl1pPr algn="ctr">
              <a:defRPr sz="4200">
                <a:solidFill>
                  <a:srgbClr val="0E1E30"/>
                </a:solidFill>
                <a:latin typeface="IBM Plex Sans SemiBold"/>
                <a:ea typeface="IBM Plex Sans SemiBold"/>
                <a:cs typeface="IBM Plex Sans SemiBold"/>
                <a:sym typeface="IBM Plex Sans SemiBold"/>
              </a:defRPr>
            </a:lvl1pPr>
          </a:lstStyle>
          <a:p>
            <a:pPr/>
            <a:r>
              <a:t>Title Text</a:t>
            </a:r>
          </a:p>
        </p:txBody>
      </p:sp>
      <p:sp>
        <p:nvSpPr>
          <p:cNvPr id="221"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solidFill>
                  <a:srgbClr val="0E1E30"/>
                </a:solidFill>
                <a:latin typeface="IBM Plex Sans SemiBold"/>
                <a:ea typeface="IBM Plex Sans SemiBold"/>
                <a:cs typeface="IBM Plex Sans SemiBold"/>
                <a:sym typeface="IBM Plex Sans SemiBold"/>
              </a:defRPr>
            </a:lvl1pPr>
            <a:lvl2pPr marL="342900" indent="254000" algn="ctr">
              <a:lnSpc>
                <a:spcPct val="100000"/>
              </a:lnSpc>
              <a:buClrTx/>
              <a:buSzTx/>
              <a:buFontTx/>
              <a:buNone/>
              <a:defRPr sz="2100">
                <a:solidFill>
                  <a:srgbClr val="0E1E30"/>
                </a:solidFill>
                <a:latin typeface="IBM Plex Sans SemiBold"/>
                <a:ea typeface="IBM Plex Sans SemiBold"/>
                <a:cs typeface="IBM Plex Sans SemiBold"/>
                <a:sym typeface="IBM Plex Sans SemiBold"/>
              </a:defRPr>
            </a:lvl2pPr>
            <a:lvl3pPr marL="342900" indent="711200" algn="ctr">
              <a:lnSpc>
                <a:spcPct val="100000"/>
              </a:lnSpc>
              <a:buClrTx/>
              <a:buSzTx/>
              <a:buFontTx/>
              <a:buNone/>
              <a:defRPr sz="2100">
                <a:solidFill>
                  <a:srgbClr val="0E1E30"/>
                </a:solidFill>
                <a:latin typeface="IBM Plex Sans SemiBold"/>
                <a:ea typeface="IBM Plex Sans SemiBold"/>
                <a:cs typeface="IBM Plex Sans SemiBold"/>
                <a:sym typeface="IBM Plex Sans SemiBold"/>
              </a:defRPr>
            </a:lvl3pPr>
            <a:lvl4pPr marL="342900" indent="1168400" algn="ctr">
              <a:lnSpc>
                <a:spcPct val="100000"/>
              </a:lnSpc>
              <a:buClrTx/>
              <a:buSzTx/>
              <a:buFontTx/>
              <a:buNone/>
              <a:defRPr sz="2100">
                <a:solidFill>
                  <a:srgbClr val="0E1E30"/>
                </a:solidFill>
                <a:latin typeface="IBM Plex Sans SemiBold"/>
                <a:ea typeface="IBM Plex Sans SemiBold"/>
                <a:cs typeface="IBM Plex Sans SemiBold"/>
                <a:sym typeface="IBM Plex Sans SemiBold"/>
              </a:defRPr>
            </a:lvl4pPr>
            <a:lvl5pPr marL="342900" indent="1625600" algn="ctr">
              <a:lnSpc>
                <a:spcPct val="100000"/>
              </a:lnSpc>
              <a:buClrTx/>
              <a:buSzTx/>
              <a:buFontTx/>
              <a:buNone/>
              <a:defRPr sz="2100">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222" name="Google Shape;128;p24"/>
          <p:cNvSpPr txBox="1"/>
          <p:nvPr>
            <p:ph type="body" sz="half" idx="21"/>
          </p:nvPr>
        </p:nvSpPr>
        <p:spPr>
          <a:xfrm>
            <a:off x="4843024" y="737162"/>
            <a:ext cx="3837001" cy="3695102"/>
          </a:xfrm>
          <a:prstGeom prst="rect">
            <a:avLst/>
          </a:prstGeom>
        </p:spPr>
        <p:txBody>
          <a:bodyPr anchor="ctr"/>
          <a:lstStyle/>
          <a:p>
            <a:pPr>
              <a:buClr>
                <a:srgbClr val="FFFFFF"/>
              </a:buClr>
              <a:buFont typeface="Helvetica"/>
              <a:defRPr b="1">
                <a:solidFill>
                  <a:srgbClr val="FFFFFF"/>
                </a:solidFill>
                <a:latin typeface="IBM Plex Sans"/>
                <a:ea typeface="IBM Plex Sans"/>
                <a:cs typeface="IBM Plex Sans"/>
                <a:sym typeface="IBM Plex Sans"/>
              </a:defRPr>
            </a:pPr>
          </a:p>
        </p:txBody>
      </p:sp>
      <p:pic>
        <p:nvPicPr>
          <p:cNvPr id="223" name="Google Shape;129;p24" descr="Google Shape;129;p24"/>
          <p:cNvPicPr>
            <a:picLocks noChangeAspect="1"/>
          </p:cNvPicPr>
          <p:nvPr/>
        </p:nvPicPr>
        <p:blipFill>
          <a:blip r:embed="rId3">
            <a:extLst/>
          </a:blip>
          <a:stretch>
            <a:fillRect/>
          </a:stretch>
        </p:blipFill>
        <p:spPr>
          <a:xfrm>
            <a:off x="7653552" y="285484"/>
            <a:ext cx="1229953" cy="282268"/>
          </a:xfrm>
          <a:prstGeom prst="rect">
            <a:avLst/>
          </a:prstGeom>
          <a:ln w="12700">
            <a:miter lim="400000"/>
          </a:ln>
        </p:spPr>
      </p:pic>
      <p:sp>
        <p:nvSpPr>
          <p:cNvPr id="224"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_1_1_1">
    <p:spTree>
      <p:nvGrpSpPr>
        <p:cNvPr id="1" name=""/>
        <p:cNvGrpSpPr/>
        <p:nvPr/>
      </p:nvGrpSpPr>
      <p:grpSpPr>
        <a:xfrm>
          <a:off x="0" y="0"/>
          <a:ext cx="0" cy="0"/>
          <a:chOff x="0" y="0"/>
          <a:chExt cx="0" cy="0"/>
        </a:xfrm>
      </p:grpSpPr>
      <p:sp>
        <p:nvSpPr>
          <p:cNvPr id="231" name="Google Shape;131;p25"/>
          <p:cNvSpPr/>
          <p:nvPr/>
        </p:nvSpPr>
        <p:spPr>
          <a:xfrm>
            <a:off x="0" y="-4025"/>
            <a:ext cx="4511400" cy="5143501"/>
          </a:xfrm>
          <a:prstGeom prst="rect">
            <a:avLst/>
          </a:prstGeom>
          <a:solidFill>
            <a:srgbClr val="1E66FA"/>
          </a:solidFill>
          <a:ln w="12700">
            <a:miter lim="400000"/>
          </a:ln>
        </p:spPr>
        <p:txBody>
          <a:bodyPr lIns="0" tIns="0" rIns="0" bIns="0" anchor="ctr"/>
          <a:lstStyle/>
          <a:p>
            <a:pPr algn="ctr">
              <a:defRPr>
                <a:latin typeface="IBM Plex Sans SemiBold"/>
                <a:ea typeface="IBM Plex Sans SemiBold"/>
                <a:cs typeface="IBM Plex Sans SemiBold"/>
                <a:sym typeface="IBM Plex Sans SemiBold"/>
              </a:defRPr>
            </a:pPr>
          </a:p>
        </p:txBody>
      </p:sp>
      <p:sp>
        <p:nvSpPr>
          <p:cNvPr id="232" name="Title Text"/>
          <p:cNvSpPr txBox="1"/>
          <p:nvPr>
            <p:ph type="title"/>
          </p:nvPr>
        </p:nvSpPr>
        <p:spPr>
          <a:xfrm>
            <a:off x="265500" y="1233175"/>
            <a:ext cx="4045200" cy="1482301"/>
          </a:xfrm>
          <a:prstGeom prst="rect">
            <a:avLst/>
          </a:prstGeom>
        </p:spPr>
        <p:txBody>
          <a:bodyPr anchor="b"/>
          <a:lstStyle>
            <a:lvl1pPr algn="ctr">
              <a:defRPr sz="4200">
                <a:solidFill>
                  <a:srgbClr val="FFFFFF"/>
                </a:solidFill>
                <a:latin typeface="IBM Plex Sans SemiBold"/>
                <a:ea typeface="IBM Plex Sans SemiBold"/>
                <a:cs typeface="IBM Plex Sans SemiBold"/>
                <a:sym typeface="IBM Plex Sans SemiBold"/>
              </a:defRPr>
            </a:lvl1pPr>
          </a:lstStyle>
          <a:p>
            <a:pPr/>
            <a:r>
              <a:t>Title Text</a:t>
            </a:r>
          </a:p>
        </p:txBody>
      </p:sp>
      <p:pic>
        <p:nvPicPr>
          <p:cNvPr id="233" name="Google Shape;134;p25" descr="Google Shape;134;p25"/>
          <p:cNvPicPr>
            <a:picLocks noChangeAspect="1"/>
          </p:cNvPicPr>
          <p:nvPr/>
        </p:nvPicPr>
        <p:blipFill>
          <a:blip r:embed="rId2">
            <a:extLst/>
          </a:blip>
          <a:stretch>
            <a:fillRect/>
          </a:stretch>
        </p:blipFill>
        <p:spPr>
          <a:xfrm>
            <a:off x="0" y="0"/>
            <a:ext cx="9144004" cy="5147970"/>
          </a:xfrm>
          <a:prstGeom prst="rect">
            <a:avLst/>
          </a:prstGeom>
          <a:ln w="12700">
            <a:miter lim="400000"/>
          </a:ln>
        </p:spPr>
      </p:pic>
      <p:sp>
        <p:nvSpPr>
          <p:cNvPr id="234"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1pPr>
            <a:lvl2pPr marL="342900" indent="2540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2pPr>
            <a:lvl3pPr marL="342900" indent="7112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3pPr>
            <a:lvl4pPr marL="342900" indent="11684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4pPr>
            <a:lvl5pPr marL="342900" indent="16256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235" name="Google Shape;136;p25"/>
          <p:cNvSpPr txBox="1"/>
          <p:nvPr>
            <p:ph type="body" sz="half" idx="21"/>
          </p:nvPr>
        </p:nvSpPr>
        <p:spPr>
          <a:xfrm>
            <a:off x="5181174" y="736974"/>
            <a:ext cx="3603600" cy="3695102"/>
          </a:xfrm>
          <a:prstGeom prst="rect">
            <a:avLst/>
          </a:prstGeom>
        </p:spPr>
        <p:txBody>
          <a:bodyPr anchor="ctr"/>
          <a:lstStyle/>
          <a:p>
            <a:pPr>
              <a:buClr>
                <a:srgbClr val="0E1E30"/>
              </a:buClr>
              <a:buFont typeface="Helvetica"/>
              <a:defRPr b="1">
                <a:solidFill>
                  <a:srgbClr val="0E1E30"/>
                </a:solidFill>
                <a:latin typeface="IBM Plex Sans"/>
                <a:ea typeface="IBM Plex Sans"/>
                <a:cs typeface="IBM Plex Sans"/>
                <a:sym typeface="IBM Plex Sans"/>
              </a:defRPr>
            </a:pPr>
          </a:p>
        </p:txBody>
      </p:sp>
      <p:pic>
        <p:nvPicPr>
          <p:cNvPr id="236" name="Google Shape;137;p25" descr="Google Shape;137;p25"/>
          <p:cNvPicPr>
            <a:picLocks noChangeAspect="1"/>
          </p:cNvPicPr>
          <p:nvPr/>
        </p:nvPicPr>
        <p:blipFill>
          <a:blip r:embed="rId3">
            <a:extLst/>
          </a:blip>
          <a:stretch>
            <a:fillRect/>
          </a:stretch>
        </p:blipFill>
        <p:spPr>
          <a:xfrm>
            <a:off x="7653552" y="285480"/>
            <a:ext cx="1229953" cy="282276"/>
          </a:xfrm>
          <a:prstGeom prst="rect">
            <a:avLst/>
          </a:prstGeom>
          <a:ln w="12700">
            <a:miter lim="400000"/>
          </a:ln>
        </p:spPr>
      </p:pic>
      <p:sp>
        <p:nvSpPr>
          <p:cNvPr id="237"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_1_1">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44" name="Google Shape;139;p26" descr="Google Shape;139;p26"/>
          <p:cNvPicPr>
            <a:picLocks noChangeAspect="1"/>
          </p:cNvPicPr>
          <p:nvPr/>
        </p:nvPicPr>
        <p:blipFill>
          <a:blip r:embed="rId3">
            <a:extLst/>
          </a:blip>
          <a:stretch>
            <a:fillRect/>
          </a:stretch>
        </p:blipFill>
        <p:spPr>
          <a:xfrm>
            <a:off x="0" y="0"/>
            <a:ext cx="9144004" cy="5147970"/>
          </a:xfrm>
          <a:prstGeom prst="rect">
            <a:avLst/>
          </a:prstGeom>
          <a:ln w="12700">
            <a:miter lim="400000"/>
          </a:ln>
        </p:spPr>
      </p:pic>
      <p:pic>
        <p:nvPicPr>
          <p:cNvPr id="245" name="Google Shape;140;p26" descr="Google Shape;140;p26"/>
          <p:cNvPicPr>
            <a:picLocks noChangeAspect="1"/>
          </p:cNvPicPr>
          <p:nvPr/>
        </p:nvPicPr>
        <p:blipFill>
          <a:blip r:embed="rId4">
            <a:extLst/>
          </a:blip>
          <a:srcRect l="0" t="0" r="0" b="42237"/>
          <a:stretch>
            <a:fillRect/>
          </a:stretch>
        </p:blipFill>
        <p:spPr>
          <a:xfrm>
            <a:off x="265500" y="4534725"/>
            <a:ext cx="903001" cy="522102"/>
          </a:xfrm>
          <a:prstGeom prst="rect">
            <a:avLst/>
          </a:prstGeom>
          <a:ln w="12700">
            <a:miter lim="400000"/>
          </a:ln>
        </p:spPr>
      </p:pic>
      <p:sp>
        <p:nvSpPr>
          <p:cNvPr id="246" name="Title Text"/>
          <p:cNvSpPr txBox="1"/>
          <p:nvPr>
            <p:ph type="title"/>
          </p:nvPr>
        </p:nvSpPr>
        <p:spPr>
          <a:xfrm>
            <a:off x="265500" y="1233175"/>
            <a:ext cx="4045200" cy="1482301"/>
          </a:xfrm>
          <a:prstGeom prst="rect">
            <a:avLst/>
          </a:prstGeom>
        </p:spPr>
        <p:txBody>
          <a:bodyPr anchor="b"/>
          <a:lstStyle>
            <a:lvl1pPr algn="ctr">
              <a:defRPr sz="4200">
                <a:solidFill>
                  <a:srgbClr val="FFFFFF"/>
                </a:solidFill>
                <a:latin typeface="IBM Plex Sans SemiBold"/>
                <a:ea typeface="IBM Plex Sans SemiBold"/>
                <a:cs typeface="IBM Plex Sans SemiBold"/>
                <a:sym typeface="IBM Plex Sans SemiBold"/>
              </a:defRPr>
            </a:lvl1pPr>
          </a:lstStyle>
          <a:p>
            <a:pPr/>
            <a:r>
              <a:t>Title Text</a:t>
            </a:r>
          </a:p>
        </p:txBody>
      </p:sp>
      <p:sp>
        <p:nvSpPr>
          <p:cNvPr id="247"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1pPr>
            <a:lvl2pPr marL="342900" indent="2540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2pPr>
            <a:lvl3pPr marL="342900" indent="7112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3pPr>
            <a:lvl4pPr marL="342900" indent="11684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4pPr>
            <a:lvl5pPr marL="342900" indent="1625600" algn="ctr">
              <a:lnSpc>
                <a:spcPct val="100000"/>
              </a:lnSpc>
              <a:buClrTx/>
              <a:buSzTx/>
              <a:buFontTx/>
              <a:buNone/>
              <a:defRPr sz="2100">
                <a:solidFill>
                  <a:srgbClr val="FFFFFF"/>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248" name="Google Shape;144;p26"/>
          <p:cNvSpPr txBox="1"/>
          <p:nvPr>
            <p:ph type="body" sz="half" idx="21"/>
          </p:nvPr>
        </p:nvSpPr>
        <p:spPr>
          <a:xfrm>
            <a:off x="4939500" y="724074"/>
            <a:ext cx="3837000" cy="3695102"/>
          </a:xfrm>
          <a:prstGeom prst="rect">
            <a:avLst/>
          </a:prstGeom>
        </p:spPr>
        <p:txBody>
          <a:bodyPr anchor="ctr"/>
          <a:lstStyle/>
          <a:p>
            <a:pPr>
              <a:buClr>
                <a:srgbClr val="0E1E30"/>
              </a:buClr>
              <a:buFont typeface="Helvetica"/>
              <a:defRPr b="1">
                <a:solidFill>
                  <a:srgbClr val="0E1E30"/>
                </a:solidFill>
                <a:latin typeface="IBM Plex Sans"/>
                <a:ea typeface="IBM Plex Sans"/>
                <a:cs typeface="IBM Plex Sans"/>
                <a:sym typeface="IBM Plex Sans"/>
              </a:defRPr>
            </a:pPr>
          </a:p>
        </p:txBody>
      </p:sp>
      <p:pic>
        <p:nvPicPr>
          <p:cNvPr id="249" name="Google Shape;145;p26" descr="Google Shape;145;p26"/>
          <p:cNvPicPr>
            <a:picLocks noChangeAspect="1"/>
          </p:cNvPicPr>
          <p:nvPr/>
        </p:nvPicPr>
        <p:blipFill>
          <a:blip r:embed="rId5">
            <a:extLst/>
          </a:blip>
          <a:stretch>
            <a:fillRect/>
          </a:stretch>
        </p:blipFill>
        <p:spPr>
          <a:xfrm>
            <a:off x="7653552" y="285480"/>
            <a:ext cx="1229953" cy="282276"/>
          </a:xfrm>
          <a:prstGeom prst="rect">
            <a:avLst/>
          </a:prstGeom>
          <a:ln w="12700">
            <a:miter lim="400000"/>
          </a:ln>
        </p:spPr>
      </p:pic>
      <p:sp>
        <p:nvSpPr>
          <p:cNvPr id="250"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_1">
    <p:spTree>
      <p:nvGrpSpPr>
        <p:cNvPr id="1" name=""/>
        <p:cNvGrpSpPr/>
        <p:nvPr/>
      </p:nvGrpSpPr>
      <p:grpSpPr>
        <a:xfrm>
          <a:off x="0" y="0"/>
          <a:ext cx="0" cy="0"/>
          <a:chOff x="0" y="0"/>
          <a:chExt cx="0" cy="0"/>
        </a:xfrm>
      </p:grpSpPr>
      <p:sp>
        <p:nvSpPr>
          <p:cNvPr id="257" name="Google Shape;147;p27"/>
          <p:cNvSpPr/>
          <p:nvPr/>
        </p:nvSpPr>
        <p:spPr>
          <a:xfrm>
            <a:off x="-50" y="-4026"/>
            <a:ext cx="9144001" cy="1082102"/>
          </a:xfrm>
          <a:prstGeom prst="rect">
            <a:avLst/>
          </a:prstGeom>
          <a:solidFill>
            <a:srgbClr val="1E66FA"/>
          </a:solidFill>
          <a:ln w="12700">
            <a:miter lim="400000"/>
          </a:ln>
        </p:spPr>
        <p:txBody>
          <a:bodyPr lIns="0" tIns="0" rIns="0" bIns="0" anchor="ctr"/>
          <a:lstStyle/>
          <a:p>
            <a:pPr algn="ctr">
              <a:defRPr>
                <a:latin typeface="IBM Plex Sans SemiBold"/>
                <a:ea typeface="IBM Plex Sans SemiBold"/>
                <a:cs typeface="IBM Plex Sans SemiBold"/>
                <a:sym typeface="IBM Plex Sans SemiBold"/>
              </a:defRPr>
            </a:pPr>
          </a:p>
        </p:txBody>
      </p:sp>
      <p:sp>
        <p:nvSpPr>
          <p:cNvPr id="258" name="Title Text"/>
          <p:cNvSpPr txBox="1"/>
          <p:nvPr>
            <p:ph type="title"/>
          </p:nvPr>
        </p:nvSpPr>
        <p:spPr>
          <a:xfrm>
            <a:off x="311699" y="253975"/>
            <a:ext cx="8520602" cy="949800"/>
          </a:xfrm>
          <a:prstGeom prst="rect">
            <a:avLst/>
          </a:prstGeom>
        </p:spPr>
        <p:txBody>
          <a:bodyPr/>
          <a:lstStyle>
            <a:lvl1pPr>
              <a:defRPr>
                <a:solidFill>
                  <a:srgbClr val="FFFFFF"/>
                </a:solidFill>
                <a:latin typeface="IBM Plex Sans SemiBold"/>
                <a:ea typeface="IBM Plex Sans SemiBold"/>
                <a:cs typeface="IBM Plex Sans SemiBold"/>
                <a:sym typeface="IBM Plex Sans SemiBold"/>
              </a:defRPr>
            </a:lvl1pPr>
          </a:lstStyle>
          <a:p>
            <a:pPr/>
            <a:r>
              <a:t>Title Text</a:t>
            </a:r>
          </a:p>
        </p:txBody>
      </p:sp>
      <p:sp>
        <p:nvSpPr>
          <p:cNvPr id="259" name="Body Level One…"/>
          <p:cNvSpPr txBox="1"/>
          <p:nvPr>
            <p:ph type="body" sz="half" idx="1"/>
          </p:nvPr>
        </p:nvSpPr>
        <p:spPr>
          <a:xfrm>
            <a:off x="311699" y="1716625"/>
            <a:ext cx="3999902" cy="3416401"/>
          </a:xfrm>
          <a:prstGeom prst="rect">
            <a:avLst/>
          </a:prstGeom>
        </p:spPr>
        <p:txBody>
          <a:bodyPr/>
          <a:lstStyle>
            <a:lvl1pPr indent="-3175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1pPr>
            <a:lvl2pPr marL="9652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2pPr>
            <a:lvl3pPr marL="14224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3pPr>
            <a:lvl4pPr marL="18796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4pPr>
            <a:lvl5pPr marL="2336800" indent="-3556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sp>
        <p:nvSpPr>
          <p:cNvPr id="260" name="Google Shape;150;p27"/>
          <p:cNvSpPr txBox="1"/>
          <p:nvPr>
            <p:ph type="body" sz="half" idx="21"/>
          </p:nvPr>
        </p:nvSpPr>
        <p:spPr>
          <a:xfrm>
            <a:off x="4832399" y="1716625"/>
            <a:ext cx="3999902" cy="3416401"/>
          </a:xfrm>
          <a:prstGeom prst="rect">
            <a:avLst/>
          </a:prstGeom>
        </p:spPr>
        <p:txBody>
          <a:bodyPr/>
          <a:lstStyle/>
          <a:p>
            <a:pPr indent="-317500">
              <a:buClr>
                <a:srgbClr val="0E1E30"/>
              </a:buClr>
              <a:buSzPts val="1400"/>
              <a:buFont typeface="Helvetica"/>
              <a:defRPr sz="1400">
                <a:solidFill>
                  <a:srgbClr val="0E1E30"/>
                </a:solidFill>
                <a:latin typeface="IBM Plex Sans SemiBold"/>
                <a:ea typeface="IBM Plex Sans SemiBold"/>
                <a:cs typeface="IBM Plex Sans SemiBold"/>
                <a:sym typeface="IBM Plex Sans SemiBold"/>
              </a:defRPr>
            </a:pPr>
          </a:p>
        </p:txBody>
      </p:sp>
      <p:pic>
        <p:nvPicPr>
          <p:cNvPr id="261" name="Google Shape;152;p27" descr="Google Shape;152;p27"/>
          <p:cNvPicPr>
            <a:picLocks noChangeAspect="1"/>
          </p:cNvPicPr>
          <p:nvPr/>
        </p:nvPicPr>
        <p:blipFill>
          <a:blip r:embed="rId2">
            <a:extLst/>
          </a:blip>
          <a:stretch>
            <a:fillRect/>
          </a:stretch>
        </p:blipFill>
        <p:spPr>
          <a:xfrm>
            <a:off x="7653552" y="285484"/>
            <a:ext cx="1229953" cy="282268"/>
          </a:xfrm>
          <a:prstGeom prst="rect">
            <a:avLst/>
          </a:prstGeom>
          <a:ln w="12700">
            <a:miter lim="400000"/>
          </a:ln>
        </p:spPr>
      </p:pic>
      <p:sp>
        <p:nvSpPr>
          <p:cNvPr id="262"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_1">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69" name="Google Shape;154;p28" descr="Google Shape;154;p28"/>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270" name="Google Shape;155;p28" descr="Google Shape;155;p28"/>
          <p:cNvPicPr>
            <a:picLocks noChangeAspect="1"/>
          </p:cNvPicPr>
          <p:nvPr/>
        </p:nvPicPr>
        <p:blipFill>
          <a:blip r:embed="rId4">
            <a:extLst/>
          </a:blip>
          <a:stretch>
            <a:fillRect/>
          </a:stretch>
        </p:blipFill>
        <p:spPr>
          <a:xfrm>
            <a:off x="0" y="0"/>
            <a:ext cx="9144004" cy="5147970"/>
          </a:xfrm>
          <a:prstGeom prst="rect">
            <a:avLst/>
          </a:prstGeom>
          <a:ln w="12700">
            <a:miter lim="400000"/>
          </a:ln>
        </p:spPr>
      </p:pic>
      <p:pic>
        <p:nvPicPr>
          <p:cNvPr id="271" name="Google Shape;157;p28" descr="Google Shape;157;p28"/>
          <p:cNvPicPr>
            <a:picLocks noChangeAspect="1"/>
          </p:cNvPicPr>
          <p:nvPr/>
        </p:nvPicPr>
        <p:blipFill>
          <a:blip r:embed="rId5">
            <a:extLst/>
          </a:blip>
          <a:srcRect l="0" t="0" r="0" b="49262"/>
          <a:stretch>
            <a:fillRect/>
          </a:stretch>
        </p:blipFill>
        <p:spPr>
          <a:xfrm>
            <a:off x="315662" y="3965624"/>
            <a:ext cx="2150700" cy="1091203"/>
          </a:xfrm>
          <a:prstGeom prst="rect">
            <a:avLst/>
          </a:prstGeom>
          <a:ln w="12700">
            <a:miter lim="400000"/>
          </a:ln>
        </p:spPr>
      </p:pic>
      <p:pic>
        <p:nvPicPr>
          <p:cNvPr id="272" name="Google Shape;158;p28" descr="Google Shape;158;p28"/>
          <p:cNvPicPr>
            <a:picLocks noChangeAspect="1"/>
          </p:cNvPicPr>
          <p:nvPr/>
        </p:nvPicPr>
        <p:blipFill>
          <a:blip r:embed="rId6">
            <a:extLst/>
          </a:blip>
          <a:stretch>
            <a:fillRect/>
          </a:stretch>
        </p:blipFill>
        <p:spPr>
          <a:xfrm>
            <a:off x="154550" y="168059"/>
            <a:ext cx="1229077" cy="749717"/>
          </a:xfrm>
          <a:prstGeom prst="rect">
            <a:avLst/>
          </a:prstGeom>
          <a:ln w="12700">
            <a:miter lim="400000"/>
          </a:ln>
        </p:spPr>
      </p:pic>
      <p:pic>
        <p:nvPicPr>
          <p:cNvPr id="273" name="Google Shape;161;p28" descr="Google Shape;161;p28"/>
          <p:cNvPicPr>
            <a:picLocks noChangeAspect="1"/>
          </p:cNvPicPr>
          <p:nvPr/>
        </p:nvPicPr>
        <p:blipFill>
          <a:blip r:embed="rId7">
            <a:extLst/>
          </a:blip>
          <a:stretch>
            <a:fillRect/>
          </a:stretch>
        </p:blipFill>
        <p:spPr>
          <a:xfrm>
            <a:off x="7335925" y="303525"/>
            <a:ext cx="853150" cy="533826"/>
          </a:xfrm>
          <a:prstGeom prst="rect">
            <a:avLst/>
          </a:prstGeom>
          <a:ln w="12700">
            <a:miter lim="400000"/>
          </a:ln>
        </p:spPr>
      </p:pic>
      <p:pic>
        <p:nvPicPr>
          <p:cNvPr id="274" name="Google Shape;162;p28" descr="Google Shape;162;p28"/>
          <p:cNvPicPr>
            <a:picLocks noChangeAspect="1"/>
          </p:cNvPicPr>
          <p:nvPr/>
        </p:nvPicPr>
        <p:blipFill>
          <a:blip r:embed="rId8">
            <a:extLst/>
          </a:blip>
          <a:stretch>
            <a:fillRect/>
          </a:stretch>
        </p:blipFill>
        <p:spPr>
          <a:xfrm>
            <a:off x="8189063" y="837354"/>
            <a:ext cx="718501" cy="451661"/>
          </a:xfrm>
          <a:prstGeom prst="rect">
            <a:avLst/>
          </a:prstGeom>
          <a:ln w="12700">
            <a:miter lim="400000"/>
          </a:ln>
        </p:spPr>
      </p:pic>
      <p:sp>
        <p:nvSpPr>
          <p:cNvPr id="275" name="Title Text"/>
          <p:cNvSpPr txBox="1"/>
          <p:nvPr>
            <p:ph type="title"/>
          </p:nvPr>
        </p:nvSpPr>
        <p:spPr>
          <a:xfrm>
            <a:off x="581974" y="1452974"/>
            <a:ext cx="7980001" cy="1482302"/>
          </a:xfrm>
          <a:prstGeom prst="rect">
            <a:avLst/>
          </a:prstGeom>
        </p:spPr>
        <p:txBody>
          <a:bodyPr anchor="ctr"/>
          <a:lstStyle>
            <a:lvl1pPr algn="ctr">
              <a:defRPr sz="4200">
                <a:solidFill>
                  <a:srgbClr val="FFFFFF"/>
                </a:solidFill>
                <a:latin typeface="IBM Plex Sans SemiBold"/>
                <a:ea typeface="IBM Plex Sans SemiBold"/>
                <a:cs typeface="IBM Plex Sans SemiBold"/>
                <a:sym typeface="IBM Plex Sans SemiBold"/>
              </a:defRPr>
            </a:lvl1pPr>
          </a:lstStyle>
          <a:p>
            <a:pPr/>
            <a:r>
              <a:t>Title Text</a:t>
            </a:r>
          </a:p>
        </p:txBody>
      </p:sp>
      <p:sp>
        <p:nvSpPr>
          <p:cNvPr id="276"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_1_1">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83" name="Google Shape;165;p29" descr="Google Shape;165;p29"/>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284" name="Google Shape;166;p29" descr="Google Shape;166;p29"/>
          <p:cNvPicPr>
            <a:picLocks noChangeAspect="1"/>
          </p:cNvPicPr>
          <p:nvPr/>
        </p:nvPicPr>
        <p:blipFill>
          <a:blip r:embed="rId4">
            <a:extLst/>
          </a:blip>
          <a:stretch>
            <a:fillRect/>
          </a:stretch>
        </p:blipFill>
        <p:spPr>
          <a:xfrm>
            <a:off x="0" y="0"/>
            <a:ext cx="9144004" cy="5147970"/>
          </a:xfrm>
          <a:prstGeom prst="rect">
            <a:avLst/>
          </a:prstGeom>
          <a:ln w="12700">
            <a:miter lim="400000"/>
          </a:ln>
        </p:spPr>
      </p:pic>
      <p:pic>
        <p:nvPicPr>
          <p:cNvPr id="285" name="Google Shape;168;p29" descr="Google Shape;168;p29"/>
          <p:cNvPicPr>
            <a:picLocks noChangeAspect="1"/>
          </p:cNvPicPr>
          <p:nvPr/>
        </p:nvPicPr>
        <p:blipFill>
          <a:blip r:embed="rId5">
            <a:extLst/>
          </a:blip>
          <a:stretch>
            <a:fillRect/>
          </a:stretch>
        </p:blipFill>
        <p:spPr>
          <a:xfrm>
            <a:off x="7364975" y="4210699"/>
            <a:ext cx="758351" cy="648576"/>
          </a:xfrm>
          <a:prstGeom prst="rect">
            <a:avLst/>
          </a:prstGeom>
          <a:ln w="12700">
            <a:miter lim="400000"/>
          </a:ln>
        </p:spPr>
      </p:pic>
      <p:pic>
        <p:nvPicPr>
          <p:cNvPr id="286" name="Google Shape;169;p29" descr="Google Shape;169;p29"/>
          <p:cNvPicPr>
            <a:picLocks noChangeAspect="1"/>
          </p:cNvPicPr>
          <p:nvPr/>
        </p:nvPicPr>
        <p:blipFill>
          <a:blip r:embed="rId6">
            <a:extLst/>
          </a:blip>
          <a:stretch>
            <a:fillRect/>
          </a:stretch>
        </p:blipFill>
        <p:spPr>
          <a:xfrm>
            <a:off x="239073" y="221825"/>
            <a:ext cx="604602" cy="697100"/>
          </a:xfrm>
          <a:prstGeom prst="rect">
            <a:avLst/>
          </a:prstGeom>
          <a:ln w="12700">
            <a:miter lim="400000"/>
          </a:ln>
        </p:spPr>
      </p:pic>
      <p:pic>
        <p:nvPicPr>
          <p:cNvPr id="287" name="Google Shape;170;p29" descr="Google Shape;170;p29"/>
          <p:cNvPicPr>
            <a:picLocks noChangeAspect="1"/>
          </p:cNvPicPr>
          <p:nvPr/>
        </p:nvPicPr>
        <p:blipFill>
          <a:blip r:embed="rId7">
            <a:extLst/>
          </a:blip>
          <a:stretch>
            <a:fillRect/>
          </a:stretch>
        </p:blipFill>
        <p:spPr>
          <a:xfrm>
            <a:off x="8093850" y="3874089"/>
            <a:ext cx="758351" cy="283436"/>
          </a:xfrm>
          <a:prstGeom prst="rect">
            <a:avLst/>
          </a:prstGeom>
          <a:ln w="12700">
            <a:miter lim="400000"/>
          </a:ln>
        </p:spPr>
      </p:pic>
      <p:sp>
        <p:nvSpPr>
          <p:cNvPr id="288"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_2">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95" name="Google Shape;174;p30" descr="Google Shape;174;p30"/>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296" name="Google Shape;175;p30" descr="Google Shape;175;p30"/>
          <p:cNvPicPr>
            <a:picLocks noChangeAspect="1"/>
          </p:cNvPicPr>
          <p:nvPr/>
        </p:nvPicPr>
        <p:blipFill>
          <a:blip r:embed="rId4">
            <a:extLst/>
          </a:blip>
          <a:srcRect l="0" t="0" r="0" b="49262"/>
          <a:stretch>
            <a:fillRect/>
          </a:stretch>
        </p:blipFill>
        <p:spPr>
          <a:xfrm>
            <a:off x="315662" y="4052299"/>
            <a:ext cx="2150700" cy="1091202"/>
          </a:xfrm>
          <a:prstGeom prst="rect">
            <a:avLst/>
          </a:prstGeom>
          <a:ln w="12700">
            <a:miter lim="400000"/>
          </a:ln>
        </p:spPr>
      </p:pic>
      <p:pic>
        <p:nvPicPr>
          <p:cNvPr id="297" name="Google Shape;177;p30" descr="Google Shape;177;p30"/>
          <p:cNvPicPr>
            <a:picLocks noChangeAspect="1"/>
          </p:cNvPicPr>
          <p:nvPr/>
        </p:nvPicPr>
        <p:blipFill>
          <a:blip r:embed="rId5">
            <a:extLst/>
          </a:blip>
          <a:stretch>
            <a:fillRect/>
          </a:stretch>
        </p:blipFill>
        <p:spPr>
          <a:xfrm>
            <a:off x="3599374" y="2639324"/>
            <a:ext cx="2033650" cy="670251"/>
          </a:xfrm>
          <a:prstGeom prst="rect">
            <a:avLst/>
          </a:prstGeom>
          <a:ln w="12700">
            <a:miter lim="400000"/>
          </a:ln>
        </p:spPr>
      </p:pic>
      <p:pic>
        <p:nvPicPr>
          <p:cNvPr id="298" name="Google Shape;178;p30" descr="Google Shape;178;p30"/>
          <p:cNvPicPr>
            <a:picLocks noChangeAspect="1"/>
          </p:cNvPicPr>
          <p:nvPr/>
        </p:nvPicPr>
        <p:blipFill>
          <a:blip r:embed="rId6">
            <a:extLst/>
          </a:blip>
          <a:stretch>
            <a:fillRect/>
          </a:stretch>
        </p:blipFill>
        <p:spPr>
          <a:xfrm>
            <a:off x="7709499" y="63108"/>
            <a:ext cx="1229078" cy="749718"/>
          </a:xfrm>
          <a:prstGeom prst="rect">
            <a:avLst/>
          </a:prstGeom>
          <a:ln w="12700">
            <a:miter lim="400000"/>
          </a:ln>
        </p:spPr>
      </p:pic>
      <p:sp>
        <p:nvSpPr>
          <p:cNvPr id="299" name="Google Shape;180;p30"/>
          <p:cNvSpPr txBox="1"/>
          <p:nvPr/>
        </p:nvSpPr>
        <p:spPr>
          <a:xfrm>
            <a:off x="3635750" y="2658849"/>
            <a:ext cx="1884300" cy="627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2900">
                <a:solidFill>
                  <a:srgbClr val="0E1E30"/>
                </a:solidFill>
                <a:latin typeface="IBM Plex Sans"/>
                <a:ea typeface="IBM Plex Sans"/>
                <a:cs typeface="IBM Plex Sans"/>
                <a:sym typeface="IBM Plex Sans"/>
              </a:defRPr>
            </a:lvl1pPr>
          </a:lstStyle>
          <a:p>
            <a:pPr/>
            <a:r>
              <a:t>Thanks!</a:t>
            </a:r>
          </a:p>
        </p:txBody>
      </p:sp>
      <p:pic>
        <p:nvPicPr>
          <p:cNvPr id="300" name="Google Shape;182;p30" descr="Google Shape;182;p30"/>
          <p:cNvPicPr>
            <a:picLocks noChangeAspect="1"/>
          </p:cNvPicPr>
          <p:nvPr/>
        </p:nvPicPr>
        <p:blipFill>
          <a:blip r:embed="rId7">
            <a:extLst/>
          </a:blip>
          <a:stretch>
            <a:fillRect/>
          </a:stretch>
        </p:blipFill>
        <p:spPr>
          <a:xfrm>
            <a:off x="957034" y="262700"/>
            <a:ext cx="544964" cy="550113"/>
          </a:xfrm>
          <a:prstGeom prst="rect">
            <a:avLst/>
          </a:prstGeom>
          <a:ln w="12700">
            <a:miter lim="400000"/>
          </a:ln>
        </p:spPr>
      </p:pic>
      <p:pic>
        <p:nvPicPr>
          <p:cNvPr id="301" name="Google Shape;183;p30" descr="Google Shape;183;p30"/>
          <p:cNvPicPr>
            <a:picLocks noChangeAspect="1"/>
          </p:cNvPicPr>
          <p:nvPr/>
        </p:nvPicPr>
        <p:blipFill>
          <a:blip r:embed="rId8">
            <a:extLst/>
          </a:blip>
          <a:stretch>
            <a:fillRect/>
          </a:stretch>
        </p:blipFill>
        <p:spPr>
          <a:xfrm>
            <a:off x="224850" y="954655"/>
            <a:ext cx="544962" cy="516119"/>
          </a:xfrm>
          <a:prstGeom prst="rect">
            <a:avLst/>
          </a:prstGeom>
          <a:ln w="12700">
            <a:miter lim="400000"/>
          </a:ln>
        </p:spPr>
      </p:pic>
      <p:pic>
        <p:nvPicPr>
          <p:cNvPr id="302" name="Google Shape;184;p30" descr="Google Shape;184;p30"/>
          <p:cNvPicPr>
            <a:picLocks noChangeAspect="1"/>
          </p:cNvPicPr>
          <p:nvPr/>
        </p:nvPicPr>
        <p:blipFill>
          <a:blip r:embed="rId9">
            <a:extLst/>
          </a:blip>
          <a:stretch>
            <a:fillRect/>
          </a:stretch>
        </p:blipFill>
        <p:spPr>
          <a:xfrm>
            <a:off x="2324399" y="702074"/>
            <a:ext cx="4495201" cy="1031626"/>
          </a:xfrm>
          <a:prstGeom prst="rect">
            <a:avLst/>
          </a:prstGeom>
          <a:ln w="12700">
            <a:miter lim="400000"/>
          </a:ln>
        </p:spPr>
      </p:pic>
      <p:pic>
        <p:nvPicPr>
          <p:cNvPr id="303" name="Google Shape;185;p30" descr="Google Shape;185;p30"/>
          <p:cNvPicPr>
            <a:picLocks noChangeAspect="1"/>
          </p:cNvPicPr>
          <p:nvPr/>
        </p:nvPicPr>
        <p:blipFill>
          <a:blip r:embed="rId10">
            <a:extLst/>
          </a:blip>
          <a:stretch>
            <a:fillRect/>
          </a:stretch>
        </p:blipFill>
        <p:spPr>
          <a:xfrm>
            <a:off x="2782062" y="1919361"/>
            <a:ext cx="3579874" cy="335612"/>
          </a:xfrm>
          <a:prstGeom prst="rect">
            <a:avLst/>
          </a:prstGeom>
          <a:ln w="12700">
            <a:miter lim="400000"/>
          </a:ln>
        </p:spPr>
      </p:pic>
      <p:pic>
        <p:nvPicPr>
          <p:cNvPr id="304" name="Google Shape;186;p30" descr="Google Shape;186;p30"/>
          <p:cNvPicPr>
            <a:picLocks noChangeAspect="1"/>
          </p:cNvPicPr>
          <p:nvPr/>
        </p:nvPicPr>
        <p:blipFill>
          <a:blip r:embed="rId11">
            <a:extLst/>
          </a:blip>
          <a:stretch>
            <a:fillRect/>
          </a:stretch>
        </p:blipFill>
        <p:spPr>
          <a:xfrm>
            <a:off x="5899" y="-2238"/>
            <a:ext cx="9144005" cy="5147971"/>
          </a:xfrm>
          <a:prstGeom prst="rect">
            <a:avLst/>
          </a:prstGeom>
          <a:ln w="12700">
            <a:miter lim="400000"/>
          </a:ln>
        </p:spPr>
      </p:pic>
      <p:sp>
        <p:nvSpPr>
          <p:cNvPr id="305"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_2_1">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312" name="Google Shape;188;p31" descr="Google Shape;188;p31"/>
          <p:cNvPicPr>
            <a:picLocks noChangeAspect="1"/>
          </p:cNvPicPr>
          <p:nvPr/>
        </p:nvPicPr>
        <p:blipFill>
          <a:blip r:embed="rId3">
            <a:extLst/>
          </a:blip>
          <a:stretch>
            <a:fillRect/>
          </a:stretch>
        </p:blipFill>
        <p:spPr>
          <a:xfrm>
            <a:off x="40075" y="3001449"/>
            <a:ext cx="9063850" cy="2142051"/>
          </a:xfrm>
          <a:prstGeom prst="rect">
            <a:avLst/>
          </a:prstGeom>
          <a:ln w="12700">
            <a:miter lim="400000"/>
          </a:ln>
        </p:spPr>
      </p:pic>
      <p:pic>
        <p:nvPicPr>
          <p:cNvPr id="313" name="Google Shape;189;p31" descr="Google Shape;189;p31"/>
          <p:cNvPicPr>
            <a:picLocks noChangeAspect="1"/>
          </p:cNvPicPr>
          <p:nvPr/>
        </p:nvPicPr>
        <p:blipFill>
          <a:blip r:embed="rId4">
            <a:extLst/>
          </a:blip>
          <a:stretch>
            <a:fillRect/>
          </a:stretch>
        </p:blipFill>
        <p:spPr>
          <a:xfrm>
            <a:off x="0" y="0"/>
            <a:ext cx="9144004" cy="5147970"/>
          </a:xfrm>
          <a:prstGeom prst="rect">
            <a:avLst/>
          </a:prstGeom>
          <a:ln w="12700">
            <a:miter lim="400000"/>
          </a:ln>
        </p:spPr>
      </p:pic>
      <p:pic>
        <p:nvPicPr>
          <p:cNvPr id="314" name="Google Shape;192;p31" descr="Google Shape;192;p31"/>
          <p:cNvPicPr>
            <a:picLocks noChangeAspect="1"/>
          </p:cNvPicPr>
          <p:nvPr/>
        </p:nvPicPr>
        <p:blipFill>
          <a:blip r:embed="rId5">
            <a:extLst/>
          </a:blip>
          <a:stretch>
            <a:fillRect/>
          </a:stretch>
        </p:blipFill>
        <p:spPr>
          <a:xfrm>
            <a:off x="1865274" y="2628275"/>
            <a:ext cx="5413449" cy="882851"/>
          </a:xfrm>
          <a:prstGeom prst="rect">
            <a:avLst/>
          </a:prstGeom>
          <a:ln w="12700">
            <a:miter lim="400000"/>
          </a:ln>
        </p:spPr>
      </p:pic>
      <p:sp>
        <p:nvSpPr>
          <p:cNvPr id="315" name="Google Shape;194;p31"/>
          <p:cNvSpPr txBox="1"/>
          <p:nvPr/>
        </p:nvSpPr>
        <p:spPr>
          <a:xfrm>
            <a:off x="1705349" y="2756674"/>
            <a:ext cx="5733302" cy="627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2900">
                <a:solidFill>
                  <a:srgbClr val="0E1E30"/>
                </a:solidFill>
                <a:latin typeface="IBM Plex Sans"/>
                <a:ea typeface="IBM Plex Sans"/>
                <a:cs typeface="IBM Plex Sans"/>
                <a:sym typeface="IBM Plex Sans"/>
              </a:defRPr>
            </a:lvl1pPr>
          </a:lstStyle>
          <a:p>
            <a:pPr/>
            <a:r>
              <a:t>Don't forget to rate the talk!</a:t>
            </a:r>
          </a:p>
        </p:txBody>
      </p:sp>
      <p:pic>
        <p:nvPicPr>
          <p:cNvPr id="316" name="Google Shape;195;p31" descr="Google Shape;195;p31"/>
          <p:cNvPicPr>
            <a:picLocks noChangeAspect="1"/>
          </p:cNvPicPr>
          <p:nvPr/>
        </p:nvPicPr>
        <p:blipFill>
          <a:blip r:embed="rId6">
            <a:extLst/>
          </a:blip>
          <a:stretch>
            <a:fillRect/>
          </a:stretch>
        </p:blipFill>
        <p:spPr>
          <a:xfrm>
            <a:off x="356049" y="3537725"/>
            <a:ext cx="1437748" cy="1249628"/>
          </a:xfrm>
          <a:prstGeom prst="rect">
            <a:avLst/>
          </a:prstGeom>
          <a:ln w="12700">
            <a:miter lim="400000"/>
          </a:ln>
        </p:spPr>
      </p:pic>
      <p:pic>
        <p:nvPicPr>
          <p:cNvPr id="317" name="Google Shape;196;p31" descr="Google Shape;196;p31"/>
          <p:cNvPicPr>
            <a:picLocks noChangeAspect="1"/>
          </p:cNvPicPr>
          <p:nvPr/>
        </p:nvPicPr>
        <p:blipFill>
          <a:blip r:embed="rId7">
            <a:extLst/>
          </a:blip>
          <a:stretch>
            <a:fillRect/>
          </a:stretch>
        </p:blipFill>
        <p:spPr>
          <a:xfrm>
            <a:off x="8330185" y="535374"/>
            <a:ext cx="544964" cy="550114"/>
          </a:xfrm>
          <a:prstGeom prst="rect">
            <a:avLst/>
          </a:prstGeom>
          <a:ln w="12700">
            <a:miter lim="400000"/>
          </a:ln>
        </p:spPr>
      </p:pic>
      <p:pic>
        <p:nvPicPr>
          <p:cNvPr id="318" name="Google Shape;197;p31" descr="Google Shape;197;p31"/>
          <p:cNvPicPr>
            <a:picLocks noChangeAspect="1"/>
          </p:cNvPicPr>
          <p:nvPr/>
        </p:nvPicPr>
        <p:blipFill>
          <a:blip r:embed="rId8">
            <a:extLst/>
          </a:blip>
          <a:stretch>
            <a:fillRect/>
          </a:stretch>
        </p:blipFill>
        <p:spPr>
          <a:xfrm>
            <a:off x="301550" y="1357131"/>
            <a:ext cx="544962" cy="516119"/>
          </a:xfrm>
          <a:prstGeom prst="rect">
            <a:avLst/>
          </a:prstGeom>
          <a:ln w="12700">
            <a:miter lim="400000"/>
          </a:ln>
        </p:spPr>
      </p:pic>
      <p:pic>
        <p:nvPicPr>
          <p:cNvPr id="319" name="Google Shape;198;p31" descr="Google Shape;198;p31"/>
          <p:cNvPicPr>
            <a:picLocks noChangeAspect="1"/>
          </p:cNvPicPr>
          <p:nvPr/>
        </p:nvPicPr>
        <p:blipFill>
          <a:blip r:embed="rId9">
            <a:extLst/>
          </a:blip>
          <a:stretch>
            <a:fillRect/>
          </a:stretch>
        </p:blipFill>
        <p:spPr>
          <a:xfrm>
            <a:off x="2324399" y="702074"/>
            <a:ext cx="4495201" cy="1031626"/>
          </a:xfrm>
          <a:prstGeom prst="rect">
            <a:avLst/>
          </a:prstGeom>
          <a:ln w="12700">
            <a:miter lim="400000"/>
          </a:ln>
        </p:spPr>
      </p:pic>
      <p:pic>
        <p:nvPicPr>
          <p:cNvPr id="320" name="Google Shape;199;p31" descr="Google Shape;199;p31"/>
          <p:cNvPicPr>
            <a:picLocks noChangeAspect="1"/>
          </p:cNvPicPr>
          <p:nvPr/>
        </p:nvPicPr>
        <p:blipFill>
          <a:blip r:embed="rId10">
            <a:extLst/>
          </a:blip>
          <a:stretch>
            <a:fillRect/>
          </a:stretch>
        </p:blipFill>
        <p:spPr>
          <a:xfrm>
            <a:off x="2782062" y="1919361"/>
            <a:ext cx="3579874" cy="335612"/>
          </a:xfrm>
          <a:prstGeom prst="rect">
            <a:avLst/>
          </a:prstGeom>
          <a:ln w="12700">
            <a:miter lim="400000"/>
          </a:ln>
        </p:spPr>
      </p:pic>
      <p:sp>
        <p:nvSpPr>
          <p:cNvPr id="321"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1">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28" name="Title Text"/>
          <p:cNvSpPr txBox="1"/>
          <p:nvPr>
            <p:ph type="title"/>
          </p:nvPr>
        </p:nvSpPr>
        <p:spPr>
          <a:xfrm>
            <a:off x="311708" y="744574"/>
            <a:ext cx="8520601" cy="2052601"/>
          </a:xfrm>
          <a:prstGeom prst="rect">
            <a:avLst/>
          </a:prstGeom>
        </p:spPr>
        <p:txBody>
          <a:bodyPr anchor="b"/>
          <a:lstStyle>
            <a:lvl1pPr algn="ctr">
              <a:defRPr sz="5200">
                <a:solidFill>
                  <a:srgbClr val="0E1E30"/>
                </a:solidFill>
                <a:latin typeface="IBM Plex Sans SemiBold"/>
                <a:ea typeface="IBM Plex Sans SemiBold"/>
                <a:cs typeface="IBM Plex Sans SemiBold"/>
                <a:sym typeface="IBM Plex Sans SemiBold"/>
              </a:defRPr>
            </a:lvl1pPr>
          </a:lstStyle>
          <a:p>
            <a:pPr/>
            <a:r>
              <a:t>Title Text</a:t>
            </a:r>
          </a:p>
        </p:txBody>
      </p:sp>
      <p:sp>
        <p:nvSpPr>
          <p:cNvPr id="329" name="Body Level One…"/>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solidFill>
                  <a:srgbClr val="0E1E30"/>
                </a:solidFill>
                <a:latin typeface="IBM Plex Sans SemiBold"/>
                <a:ea typeface="IBM Plex Sans SemiBold"/>
                <a:cs typeface="IBM Plex Sans SemiBold"/>
                <a:sym typeface="IBM Plex Sans SemiBold"/>
              </a:defRPr>
            </a:lvl1pPr>
            <a:lvl2pPr marL="342900" indent="254000" algn="ctr">
              <a:lnSpc>
                <a:spcPct val="100000"/>
              </a:lnSpc>
              <a:buClrTx/>
              <a:buSzTx/>
              <a:buFontTx/>
              <a:buNone/>
              <a:defRPr sz="2800">
                <a:solidFill>
                  <a:srgbClr val="0E1E30"/>
                </a:solidFill>
                <a:latin typeface="IBM Plex Sans SemiBold"/>
                <a:ea typeface="IBM Plex Sans SemiBold"/>
                <a:cs typeface="IBM Plex Sans SemiBold"/>
                <a:sym typeface="IBM Plex Sans SemiBold"/>
              </a:defRPr>
            </a:lvl2pPr>
            <a:lvl3pPr marL="342900" indent="711200" algn="ctr">
              <a:lnSpc>
                <a:spcPct val="100000"/>
              </a:lnSpc>
              <a:buClrTx/>
              <a:buSzTx/>
              <a:buFontTx/>
              <a:buNone/>
              <a:defRPr sz="2800">
                <a:solidFill>
                  <a:srgbClr val="0E1E30"/>
                </a:solidFill>
                <a:latin typeface="IBM Plex Sans SemiBold"/>
                <a:ea typeface="IBM Plex Sans SemiBold"/>
                <a:cs typeface="IBM Plex Sans SemiBold"/>
                <a:sym typeface="IBM Plex Sans SemiBold"/>
              </a:defRPr>
            </a:lvl3pPr>
            <a:lvl4pPr marL="342900" indent="1168400" algn="ctr">
              <a:lnSpc>
                <a:spcPct val="100000"/>
              </a:lnSpc>
              <a:buClrTx/>
              <a:buSzTx/>
              <a:buFontTx/>
              <a:buNone/>
              <a:defRPr sz="2800">
                <a:solidFill>
                  <a:srgbClr val="0E1E30"/>
                </a:solidFill>
                <a:latin typeface="IBM Plex Sans SemiBold"/>
                <a:ea typeface="IBM Plex Sans SemiBold"/>
                <a:cs typeface="IBM Plex Sans SemiBold"/>
                <a:sym typeface="IBM Plex Sans SemiBold"/>
              </a:defRPr>
            </a:lvl4pPr>
            <a:lvl5pPr marL="342900" indent="1625600" algn="ctr">
              <a:lnSpc>
                <a:spcPct val="100000"/>
              </a:lnSpc>
              <a:buClrTx/>
              <a:buSzTx/>
              <a:buFontTx/>
              <a:buNone/>
              <a:defRPr sz="2800">
                <a:solidFill>
                  <a:srgbClr val="0E1E30"/>
                </a:solidFill>
                <a:latin typeface="IBM Plex Sans SemiBold"/>
                <a:ea typeface="IBM Plex Sans SemiBold"/>
                <a:cs typeface="IBM Plex Sans SemiBold"/>
                <a:sym typeface="IBM Plex Sans SemiBold"/>
              </a:defRPr>
            </a:lvl5pPr>
          </a:lstStyle>
          <a:p>
            <a:pPr/>
            <a:r>
              <a:t>Body Level One</a:t>
            </a:r>
          </a:p>
          <a:p>
            <a:pPr lvl="1"/>
            <a:r>
              <a:t>Body Level Two</a:t>
            </a:r>
          </a:p>
          <a:p>
            <a:pPr lvl="2"/>
            <a:r>
              <a:t>Body Level Three</a:t>
            </a:r>
          </a:p>
          <a:p>
            <a:pPr lvl="3"/>
            <a:r>
              <a:t>Body Level Four</a:t>
            </a:r>
          </a:p>
          <a:p>
            <a:pPr lvl="4"/>
            <a:r>
              <a:t>Body Level Five</a:t>
            </a:r>
          </a:p>
        </p:txBody>
      </p:sp>
      <p:pic>
        <p:nvPicPr>
          <p:cNvPr id="330" name="Google Shape;204;p32" descr="Google Shape;204;p32"/>
          <p:cNvPicPr>
            <a:picLocks noChangeAspect="1"/>
          </p:cNvPicPr>
          <p:nvPr/>
        </p:nvPicPr>
        <p:blipFill>
          <a:blip r:embed="rId3">
            <a:extLst/>
          </a:blip>
          <a:stretch>
            <a:fillRect/>
          </a:stretch>
        </p:blipFill>
        <p:spPr>
          <a:xfrm>
            <a:off x="7653552" y="285480"/>
            <a:ext cx="1229953" cy="282276"/>
          </a:xfrm>
          <a:prstGeom prst="rect">
            <a:avLst/>
          </a:prstGeom>
          <a:ln w="12700">
            <a:miter lim="400000"/>
          </a:ln>
        </p:spPr>
      </p:pic>
      <p:sp>
        <p:nvSpPr>
          <p:cNvPr id="331" name="Slide Number"/>
          <p:cNvSpPr txBox="1"/>
          <p:nvPr>
            <p:ph type="sldNum" sz="quarter" idx="2"/>
          </p:nvPr>
        </p:nvSpPr>
        <p:spPr>
          <a:prstGeom prst="rect">
            <a:avLst/>
          </a:prstGeom>
        </p:spPr>
        <p:txBody>
          <a:bodyPr/>
          <a:lstStyle>
            <a:lvl1pPr>
              <a:defRPr>
                <a:solidFill>
                  <a:srgbClr val="0E1E3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Title Text</a:t>
            </a:r>
          </a:p>
        </p:txBody>
      </p:sp>
      <p:sp>
        <p:nvSpPr>
          <p:cNvPr id="3" name="Body Level One…"/>
          <p:cNvSpPr txBox="1"/>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684345" y="4700819"/>
            <a:ext cx="336813" cy="318396"/>
          </a:xfrm>
          <a:prstGeom prst="rect">
            <a:avLst/>
          </a:prstGeom>
          <a:ln w="12700">
            <a:miter lim="400000"/>
          </a:ln>
        </p:spPr>
        <p:txBody>
          <a:bodyPr wrap="none" lIns="91424" tIns="91424" rIns="91424" bIns="91424" anchor="ctr">
            <a:normAutofit fontScale="100000" lnSpcReduction="0"/>
          </a:bodyPr>
          <a:lstStyle>
            <a:lvl1pPr algn="r">
              <a:defRPr sz="1000">
                <a:solidFill>
                  <a:schemeClr val="accent2">
                    <a:lumOff val="21764"/>
                  </a:schemeClr>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5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hyperlink" Target="https://enzolombardi.net" TargetMode="External"/><Relationship Id="rId4" Type="http://schemas.openxmlformats.org/officeDocument/2006/relationships/hyperlink" Target="https://www.linkedin.com/in/enzo-lombardi-ab8a19/" TargetMode="External"/></Relationships>

</file>

<file path=ppt/slides/_rels/slide61.xml.rels><?xml version="1.0" encoding="UTF-8"?>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341" name="Google Shape;214;p3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 / 57</a:t>
            </a:r>
          </a:p>
        </p:txBody>
      </p:sp>
      <p:sp>
        <p:nvSpPr>
          <p:cNvPr id="342" name="Google Shape;215;p3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343" name="Google Shape;216;p34"/>
          <p:cNvSpPr/>
          <p:nvPr/>
        </p:nvSpPr>
        <p:spPr>
          <a:xfrm>
            <a:off x="457200" y="4983479"/>
            <a:ext cx="144380" cy="36577"/>
          </a:xfrm>
          <a:prstGeom prst="rect">
            <a:avLst/>
          </a:prstGeom>
          <a:solidFill>
            <a:srgbClr val="F97316"/>
          </a:solidFill>
          <a:ln w="12700">
            <a:miter lim="400000"/>
          </a:ln>
        </p:spPr>
        <p:txBody>
          <a:bodyPr lIns="0" tIns="0" rIns="0" bIns="0" anchor="ctr"/>
          <a:lstStyle/>
          <a:p>
            <a:pPr/>
          </a:p>
        </p:txBody>
      </p:sp>
      <p:sp>
        <p:nvSpPr>
          <p:cNvPr id="344" name="Google Shape;217;p34"/>
          <p:cNvSpPr/>
          <p:nvPr/>
        </p:nvSpPr>
        <p:spPr>
          <a:xfrm>
            <a:off x="0" y="0"/>
            <a:ext cx="9144000" cy="5143500"/>
          </a:xfrm>
          <a:prstGeom prst="rect">
            <a:avLst/>
          </a:prstGeom>
          <a:solidFill>
            <a:srgbClr val="0F1117"/>
          </a:solidFill>
          <a:ln w="12700">
            <a:miter lim="400000"/>
          </a:ln>
        </p:spPr>
        <p:txBody>
          <a:bodyPr lIns="0" tIns="0" rIns="0" bIns="0" anchor="ctr"/>
          <a:lstStyle/>
          <a:p>
            <a:pPr/>
          </a:p>
        </p:txBody>
      </p:sp>
      <p:sp>
        <p:nvSpPr>
          <p:cNvPr id="345" name="Google Shape;218;p34"/>
          <p:cNvSpPr/>
          <p:nvPr/>
        </p:nvSpPr>
        <p:spPr>
          <a:xfrm>
            <a:off x="365759" y="1097280"/>
            <a:ext cx="73153" cy="2286001"/>
          </a:xfrm>
          <a:prstGeom prst="rect">
            <a:avLst/>
          </a:prstGeom>
          <a:solidFill>
            <a:srgbClr val="F97316"/>
          </a:solidFill>
          <a:ln w="12700">
            <a:miter lim="400000"/>
          </a:ln>
        </p:spPr>
        <p:txBody>
          <a:bodyPr lIns="0" tIns="0" rIns="0" bIns="0" anchor="ctr"/>
          <a:lstStyle/>
          <a:p>
            <a:pPr/>
          </a:p>
        </p:txBody>
      </p:sp>
      <p:sp>
        <p:nvSpPr>
          <p:cNvPr id="346" name="Google Shape;219;p34"/>
          <p:cNvSpPr txBox="1"/>
          <p:nvPr/>
        </p:nvSpPr>
        <p:spPr>
          <a:xfrm>
            <a:off x="731519" y="1323975"/>
            <a:ext cx="7315201" cy="14668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800">
                <a:solidFill>
                  <a:srgbClr val="F97316"/>
                </a:solidFill>
                <a:latin typeface="Georgia"/>
                <a:ea typeface="Georgia"/>
                <a:cs typeface="Georgia"/>
                <a:sym typeface="Georgia"/>
              </a:defRPr>
            </a:pPr>
            <a:r>
              <a:t>Le crepe del</a:t>
            </a:r>
            <a:endParaRPr b="0">
              <a:latin typeface="Calibri Light"/>
              <a:ea typeface="Calibri Light"/>
              <a:cs typeface="Calibri Light"/>
              <a:sym typeface="Calibri Light"/>
            </a:endParaRPr>
          </a:p>
          <a:p>
            <a:pPr>
              <a:lnSpc>
                <a:spcPct val="110000"/>
              </a:lnSpc>
              <a:defRPr b="1" sz="4800">
                <a:solidFill>
                  <a:srgbClr val="F97316"/>
                </a:solidFill>
                <a:latin typeface="Georgia"/>
                <a:ea typeface="Georgia"/>
                <a:cs typeface="Georgia"/>
                <a:sym typeface="Georgia"/>
              </a:defRPr>
            </a:pPr>
            <a:r>
              <a:t>paradigma perfetto</a:t>
            </a:r>
          </a:p>
        </p:txBody>
      </p:sp>
      <p:sp>
        <p:nvSpPr>
          <p:cNvPr id="347" name="Google Shape;220;p34"/>
          <p:cNvSpPr/>
          <p:nvPr/>
        </p:nvSpPr>
        <p:spPr>
          <a:xfrm>
            <a:off x="731519" y="3291840"/>
            <a:ext cx="1828801" cy="36577"/>
          </a:xfrm>
          <a:prstGeom prst="rect">
            <a:avLst/>
          </a:prstGeom>
          <a:solidFill>
            <a:srgbClr val="F97316"/>
          </a:solidFill>
          <a:ln w="12700">
            <a:miter lim="400000"/>
          </a:ln>
        </p:spPr>
        <p:txBody>
          <a:bodyPr lIns="0" tIns="0" rIns="0" bIns="0" anchor="ctr"/>
          <a:lstStyle/>
          <a:p>
            <a:pPr/>
          </a:p>
        </p:txBody>
      </p:sp>
      <p:sp>
        <p:nvSpPr>
          <p:cNvPr id="348" name="Google Shape;221;p34"/>
          <p:cNvSpPr txBox="1"/>
          <p:nvPr/>
        </p:nvSpPr>
        <p:spPr>
          <a:xfrm>
            <a:off x="777244" y="3536796"/>
            <a:ext cx="7223751" cy="3330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800">
                <a:solidFill>
                  <a:srgbClr val="9CA3AF"/>
                </a:solidFill>
                <a:latin typeface="Calibri Light"/>
                <a:ea typeface="Calibri Light"/>
                <a:cs typeface="Calibri Light"/>
                <a:sym typeface="Calibri Light"/>
              </a:defRPr>
            </a:lvl1pPr>
          </a:lstStyle>
          <a:p>
            <a:pPr/>
            <a:r>
              <a:t>OOP — promesse, limiti, e cosa viene dopo</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352" name="Google Shape;227;p35"/>
          <p:cNvSpPr txBox="1"/>
          <p:nvPr/>
        </p:nvSpPr>
        <p:spPr>
          <a:xfrm>
            <a:off x="7818125" y="4776430"/>
            <a:ext cx="100595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 / 57</a:t>
            </a:r>
          </a:p>
        </p:txBody>
      </p:sp>
      <p:sp>
        <p:nvSpPr>
          <p:cNvPr id="353" name="Google Shape;228;p35"/>
          <p:cNvSpPr/>
          <p:nvPr/>
        </p:nvSpPr>
        <p:spPr>
          <a:xfrm>
            <a:off x="457200" y="4983479"/>
            <a:ext cx="8229600" cy="36601"/>
          </a:xfrm>
          <a:prstGeom prst="rect">
            <a:avLst/>
          </a:prstGeom>
          <a:solidFill>
            <a:srgbClr val="374151"/>
          </a:solidFill>
          <a:ln w="12700">
            <a:miter lim="400000"/>
          </a:ln>
        </p:spPr>
        <p:txBody>
          <a:bodyPr lIns="0" tIns="0" rIns="0" bIns="0" anchor="ctr"/>
          <a:lstStyle/>
          <a:p>
            <a:pPr/>
          </a:p>
        </p:txBody>
      </p:sp>
      <p:sp>
        <p:nvSpPr>
          <p:cNvPr id="354" name="Google Shape;229;p35"/>
          <p:cNvSpPr/>
          <p:nvPr/>
        </p:nvSpPr>
        <p:spPr>
          <a:xfrm>
            <a:off x="457200" y="4983479"/>
            <a:ext cx="144300" cy="36601"/>
          </a:xfrm>
          <a:prstGeom prst="rect">
            <a:avLst/>
          </a:prstGeom>
          <a:solidFill>
            <a:srgbClr val="F97316"/>
          </a:solidFill>
          <a:ln w="12700">
            <a:miter lim="400000"/>
          </a:ln>
        </p:spPr>
        <p:txBody>
          <a:bodyPr lIns="0" tIns="0" rIns="0" bIns="0" anchor="ctr"/>
          <a:lstStyle/>
          <a:p>
            <a:pPr/>
          </a:p>
        </p:txBody>
      </p:sp>
      <p:sp>
        <p:nvSpPr>
          <p:cNvPr id="355" name="Google Shape;230;p35"/>
          <p:cNvSpPr/>
          <p:nvPr/>
        </p:nvSpPr>
        <p:spPr>
          <a:xfrm>
            <a:off x="0" y="0"/>
            <a:ext cx="9144000" cy="5143500"/>
          </a:xfrm>
          <a:prstGeom prst="rect">
            <a:avLst/>
          </a:prstGeom>
          <a:solidFill>
            <a:srgbClr val="0F1117"/>
          </a:solidFill>
          <a:ln w="12700">
            <a:miter lim="400000"/>
          </a:ln>
        </p:spPr>
        <p:txBody>
          <a:bodyPr lIns="0" tIns="0" rIns="0" bIns="0" anchor="ctr"/>
          <a:lstStyle/>
          <a:p>
            <a:pPr/>
          </a:p>
        </p:txBody>
      </p:sp>
      <p:sp>
        <p:nvSpPr>
          <p:cNvPr id="356" name="Google Shape;231;p35"/>
          <p:cNvSpPr/>
          <p:nvPr/>
        </p:nvSpPr>
        <p:spPr>
          <a:xfrm>
            <a:off x="3814484" y="751554"/>
            <a:ext cx="73201" cy="2286001"/>
          </a:xfrm>
          <a:prstGeom prst="rect">
            <a:avLst/>
          </a:prstGeom>
          <a:solidFill>
            <a:srgbClr val="F97316"/>
          </a:solidFill>
          <a:ln w="12700">
            <a:miter lim="400000"/>
          </a:ln>
        </p:spPr>
        <p:txBody>
          <a:bodyPr lIns="0" tIns="0" rIns="0" bIns="0" anchor="ctr"/>
          <a:lstStyle/>
          <a:p>
            <a:pPr/>
          </a:p>
        </p:txBody>
      </p:sp>
      <p:sp>
        <p:nvSpPr>
          <p:cNvPr id="357" name="Google Shape;232;p35"/>
          <p:cNvSpPr txBox="1"/>
          <p:nvPr/>
        </p:nvSpPr>
        <p:spPr>
          <a:xfrm>
            <a:off x="4107574" y="684125"/>
            <a:ext cx="4058701" cy="14668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800">
                <a:solidFill>
                  <a:srgbClr val="F97316"/>
                </a:solidFill>
                <a:latin typeface="Georgia"/>
                <a:ea typeface="Georgia"/>
                <a:cs typeface="Georgia"/>
                <a:sym typeface="Georgia"/>
              </a:defRPr>
            </a:pPr>
            <a:r>
              <a:t>Tony Hoare</a:t>
            </a:r>
            <a:br/>
          </a:p>
        </p:txBody>
      </p:sp>
      <p:sp>
        <p:nvSpPr>
          <p:cNvPr id="358" name="Google Shape;233;p35"/>
          <p:cNvSpPr/>
          <p:nvPr/>
        </p:nvSpPr>
        <p:spPr>
          <a:xfrm>
            <a:off x="731519" y="3291840"/>
            <a:ext cx="1828801" cy="36601"/>
          </a:xfrm>
          <a:prstGeom prst="rect">
            <a:avLst/>
          </a:prstGeom>
          <a:solidFill>
            <a:srgbClr val="F97316"/>
          </a:solidFill>
          <a:ln w="12700">
            <a:miter lim="400000"/>
          </a:ln>
        </p:spPr>
        <p:txBody>
          <a:bodyPr lIns="0" tIns="0" rIns="0" bIns="0" anchor="ctr"/>
          <a:lstStyle/>
          <a:p>
            <a:pPr/>
          </a:p>
        </p:txBody>
      </p:sp>
      <p:sp>
        <p:nvSpPr>
          <p:cNvPr id="359" name="Google Shape;234;p35"/>
          <p:cNvSpPr txBox="1"/>
          <p:nvPr/>
        </p:nvSpPr>
        <p:spPr>
          <a:xfrm>
            <a:off x="4112772" y="1537076"/>
            <a:ext cx="3821752" cy="3330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800">
                <a:solidFill>
                  <a:srgbClr val="9CA3AF"/>
                </a:solidFill>
                <a:latin typeface="Calibri Light"/>
                <a:ea typeface="Calibri Light"/>
                <a:cs typeface="Calibri Light"/>
                <a:sym typeface="Calibri Light"/>
              </a:defRPr>
            </a:lvl1pPr>
          </a:lstStyle>
          <a:p>
            <a:pPr/>
            <a:r>
              <a:t>11 Gennaio 1936, 5 Marzo 2026</a:t>
            </a:r>
          </a:p>
        </p:txBody>
      </p:sp>
      <p:pic>
        <p:nvPicPr>
          <p:cNvPr id="360" name="Google Shape;235;p35" descr="Google Shape;235;p35"/>
          <p:cNvPicPr>
            <a:picLocks noChangeAspect="1"/>
          </p:cNvPicPr>
          <p:nvPr/>
        </p:nvPicPr>
        <p:blipFill>
          <a:blip r:embed="rId2">
            <a:extLst/>
          </a:blip>
          <a:stretch>
            <a:fillRect/>
          </a:stretch>
        </p:blipFill>
        <p:spPr>
          <a:xfrm>
            <a:off x="554676" y="381350"/>
            <a:ext cx="3039901" cy="4101776"/>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362" name="Google Shape;241;p3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363" name="Google Shape;242;p3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0</a:t>
            </a:r>
          </a:p>
        </p:txBody>
      </p:sp>
      <p:sp>
        <p:nvSpPr>
          <p:cNvPr id="364" name="Google Shape;243;p3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 / 57</a:t>
            </a:r>
          </a:p>
        </p:txBody>
      </p:sp>
      <p:sp>
        <p:nvSpPr>
          <p:cNvPr id="365" name="Google Shape;244;p3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366" name="Google Shape;245;p36"/>
          <p:cNvSpPr/>
          <p:nvPr/>
        </p:nvSpPr>
        <p:spPr>
          <a:xfrm>
            <a:off x="457200" y="4983479"/>
            <a:ext cx="288759" cy="36577"/>
          </a:xfrm>
          <a:prstGeom prst="rect">
            <a:avLst/>
          </a:prstGeom>
          <a:solidFill>
            <a:srgbClr val="F97316"/>
          </a:solidFill>
          <a:ln w="12700">
            <a:miter lim="400000"/>
          </a:ln>
        </p:spPr>
        <p:txBody>
          <a:bodyPr lIns="0" tIns="0" rIns="0" bIns="0" anchor="ctr"/>
          <a:lstStyle/>
          <a:p>
            <a:pPr/>
          </a:p>
        </p:txBody>
      </p:sp>
      <p:sp>
        <p:nvSpPr>
          <p:cNvPr id="367" name="Google Shape;246;p36"/>
          <p:cNvSpPr txBox="1"/>
          <p:nvPr/>
        </p:nvSpPr>
        <p:spPr>
          <a:xfrm>
            <a:off x="960125" y="1492403"/>
            <a:ext cx="7223750" cy="48991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3000">
                <a:solidFill>
                  <a:srgbClr val="E5E7EB"/>
                </a:solidFill>
                <a:latin typeface="Calibri Light"/>
                <a:ea typeface="Calibri Light"/>
                <a:cs typeface="Calibri Light"/>
                <a:sym typeface="Calibri Light"/>
              </a:defRPr>
            </a:lvl1pPr>
          </a:lstStyle>
          <a:p>
            <a:pPr/>
            <a:r>
              <a:t>Quante volte hai scritto</a:t>
            </a:r>
          </a:p>
        </p:txBody>
      </p:sp>
      <p:sp>
        <p:nvSpPr>
          <p:cNvPr id="368" name="Google Shape;247;p36"/>
          <p:cNvSpPr txBox="1"/>
          <p:nvPr/>
        </p:nvSpPr>
        <p:spPr>
          <a:xfrm>
            <a:off x="960125" y="2120920"/>
            <a:ext cx="7223750" cy="878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b="1" sz="5200">
                <a:solidFill>
                  <a:srgbClr val="F97316"/>
                </a:solidFill>
                <a:latin typeface="Consolas"/>
                <a:ea typeface="Consolas"/>
                <a:cs typeface="Consolas"/>
                <a:sym typeface="Consolas"/>
              </a:defRPr>
            </a:lvl1pPr>
          </a:lstStyle>
          <a:p>
            <a:pPr/>
            <a:r>
              <a:t>extends</a:t>
            </a:r>
          </a:p>
        </p:txBody>
      </p:sp>
      <p:sp>
        <p:nvSpPr>
          <p:cNvPr id="369" name="Google Shape;248;p36"/>
          <p:cNvSpPr txBox="1"/>
          <p:nvPr/>
        </p:nvSpPr>
        <p:spPr>
          <a:xfrm>
            <a:off x="960125" y="3138323"/>
            <a:ext cx="7223750" cy="48991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3000">
                <a:solidFill>
                  <a:srgbClr val="E5E7EB"/>
                </a:solidFill>
                <a:latin typeface="Calibri Light"/>
                <a:ea typeface="Calibri Light"/>
                <a:cs typeface="Calibri Light"/>
                <a:sym typeface="Calibri Light"/>
              </a:defRPr>
            </a:lvl1pPr>
          </a:lstStyle>
          <a:p>
            <a:pPr/>
            <a:r>
              <a:t>questa settimana?</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373" name="Google Shape;254;p3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374" name="Google Shape;255;p3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0</a:t>
            </a:r>
          </a:p>
        </p:txBody>
      </p:sp>
      <p:sp>
        <p:nvSpPr>
          <p:cNvPr id="375" name="Google Shape;256;p3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 / 57</a:t>
            </a:r>
          </a:p>
        </p:txBody>
      </p:sp>
      <p:sp>
        <p:nvSpPr>
          <p:cNvPr id="376" name="Google Shape;257;p3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377" name="Google Shape;258;p37"/>
          <p:cNvSpPr/>
          <p:nvPr/>
        </p:nvSpPr>
        <p:spPr>
          <a:xfrm>
            <a:off x="457200" y="4983479"/>
            <a:ext cx="433137" cy="36577"/>
          </a:xfrm>
          <a:prstGeom prst="rect">
            <a:avLst/>
          </a:prstGeom>
          <a:solidFill>
            <a:srgbClr val="F97316"/>
          </a:solidFill>
          <a:ln w="12700">
            <a:miter lim="400000"/>
          </a:ln>
        </p:spPr>
        <p:txBody>
          <a:bodyPr lIns="0" tIns="0" rIns="0" bIns="0" anchor="ctr"/>
          <a:lstStyle/>
          <a:p>
            <a:pPr/>
          </a:p>
        </p:txBody>
      </p:sp>
      <p:sp>
        <p:nvSpPr>
          <p:cNvPr id="378" name="Google Shape;259;p37"/>
          <p:cNvSpPr txBox="1"/>
          <p:nvPr/>
        </p:nvSpPr>
        <p:spPr>
          <a:xfrm>
            <a:off x="960125" y="1492403"/>
            <a:ext cx="7223750" cy="48991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3000">
                <a:solidFill>
                  <a:srgbClr val="E5E7EB"/>
                </a:solidFill>
                <a:latin typeface="Calibri Light"/>
                <a:ea typeface="Calibri Light"/>
                <a:cs typeface="Calibri Light"/>
                <a:sym typeface="Calibri Light"/>
              </a:defRPr>
            </a:lvl1pPr>
          </a:lstStyle>
          <a:p>
            <a:pPr/>
            <a:r>
              <a:t>Quante volte ti sei chiesto</a:t>
            </a:r>
          </a:p>
        </p:txBody>
      </p:sp>
      <p:sp>
        <p:nvSpPr>
          <p:cNvPr id="379" name="Google Shape;260;p37"/>
          <p:cNvSpPr txBox="1"/>
          <p:nvPr/>
        </p:nvSpPr>
        <p:spPr>
          <a:xfrm>
            <a:off x="960125" y="2379999"/>
            <a:ext cx="7223750" cy="7264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b="1" sz="4400">
                <a:solidFill>
                  <a:srgbClr val="F97316"/>
                </a:solidFill>
                <a:latin typeface="Georgia"/>
                <a:ea typeface="Georgia"/>
                <a:cs typeface="Georgia"/>
                <a:sym typeface="Georgia"/>
              </a:defRPr>
            </a:lvl1pPr>
          </a:lstStyle>
          <a:p>
            <a:pPr/>
            <a:r>
              <a:t>se fosse la scelta giusta?</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383" name="Google Shape;266;p3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384" name="Google Shape;267;p3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0</a:t>
            </a:r>
          </a:p>
        </p:txBody>
      </p:sp>
      <p:sp>
        <p:nvSpPr>
          <p:cNvPr id="385" name="Google Shape;268;p3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 / 57</a:t>
            </a:r>
          </a:p>
        </p:txBody>
      </p:sp>
      <p:sp>
        <p:nvSpPr>
          <p:cNvPr id="386" name="Google Shape;269;p3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387" name="Google Shape;270;p38"/>
          <p:cNvSpPr/>
          <p:nvPr/>
        </p:nvSpPr>
        <p:spPr>
          <a:xfrm>
            <a:off x="457200" y="4983479"/>
            <a:ext cx="577517" cy="36577"/>
          </a:xfrm>
          <a:prstGeom prst="rect">
            <a:avLst/>
          </a:prstGeom>
          <a:solidFill>
            <a:srgbClr val="F97316"/>
          </a:solidFill>
          <a:ln w="12700">
            <a:miter lim="400000"/>
          </a:ln>
        </p:spPr>
        <p:txBody>
          <a:bodyPr lIns="0" tIns="0" rIns="0" bIns="0" anchor="ctr"/>
          <a:lstStyle/>
          <a:p>
            <a:pPr/>
          </a:p>
        </p:txBody>
      </p:sp>
      <p:sp>
        <p:nvSpPr>
          <p:cNvPr id="388" name="Google Shape;271;p38"/>
          <p:cNvSpPr txBox="1"/>
          <p:nvPr/>
        </p:nvSpPr>
        <p:spPr>
          <a:xfrm>
            <a:off x="457200" y="391159"/>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Mappa del talk</a:t>
            </a:r>
          </a:p>
        </p:txBody>
      </p:sp>
      <p:sp>
        <p:nvSpPr>
          <p:cNvPr id="389" name="Google Shape;272;p38"/>
          <p:cNvSpPr/>
          <p:nvPr/>
        </p:nvSpPr>
        <p:spPr>
          <a:xfrm>
            <a:off x="457200" y="1371600"/>
            <a:ext cx="1920240" cy="2560321"/>
          </a:xfrm>
          <a:prstGeom prst="rect">
            <a:avLst/>
          </a:prstGeom>
          <a:solidFill>
            <a:srgbClr val="1A1D2B"/>
          </a:solidFill>
          <a:ln w="12700">
            <a:miter lim="400000"/>
          </a:ln>
        </p:spPr>
        <p:txBody>
          <a:bodyPr lIns="0" tIns="0" rIns="0" bIns="0" anchor="ctr"/>
          <a:lstStyle/>
          <a:p>
            <a:pPr/>
          </a:p>
        </p:txBody>
      </p:sp>
      <p:sp>
        <p:nvSpPr>
          <p:cNvPr id="390" name="Google Shape;273;p38"/>
          <p:cNvSpPr/>
          <p:nvPr/>
        </p:nvSpPr>
        <p:spPr>
          <a:xfrm>
            <a:off x="457200" y="1371600"/>
            <a:ext cx="1920240" cy="54864"/>
          </a:xfrm>
          <a:prstGeom prst="rect">
            <a:avLst/>
          </a:prstGeom>
          <a:solidFill>
            <a:srgbClr val="3B82F6"/>
          </a:solidFill>
          <a:ln w="12700">
            <a:miter lim="400000"/>
          </a:ln>
        </p:spPr>
        <p:txBody>
          <a:bodyPr lIns="0" tIns="0" rIns="0" bIns="0" anchor="ctr"/>
          <a:lstStyle/>
          <a:p>
            <a:pPr/>
          </a:p>
        </p:txBody>
      </p:sp>
      <p:sp>
        <p:nvSpPr>
          <p:cNvPr id="391" name="Google Shape;274;p38"/>
          <p:cNvSpPr txBox="1"/>
          <p:nvPr/>
        </p:nvSpPr>
        <p:spPr>
          <a:xfrm>
            <a:off x="640080" y="1706880"/>
            <a:ext cx="15544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7280"/>
                </a:solidFill>
                <a:latin typeface="Consolas"/>
                <a:ea typeface="Consolas"/>
                <a:cs typeface="Consolas"/>
                <a:sym typeface="Consolas"/>
              </a:defRPr>
            </a:lvl1pPr>
          </a:lstStyle>
          <a:p>
            <a:pPr/>
            <a:r>
              <a:t>ACT 01</a:t>
            </a:r>
          </a:p>
        </p:txBody>
      </p:sp>
      <p:sp>
        <p:nvSpPr>
          <p:cNvPr id="392" name="Google Shape;275;p38"/>
          <p:cNvSpPr txBox="1"/>
          <p:nvPr/>
        </p:nvSpPr>
        <p:spPr>
          <a:xfrm>
            <a:off x="640080" y="2106929"/>
            <a:ext cx="1554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FFFFF"/>
                </a:solidFill>
                <a:latin typeface="Georgia"/>
                <a:ea typeface="Georgia"/>
                <a:cs typeface="Georgia"/>
                <a:sym typeface="Georgia"/>
              </a:defRPr>
            </a:lvl1pPr>
          </a:lstStyle>
          <a:p>
            <a:pPr/>
            <a:r>
              <a:t>Le promesse</a:t>
            </a:r>
          </a:p>
        </p:txBody>
      </p:sp>
      <p:sp>
        <p:nvSpPr>
          <p:cNvPr id="393" name="Google Shape;276;p38"/>
          <p:cNvSpPr txBox="1"/>
          <p:nvPr/>
        </p:nvSpPr>
        <p:spPr>
          <a:xfrm>
            <a:off x="640080" y="2710487"/>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Da dove veniamo</a:t>
            </a:r>
          </a:p>
        </p:txBody>
      </p:sp>
      <p:sp>
        <p:nvSpPr>
          <p:cNvPr id="394" name="Google Shape;277;p38"/>
          <p:cNvSpPr/>
          <p:nvPr/>
        </p:nvSpPr>
        <p:spPr>
          <a:xfrm>
            <a:off x="2560320" y="1371600"/>
            <a:ext cx="1920241" cy="2560321"/>
          </a:xfrm>
          <a:prstGeom prst="rect">
            <a:avLst/>
          </a:prstGeom>
          <a:solidFill>
            <a:srgbClr val="1A1D2B"/>
          </a:solidFill>
          <a:ln w="12700">
            <a:miter lim="400000"/>
          </a:ln>
        </p:spPr>
        <p:txBody>
          <a:bodyPr lIns="0" tIns="0" rIns="0" bIns="0" anchor="ctr"/>
          <a:lstStyle/>
          <a:p>
            <a:pPr/>
          </a:p>
        </p:txBody>
      </p:sp>
      <p:sp>
        <p:nvSpPr>
          <p:cNvPr id="395" name="Google Shape;278;p38"/>
          <p:cNvSpPr/>
          <p:nvPr/>
        </p:nvSpPr>
        <p:spPr>
          <a:xfrm>
            <a:off x="2560320" y="1371600"/>
            <a:ext cx="1920241" cy="54864"/>
          </a:xfrm>
          <a:prstGeom prst="rect">
            <a:avLst/>
          </a:prstGeom>
          <a:solidFill>
            <a:srgbClr val="F97316"/>
          </a:solidFill>
          <a:ln w="12700">
            <a:miter lim="400000"/>
          </a:ln>
        </p:spPr>
        <p:txBody>
          <a:bodyPr lIns="0" tIns="0" rIns="0" bIns="0" anchor="ctr"/>
          <a:lstStyle/>
          <a:p>
            <a:pPr/>
          </a:p>
        </p:txBody>
      </p:sp>
      <p:sp>
        <p:nvSpPr>
          <p:cNvPr id="396" name="Google Shape;279;p38"/>
          <p:cNvSpPr txBox="1"/>
          <p:nvPr/>
        </p:nvSpPr>
        <p:spPr>
          <a:xfrm>
            <a:off x="2743200" y="1706880"/>
            <a:ext cx="15544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7280"/>
                </a:solidFill>
                <a:latin typeface="Consolas"/>
                <a:ea typeface="Consolas"/>
                <a:cs typeface="Consolas"/>
                <a:sym typeface="Consolas"/>
              </a:defRPr>
            </a:lvl1pPr>
          </a:lstStyle>
          <a:p>
            <a:pPr/>
            <a:r>
              <a:t>ACT 02</a:t>
            </a:r>
          </a:p>
        </p:txBody>
      </p:sp>
      <p:sp>
        <p:nvSpPr>
          <p:cNvPr id="397" name="Google Shape;280;p38"/>
          <p:cNvSpPr txBox="1"/>
          <p:nvPr/>
        </p:nvSpPr>
        <p:spPr>
          <a:xfrm>
            <a:off x="2743200" y="2106929"/>
            <a:ext cx="1554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FFFFF"/>
                </a:solidFill>
                <a:latin typeface="Georgia"/>
                <a:ea typeface="Georgia"/>
                <a:cs typeface="Georgia"/>
                <a:sym typeface="Georgia"/>
              </a:defRPr>
            </a:lvl1pPr>
          </a:lstStyle>
          <a:p>
            <a:pPr/>
            <a:r>
              <a:t>Le crepe</a:t>
            </a:r>
          </a:p>
        </p:txBody>
      </p:sp>
      <p:sp>
        <p:nvSpPr>
          <p:cNvPr id="398" name="Google Shape;281;p38"/>
          <p:cNvSpPr txBox="1"/>
          <p:nvPr/>
        </p:nvSpPr>
        <p:spPr>
          <a:xfrm>
            <a:off x="2743200" y="2710487"/>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4 problemi strutturali</a:t>
            </a:r>
          </a:p>
        </p:txBody>
      </p:sp>
      <p:sp>
        <p:nvSpPr>
          <p:cNvPr id="399" name="Google Shape;282;p38"/>
          <p:cNvSpPr/>
          <p:nvPr/>
        </p:nvSpPr>
        <p:spPr>
          <a:xfrm>
            <a:off x="4663440" y="1371600"/>
            <a:ext cx="1920241" cy="2560321"/>
          </a:xfrm>
          <a:prstGeom prst="rect">
            <a:avLst/>
          </a:prstGeom>
          <a:solidFill>
            <a:srgbClr val="1A1D2B"/>
          </a:solidFill>
          <a:ln w="12700">
            <a:miter lim="400000"/>
          </a:ln>
        </p:spPr>
        <p:txBody>
          <a:bodyPr lIns="0" tIns="0" rIns="0" bIns="0" anchor="ctr"/>
          <a:lstStyle/>
          <a:p>
            <a:pPr/>
          </a:p>
        </p:txBody>
      </p:sp>
      <p:sp>
        <p:nvSpPr>
          <p:cNvPr id="400" name="Google Shape;283;p38"/>
          <p:cNvSpPr/>
          <p:nvPr/>
        </p:nvSpPr>
        <p:spPr>
          <a:xfrm>
            <a:off x="4663440" y="1371600"/>
            <a:ext cx="1920241" cy="54864"/>
          </a:xfrm>
          <a:prstGeom prst="rect">
            <a:avLst/>
          </a:prstGeom>
          <a:solidFill>
            <a:srgbClr val="EAB308"/>
          </a:solidFill>
          <a:ln w="12700">
            <a:miter lim="400000"/>
          </a:ln>
        </p:spPr>
        <p:txBody>
          <a:bodyPr lIns="0" tIns="0" rIns="0" bIns="0" anchor="ctr"/>
          <a:lstStyle/>
          <a:p>
            <a:pPr/>
          </a:p>
        </p:txBody>
      </p:sp>
      <p:sp>
        <p:nvSpPr>
          <p:cNvPr id="401" name="Google Shape;284;p38"/>
          <p:cNvSpPr txBox="1"/>
          <p:nvPr/>
        </p:nvSpPr>
        <p:spPr>
          <a:xfrm>
            <a:off x="4846320" y="1706880"/>
            <a:ext cx="15544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7280"/>
                </a:solidFill>
                <a:latin typeface="Consolas"/>
                <a:ea typeface="Consolas"/>
                <a:cs typeface="Consolas"/>
                <a:sym typeface="Consolas"/>
              </a:defRPr>
            </a:lvl1pPr>
          </a:lstStyle>
          <a:p>
            <a:pPr/>
            <a:r>
              <a:t>ACT 03</a:t>
            </a:r>
          </a:p>
        </p:txBody>
      </p:sp>
      <p:sp>
        <p:nvSpPr>
          <p:cNvPr id="402" name="Google Shape;285;p38"/>
          <p:cNvSpPr txBox="1"/>
          <p:nvPr/>
        </p:nvSpPr>
        <p:spPr>
          <a:xfrm>
            <a:off x="4846320" y="2106929"/>
            <a:ext cx="1554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FFFFF"/>
                </a:solidFill>
                <a:latin typeface="Georgia"/>
                <a:ea typeface="Georgia"/>
                <a:cs typeface="Georgia"/>
                <a:sym typeface="Georgia"/>
              </a:defRPr>
            </a:lvl1pPr>
          </a:lstStyle>
          <a:p>
            <a:pPr/>
            <a:r>
              <a:t>I pattern</a:t>
            </a:r>
          </a:p>
        </p:txBody>
      </p:sp>
      <p:sp>
        <p:nvSpPr>
          <p:cNvPr id="403" name="Google Shape;286;p38"/>
          <p:cNvSpPr txBox="1"/>
          <p:nvPr/>
        </p:nvSpPr>
        <p:spPr>
          <a:xfrm>
            <a:off x="4846320" y="2710487"/>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Sintomi, non cure</a:t>
            </a:r>
          </a:p>
        </p:txBody>
      </p:sp>
      <p:sp>
        <p:nvSpPr>
          <p:cNvPr id="404" name="Google Shape;287;p38"/>
          <p:cNvSpPr/>
          <p:nvPr/>
        </p:nvSpPr>
        <p:spPr>
          <a:xfrm>
            <a:off x="6766559" y="1371600"/>
            <a:ext cx="1920241" cy="2560321"/>
          </a:xfrm>
          <a:prstGeom prst="rect">
            <a:avLst/>
          </a:prstGeom>
          <a:solidFill>
            <a:srgbClr val="1A1D2B"/>
          </a:solidFill>
          <a:ln w="12700">
            <a:miter lim="400000"/>
          </a:ln>
        </p:spPr>
        <p:txBody>
          <a:bodyPr lIns="0" tIns="0" rIns="0" bIns="0" anchor="ctr"/>
          <a:lstStyle/>
          <a:p>
            <a:pPr/>
          </a:p>
        </p:txBody>
      </p:sp>
      <p:sp>
        <p:nvSpPr>
          <p:cNvPr id="405" name="Google Shape;288;p38"/>
          <p:cNvSpPr/>
          <p:nvPr/>
        </p:nvSpPr>
        <p:spPr>
          <a:xfrm>
            <a:off x="6766559" y="1371600"/>
            <a:ext cx="1920241" cy="54864"/>
          </a:xfrm>
          <a:prstGeom prst="rect">
            <a:avLst/>
          </a:prstGeom>
          <a:solidFill>
            <a:srgbClr val="22C55E"/>
          </a:solidFill>
          <a:ln w="12700">
            <a:miter lim="400000"/>
          </a:ln>
        </p:spPr>
        <p:txBody>
          <a:bodyPr lIns="0" tIns="0" rIns="0" bIns="0" anchor="ctr"/>
          <a:lstStyle/>
          <a:p>
            <a:pPr/>
          </a:p>
        </p:txBody>
      </p:sp>
      <p:sp>
        <p:nvSpPr>
          <p:cNvPr id="406" name="Google Shape;289;p38"/>
          <p:cNvSpPr txBox="1"/>
          <p:nvPr/>
        </p:nvSpPr>
        <p:spPr>
          <a:xfrm>
            <a:off x="6949440" y="1706880"/>
            <a:ext cx="15544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7280"/>
                </a:solidFill>
                <a:latin typeface="Consolas"/>
                <a:ea typeface="Consolas"/>
                <a:cs typeface="Consolas"/>
                <a:sym typeface="Consolas"/>
              </a:defRPr>
            </a:lvl1pPr>
          </a:lstStyle>
          <a:p>
            <a:pPr/>
            <a:r>
              <a:t>ACT 04</a:t>
            </a:r>
          </a:p>
        </p:txBody>
      </p:sp>
      <p:sp>
        <p:nvSpPr>
          <p:cNvPr id="407" name="Google Shape;290;p38"/>
          <p:cNvSpPr txBox="1"/>
          <p:nvPr/>
        </p:nvSpPr>
        <p:spPr>
          <a:xfrm>
            <a:off x="6949440" y="2106929"/>
            <a:ext cx="15544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FFFFF"/>
                </a:solidFill>
                <a:latin typeface="Georgia"/>
                <a:ea typeface="Georgia"/>
                <a:cs typeface="Georgia"/>
                <a:sym typeface="Georgia"/>
              </a:defRPr>
            </a:lvl1pPr>
          </a:lstStyle>
          <a:p>
            <a:pPr/>
            <a:r>
              <a:t>Il futuro</a:t>
            </a:r>
          </a:p>
        </p:txBody>
      </p:sp>
      <p:sp>
        <p:nvSpPr>
          <p:cNvPr id="408" name="Google Shape;291;p38"/>
          <p:cNvSpPr txBox="1"/>
          <p:nvPr/>
        </p:nvSpPr>
        <p:spPr>
          <a:xfrm>
            <a:off x="6949440" y="2710487"/>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Cosa portare a casa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89"/>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39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390"/>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392"/>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3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394"/>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395"/>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396"/>
                                        </p:tgtEl>
                                        <p:attrNameLst>
                                          <p:attrName>style.visibility</p:attrName>
                                        </p:attrNameLst>
                                      </p:cBhvr>
                                      <p:to>
                                        <p:strVal val="visible"/>
                                      </p:to>
                                    </p:set>
                                  </p:childTnLst>
                                </p:cTn>
                              </p:par>
                            </p:childTnLst>
                          </p:cTn>
                        </p:par>
                        <p:par>
                          <p:cTn id="29" fill="hold">
                            <p:stCondLst>
                              <p:cond delay="0"/>
                            </p:stCondLst>
                            <p:childTnLst>
                              <p:par>
                                <p:cTn id="30" presetClass="entr" nodeType="afterEffect" presetSubtype="0" presetID="1" grpId="9" fill="hold">
                                  <p:stCondLst>
                                    <p:cond delay="0"/>
                                  </p:stCondLst>
                                  <p:iterate type="el" backwards="0">
                                    <p:tmAbs val="0"/>
                                  </p:iterate>
                                  <p:childTnLst>
                                    <p:set>
                                      <p:cBhvr>
                                        <p:cTn id="31" fill="hold"/>
                                        <p:tgtEl>
                                          <p:spTgt spid="397"/>
                                        </p:tgtEl>
                                        <p:attrNameLst>
                                          <p:attrName>style.visibility</p:attrName>
                                        </p:attrNameLst>
                                      </p:cBhvr>
                                      <p:to>
                                        <p:strVal val="visible"/>
                                      </p:to>
                                    </p:set>
                                  </p:childTnLst>
                                </p:cTn>
                              </p:par>
                            </p:childTnLst>
                          </p:cTn>
                        </p:par>
                        <p:par>
                          <p:cTn id="32" fill="hold">
                            <p:stCondLst>
                              <p:cond delay="0"/>
                            </p:stCondLst>
                            <p:childTnLst>
                              <p:par>
                                <p:cTn id="33" presetClass="entr" nodeType="afterEffect" presetSubtype="0" presetID="1" grpId="10" fill="hold">
                                  <p:stCondLst>
                                    <p:cond delay="0"/>
                                  </p:stCondLst>
                                  <p:iterate type="el" backwards="0">
                                    <p:tmAbs val="0"/>
                                  </p:iterate>
                                  <p:childTnLst>
                                    <p:set>
                                      <p:cBhvr>
                                        <p:cTn id="34" fill="hold"/>
                                        <p:tgtEl>
                                          <p:spTgt spid="3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0" presetID="1" grpId="11" fill="hold">
                                  <p:stCondLst>
                                    <p:cond delay="0"/>
                                  </p:stCondLst>
                                  <p:iterate type="el" backwards="0">
                                    <p:tmAbs val="0"/>
                                  </p:iterate>
                                  <p:childTnLst>
                                    <p:set>
                                      <p:cBhvr>
                                        <p:cTn id="38" fill="hold"/>
                                        <p:tgtEl>
                                          <p:spTgt spid="399"/>
                                        </p:tgtEl>
                                        <p:attrNameLst>
                                          <p:attrName>style.visibility</p:attrName>
                                        </p:attrNameLst>
                                      </p:cBhvr>
                                      <p:to>
                                        <p:strVal val="visible"/>
                                      </p:to>
                                    </p:set>
                                  </p:childTnLst>
                                </p:cTn>
                              </p:par>
                            </p:childTnLst>
                          </p:cTn>
                        </p:par>
                        <p:par>
                          <p:cTn id="39" fill="hold">
                            <p:stCondLst>
                              <p:cond delay="0"/>
                            </p:stCondLst>
                            <p:childTnLst>
                              <p:par>
                                <p:cTn id="40" presetClass="entr" nodeType="afterEffect" presetSubtype="0" presetID="1" grpId="12" fill="hold">
                                  <p:stCondLst>
                                    <p:cond delay="0"/>
                                  </p:stCondLst>
                                  <p:iterate type="el" backwards="0">
                                    <p:tmAbs val="0"/>
                                  </p:iterate>
                                  <p:childTnLst>
                                    <p:set>
                                      <p:cBhvr>
                                        <p:cTn id="41" fill="hold"/>
                                        <p:tgtEl>
                                          <p:spTgt spid="400"/>
                                        </p:tgtEl>
                                        <p:attrNameLst>
                                          <p:attrName>style.visibility</p:attrName>
                                        </p:attrNameLst>
                                      </p:cBhvr>
                                      <p:to>
                                        <p:strVal val="visible"/>
                                      </p:to>
                                    </p:set>
                                  </p:childTnLst>
                                </p:cTn>
                              </p:par>
                            </p:childTnLst>
                          </p:cTn>
                        </p:par>
                        <p:par>
                          <p:cTn id="42" fill="hold">
                            <p:stCondLst>
                              <p:cond delay="0"/>
                            </p:stCondLst>
                            <p:childTnLst>
                              <p:par>
                                <p:cTn id="43" presetClass="entr" nodeType="afterEffect" presetSubtype="0" presetID="1" grpId="13" fill="hold">
                                  <p:stCondLst>
                                    <p:cond delay="0"/>
                                  </p:stCondLst>
                                  <p:iterate type="el" backwards="0">
                                    <p:tmAbs val="0"/>
                                  </p:iterate>
                                  <p:childTnLst>
                                    <p:set>
                                      <p:cBhvr>
                                        <p:cTn id="44" fill="hold"/>
                                        <p:tgtEl>
                                          <p:spTgt spid="401"/>
                                        </p:tgtEl>
                                        <p:attrNameLst>
                                          <p:attrName>style.visibility</p:attrName>
                                        </p:attrNameLst>
                                      </p:cBhvr>
                                      <p:to>
                                        <p:strVal val="visible"/>
                                      </p:to>
                                    </p:set>
                                  </p:childTnLst>
                                </p:cTn>
                              </p:par>
                            </p:childTnLst>
                          </p:cTn>
                        </p:par>
                        <p:par>
                          <p:cTn id="45" fill="hold">
                            <p:stCondLst>
                              <p:cond delay="0"/>
                            </p:stCondLst>
                            <p:childTnLst>
                              <p:par>
                                <p:cTn id="46" presetClass="entr" nodeType="afterEffect" presetSubtype="0" presetID="1" grpId="14" fill="hold">
                                  <p:stCondLst>
                                    <p:cond delay="0"/>
                                  </p:stCondLst>
                                  <p:iterate type="el" backwards="0">
                                    <p:tmAbs val="0"/>
                                  </p:iterate>
                                  <p:childTnLst>
                                    <p:set>
                                      <p:cBhvr>
                                        <p:cTn id="47" fill="hold"/>
                                        <p:tgtEl>
                                          <p:spTgt spid="402"/>
                                        </p:tgtEl>
                                        <p:attrNameLst>
                                          <p:attrName>style.visibility</p:attrName>
                                        </p:attrNameLst>
                                      </p:cBhvr>
                                      <p:to>
                                        <p:strVal val="visible"/>
                                      </p:to>
                                    </p:set>
                                  </p:childTnLst>
                                </p:cTn>
                              </p:par>
                            </p:childTnLst>
                          </p:cTn>
                        </p:par>
                        <p:par>
                          <p:cTn id="48" fill="hold">
                            <p:stCondLst>
                              <p:cond delay="0"/>
                            </p:stCondLst>
                            <p:childTnLst>
                              <p:par>
                                <p:cTn id="49" presetClass="entr" nodeType="afterEffect" presetSubtype="0" presetID="1" grpId="15" fill="hold">
                                  <p:stCondLst>
                                    <p:cond delay="0"/>
                                  </p:stCondLst>
                                  <p:iterate type="el" backwards="0">
                                    <p:tmAbs val="0"/>
                                  </p:iterate>
                                  <p:childTnLst>
                                    <p:set>
                                      <p:cBhvr>
                                        <p:cTn id="50" fill="hold"/>
                                        <p:tgtEl>
                                          <p:spTgt spid="40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0" presetID="1" grpId="16" fill="hold">
                                  <p:stCondLst>
                                    <p:cond delay="0"/>
                                  </p:stCondLst>
                                  <p:iterate type="el" backwards="0">
                                    <p:tmAbs val="0"/>
                                  </p:iterate>
                                  <p:childTnLst>
                                    <p:set>
                                      <p:cBhvr>
                                        <p:cTn id="54" fill="hold"/>
                                        <p:tgtEl>
                                          <p:spTgt spid="404"/>
                                        </p:tgtEl>
                                        <p:attrNameLst>
                                          <p:attrName>style.visibility</p:attrName>
                                        </p:attrNameLst>
                                      </p:cBhvr>
                                      <p:to>
                                        <p:strVal val="visible"/>
                                      </p:to>
                                    </p:set>
                                  </p:childTnLst>
                                </p:cTn>
                              </p:par>
                            </p:childTnLst>
                          </p:cTn>
                        </p:par>
                        <p:par>
                          <p:cTn id="55" fill="hold">
                            <p:stCondLst>
                              <p:cond delay="0"/>
                            </p:stCondLst>
                            <p:childTnLst>
                              <p:par>
                                <p:cTn id="56" presetClass="entr" nodeType="afterEffect" presetSubtype="0" presetID="1" grpId="17" fill="hold">
                                  <p:stCondLst>
                                    <p:cond delay="0"/>
                                  </p:stCondLst>
                                  <p:iterate type="el" backwards="0">
                                    <p:tmAbs val="0"/>
                                  </p:iterate>
                                  <p:childTnLst>
                                    <p:set>
                                      <p:cBhvr>
                                        <p:cTn id="57" fill="hold"/>
                                        <p:tgtEl>
                                          <p:spTgt spid="405"/>
                                        </p:tgtEl>
                                        <p:attrNameLst>
                                          <p:attrName>style.visibility</p:attrName>
                                        </p:attrNameLst>
                                      </p:cBhvr>
                                      <p:to>
                                        <p:strVal val="visible"/>
                                      </p:to>
                                    </p:set>
                                  </p:childTnLst>
                                </p:cTn>
                              </p:par>
                            </p:childTnLst>
                          </p:cTn>
                        </p:par>
                        <p:par>
                          <p:cTn id="58" fill="hold">
                            <p:stCondLst>
                              <p:cond delay="0"/>
                            </p:stCondLst>
                            <p:childTnLst>
                              <p:par>
                                <p:cTn id="59" presetClass="entr" nodeType="afterEffect" presetSubtype="0" presetID="1" grpId="18" fill="hold">
                                  <p:stCondLst>
                                    <p:cond delay="0"/>
                                  </p:stCondLst>
                                  <p:iterate type="el" backwards="0">
                                    <p:tmAbs val="0"/>
                                  </p:iterate>
                                  <p:childTnLst>
                                    <p:set>
                                      <p:cBhvr>
                                        <p:cTn id="60" fill="hold"/>
                                        <p:tgtEl>
                                          <p:spTgt spid="406"/>
                                        </p:tgtEl>
                                        <p:attrNameLst>
                                          <p:attrName>style.visibility</p:attrName>
                                        </p:attrNameLst>
                                      </p:cBhvr>
                                      <p:to>
                                        <p:strVal val="visible"/>
                                      </p:to>
                                    </p:set>
                                  </p:childTnLst>
                                </p:cTn>
                              </p:par>
                            </p:childTnLst>
                          </p:cTn>
                        </p:par>
                        <p:par>
                          <p:cTn id="61" fill="hold">
                            <p:stCondLst>
                              <p:cond delay="0"/>
                            </p:stCondLst>
                            <p:childTnLst>
                              <p:par>
                                <p:cTn id="62" presetClass="entr" nodeType="afterEffect" presetSubtype="0" presetID="1" grpId="19" fill="hold">
                                  <p:stCondLst>
                                    <p:cond delay="0"/>
                                  </p:stCondLst>
                                  <p:iterate type="el" backwards="0">
                                    <p:tmAbs val="0"/>
                                  </p:iterate>
                                  <p:childTnLst>
                                    <p:set>
                                      <p:cBhvr>
                                        <p:cTn id="63" fill="hold"/>
                                        <p:tgtEl>
                                          <p:spTgt spid="407"/>
                                        </p:tgtEl>
                                        <p:attrNameLst>
                                          <p:attrName>style.visibility</p:attrName>
                                        </p:attrNameLst>
                                      </p:cBhvr>
                                      <p:to>
                                        <p:strVal val="visible"/>
                                      </p:to>
                                    </p:set>
                                  </p:childTnLst>
                                </p:cTn>
                              </p:par>
                            </p:childTnLst>
                          </p:cTn>
                        </p:par>
                        <p:par>
                          <p:cTn id="64" fill="hold">
                            <p:stCondLst>
                              <p:cond delay="0"/>
                            </p:stCondLst>
                            <p:childTnLst>
                              <p:par>
                                <p:cTn id="65" presetClass="entr" nodeType="afterEffect" presetSubtype="0" presetID="1" grpId="20" fill="hold">
                                  <p:stCondLst>
                                    <p:cond delay="0"/>
                                  </p:stCondLst>
                                  <p:iterate type="el" backwards="0">
                                    <p:tmAbs val="0"/>
                                  </p:iterate>
                                  <p:childTnLst>
                                    <p:set>
                                      <p:cBhvr>
                                        <p:cTn id="66" fill="hold"/>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1" grpId="2"/>
      <p:bldP build="whole" bldLvl="1" animBg="1" rev="0" advAuto="0" spid="401" grpId="13"/>
      <p:bldP build="whole" bldLvl="1" animBg="1" rev="0" advAuto="0" spid="396" grpId="8"/>
      <p:bldP build="whole" bldLvl="1" animBg="1" rev="0" advAuto="0" spid="408" grpId="20"/>
      <p:bldP build="whole" bldLvl="1" animBg="1" rev="0" advAuto="0" spid="406" grpId="18"/>
      <p:bldP build="whole" bldLvl="1" animBg="1" rev="0" advAuto="0" spid="402" grpId="14"/>
      <p:bldP build="whole" bldLvl="1" animBg="1" rev="0" advAuto="0" spid="407" grpId="19"/>
      <p:bldP build="whole" bldLvl="1" animBg="1" rev="0" advAuto="0" spid="395" grpId="7"/>
      <p:bldP build="whole" bldLvl="1" animBg="1" rev="0" advAuto="0" spid="392" grpId="4"/>
      <p:bldP build="whole" bldLvl="1" animBg="1" rev="0" advAuto="0" spid="399" grpId="11"/>
      <p:bldP build="whole" bldLvl="1" animBg="1" rev="0" advAuto="0" spid="390" grpId="3"/>
      <p:bldP build="whole" bldLvl="1" animBg="1" rev="0" advAuto="0" spid="393" grpId="5"/>
      <p:bldP build="whole" bldLvl="1" animBg="1" rev="0" advAuto="0" spid="397" grpId="9"/>
      <p:bldP build="whole" bldLvl="1" animBg="1" rev="0" advAuto="0" spid="398" grpId="10"/>
      <p:bldP build="whole" bldLvl="1" animBg="1" rev="0" advAuto="0" spid="389" grpId="1"/>
      <p:bldP build="whole" bldLvl="1" animBg="1" rev="0" advAuto="0" spid="404" grpId="16"/>
      <p:bldP build="whole" bldLvl="1" animBg="1" rev="0" advAuto="0" spid="403" grpId="15"/>
      <p:bldP build="whole" bldLvl="1" animBg="1" rev="0" advAuto="0" spid="394" grpId="6"/>
      <p:bldP build="whole" bldLvl="1" animBg="1" rev="0" advAuto="0" spid="405" grpId="17"/>
      <p:bldP build="whole" bldLvl="1" animBg="1" rev="0" advAuto="0" spid="400" grpId="1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412" name="Google Shape;297;p3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413" name="Google Shape;298;p3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414" name="Google Shape;299;p3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 / 57</a:t>
            </a:r>
          </a:p>
        </p:txBody>
      </p:sp>
      <p:sp>
        <p:nvSpPr>
          <p:cNvPr id="415" name="Google Shape;300;p3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416" name="Google Shape;301;p39"/>
          <p:cNvSpPr/>
          <p:nvPr/>
        </p:nvSpPr>
        <p:spPr>
          <a:xfrm>
            <a:off x="457200" y="4983479"/>
            <a:ext cx="721895" cy="36577"/>
          </a:xfrm>
          <a:prstGeom prst="rect">
            <a:avLst/>
          </a:prstGeom>
          <a:solidFill>
            <a:srgbClr val="F97316"/>
          </a:solidFill>
          <a:ln w="12700">
            <a:miter lim="400000"/>
          </a:ln>
        </p:spPr>
        <p:txBody>
          <a:bodyPr lIns="0" tIns="0" rIns="0" bIns="0" anchor="ctr"/>
          <a:lstStyle/>
          <a:p>
            <a:pPr/>
          </a:p>
        </p:txBody>
      </p:sp>
      <p:sp>
        <p:nvSpPr>
          <p:cNvPr id="417" name="Google Shape;302;p39"/>
          <p:cNvSpPr txBox="1"/>
          <p:nvPr/>
        </p:nvSpPr>
        <p:spPr>
          <a:xfrm>
            <a:off x="731519" y="839469"/>
            <a:ext cx="3657601" cy="1155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0">
                <a:solidFill>
                  <a:srgbClr val="F97316"/>
                </a:solidFill>
                <a:latin typeface="Georgia"/>
                <a:ea typeface="Georgia"/>
                <a:cs typeface="Georgia"/>
                <a:sym typeface="Georgia"/>
              </a:defRPr>
            </a:lvl1pPr>
          </a:lstStyle>
          <a:p>
            <a:pPr/>
            <a:r>
              <a:t>1967</a:t>
            </a:r>
          </a:p>
        </p:txBody>
      </p:sp>
      <p:sp>
        <p:nvSpPr>
          <p:cNvPr id="418" name="Google Shape;303;p39"/>
          <p:cNvSpPr txBox="1"/>
          <p:nvPr/>
        </p:nvSpPr>
        <p:spPr>
          <a:xfrm>
            <a:off x="731519" y="2184752"/>
            <a:ext cx="365760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E5E7EB"/>
                </a:solidFill>
                <a:latin typeface="Calibri Light"/>
                <a:ea typeface="Calibri Light"/>
                <a:cs typeface="Calibri Light"/>
                <a:sym typeface="Calibri Light"/>
              </a:defRPr>
            </a:lvl1pPr>
          </a:lstStyle>
          <a:p>
            <a:pPr/>
            <a:r>
              <a:t>Oslo, Norvegia</a:t>
            </a:r>
          </a:p>
        </p:txBody>
      </p:sp>
      <p:sp>
        <p:nvSpPr>
          <p:cNvPr id="419" name="Google Shape;304;p39"/>
          <p:cNvSpPr txBox="1"/>
          <p:nvPr/>
        </p:nvSpPr>
        <p:spPr>
          <a:xfrm>
            <a:off x="731519" y="2992821"/>
            <a:ext cx="457200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Ole-Johan Dahl &amp; Kristen Nygaard creano Simula 67 — il primo linguaggio con oggetti e classi.</a:t>
            </a:r>
          </a:p>
        </p:txBody>
      </p:sp>
      <p:sp>
        <p:nvSpPr>
          <p:cNvPr id="420" name="Google Shape;305;p39"/>
          <p:cNvSpPr txBox="1"/>
          <p:nvPr/>
        </p:nvSpPr>
        <p:spPr>
          <a:xfrm>
            <a:off x="731519" y="4021258"/>
            <a:ext cx="4572001"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6B7280"/>
                </a:solidFill>
                <a:latin typeface="Calibri Light"/>
                <a:ea typeface="Calibri Light"/>
                <a:cs typeface="Calibri Light"/>
                <a:sym typeface="Calibri Light"/>
              </a:defRPr>
            </a:pPr>
            <a:r>
              <a:t>Non stavano inventando un paradigma.</a:t>
            </a:r>
          </a:p>
          <a:p>
            <a:pPr>
              <a:defRPr sz="1300">
                <a:solidFill>
                  <a:srgbClr val="6B7280"/>
                </a:solidFill>
                <a:latin typeface="Calibri Light"/>
                <a:ea typeface="Calibri Light"/>
                <a:cs typeface="Calibri Light"/>
                <a:sym typeface="Calibri Light"/>
              </a:defRPr>
            </a:pPr>
            <a:r>
              <a:t>Stavano risolvendo un problema concreto.</a:t>
            </a:r>
          </a:p>
        </p:txBody>
      </p:sp>
      <p:sp>
        <p:nvSpPr>
          <p:cNvPr id="421" name="Google Shape;306;p39"/>
          <p:cNvSpPr/>
          <p:nvPr/>
        </p:nvSpPr>
        <p:spPr>
          <a:xfrm>
            <a:off x="5943600" y="914400"/>
            <a:ext cx="2743200" cy="3200400"/>
          </a:xfrm>
          <a:prstGeom prst="rect">
            <a:avLst/>
          </a:prstGeom>
          <a:solidFill>
            <a:srgbClr val="1A1D2B"/>
          </a:solidFill>
          <a:ln w="12700">
            <a:miter lim="400000"/>
          </a:ln>
        </p:spPr>
        <p:txBody>
          <a:bodyPr lIns="0" tIns="0" rIns="0" bIns="0" anchor="ctr"/>
          <a:lstStyle/>
          <a:p>
            <a:pPr/>
          </a:p>
        </p:txBody>
      </p:sp>
      <p:sp>
        <p:nvSpPr>
          <p:cNvPr id="422" name="Google Shape;307;p39"/>
          <p:cNvSpPr txBox="1"/>
          <p:nvPr/>
        </p:nvSpPr>
        <p:spPr>
          <a:xfrm>
            <a:off x="5989325" y="1884699"/>
            <a:ext cx="2651751" cy="1259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b="1" sz="4000">
                <a:solidFill>
                  <a:srgbClr val="F97316"/>
                </a:solidFill>
                <a:latin typeface="Georgia"/>
                <a:ea typeface="Georgia"/>
                <a:cs typeface="Georgia"/>
                <a:sym typeface="Georgia"/>
              </a:defRPr>
            </a:lvl1pPr>
          </a:lstStyle>
          <a:p>
            <a:pPr/>
            <a:r>
              <a:t>Simula 67</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0"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426" name="Google Shape;313;p4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427" name="Google Shape;314;p4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428" name="Google Shape;315;p4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6 / 57</a:t>
            </a:r>
          </a:p>
        </p:txBody>
      </p:sp>
      <p:sp>
        <p:nvSpPr>
          <p:cNvPr id="429" name="Google Shape;316;p4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430" name="Google Shape;317;p40"/>
          <p:cNvSpPr/>
          <p:nvPr/>
        </p:nvSpPr>
        <p:spPr>
          <a:xfrm>
            <a:off x="457200" y="4983479"/>
            <a:ext cx="866273" cy="36577"/>
          </a:xfrm>
          <a:prstGeom prst="rect">
            <a:avLst/>
          </a:prstGeom>
          <a:solidFill>
            <a:srgbClr val="F97316"/>
          </a:solidFill>
          <a:ln w="12700">
            <a:miter lim="400000"/>
          </a:ln>
        </p:spPr>
        <p:txBody>
          <a:bodyPr lIns="0" tIns="0" rIns="0" bIns="0" anchor="ctr"/>
          <a:lstStyle/>
          <a:p>
            <a:pPr/>
          </a:p>
        </p:txBody>
      </p:sp>
      <p:sp>
        <p:nvSpPr>
          <p:cNvPr id="431" name="Google Shape;318;p40"/>
          <p:cNvSpPr txBox="1"/>
          <p:nvPr/>
        </p:nvSpPr>
        <p:spPr>
          <a:xfrm>
            <a:off x="1828800" y="440690"/>
            <a:ext cx="54864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onsolas"/>
                <a:ea typeface="Consolas"/>
                <a:cs typeface="Consolas"/>
                <a:sym typeface="Consolas"/>
              </a:defRPr>
            </a:lvl1pPr>
          </a:lstStyle>
          <a:p>
            <a:pPr/>
            <a:r>
              <a:t>Il catechismo</a:t>
            </a:r>
          </a:p>
        </p:txBody>
      </p:sp>
      <p:sp>
        <p:nvSpPr>
          <p:cNvPr id="432" name="Google Shape;319;p40"/>
          <p:cNvSpPr/>
          <p:nvPr/>
        </p:nvSpPr>
        <p:spPr>
          <a:xfrm>
            <a:off x="1371600" y="1097280"/>
            <a:ext cx="6400800" cy="1005840"/>
          </a:xfrm>
          <a:prstGeom prst="rect">
            <a:avLst/>
          </a:prstGeom>
          <a:solidFill>
            <a:srgbClr val="1A1D2B"/>
          </a:solidFill>
          <a:ln w="12700">
            <a:miter lim="400000"/>
          </a:ln>
        </p:spPr>
        <p:txBody>
          <a:bodyPr lIns="0" tIns="0" rIns="0" bIns="0" anchor="ctr"/>
          <a:lstStyle/>
          <a:p>
            <a:pPr/>
          </a:p>
        </p:txBody>
      </p:sp>
      <p:sp>
        <p:nvSpPr>
          <p:cNvPr id="433" name="Google Shape;320;p40"/>
          <p:cNvSpPr/>
          <p:nvPr/>
        </p:nvSpPr>
        <p:spPr>
          <a:xfrm>
            <a:off x="1371600" y="1097280"/>
            <a:ext cx="54864" cy="1005840"/>
          </a:xfrm>
          <a:prstGeom prst="rect">
            <a:avLst/>
          </a:prstGeom>
          <a:solidFill>
            <a:srgbClr val="F97316"/>
          </a:solidFill>
          <a:ln w="12700">
            <a:miter lim="400000"/>
          </a:ln>
        </p:spPr>
        <p:txBody>
          <a:bodyPr lIns="0" tIns="0" rIns="0" bIns="0" anchor="ctr"/>
          <a:lstStyle/>
          <a:p>
            <a:pPr/>
          </a:p>
        </p:txBody>
      </p:sp>
      <p:sp>
        <p:nvSpPr>
          <p:cNvPr id="434" name="Google Shape;321;p40"/>
          <p:cNvSpPr txBox="1"/>
          <p:nvPr/>
        </p:nvSpPr>
        <p:spPr>
          <a:xfrm>
            <a:off x="1645920" y="1226819"/>
            <a:ext cx="59436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97316"/>
                </a:solidFill>
                <a:latin typeface="Georgia"/>
                <a:ea typeface="Georgia"/>
                <a:cs typeface="Georgia"/>
                <a:sym typeface="Georgia"/>
              </a:defRPr>
            </a:lvl1pPr>
          </a:lstStyle>
          <a:p>
            <a:pPr/>
            <a:r>
              <a:t>Encapsulation</a:t>
            </a:r>
          </a:p>
        </p:txBody>
      </p:sp>
      <p:sp>
        <p:nvSpPr>
          <p:cNvPr id="435" name="Google Shape;322;p40"/>
          <p:cNvSpPr txBox="1"/>
          <p:nvPr/>
        </p:nvSpPr>
        <p:spPr>
          <a:xfrm>
            <a:off x="1645920" y="1734120"/>
            <a:ext cx="59436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9CA3AF"/>
                </a:solidFill>
                <a:latin typeface="Calibri Light"/>
                <a:ea typeface="Calibri Light"/>
                <a:cs typeface="Calibri Light"/>
                <a:sym typeface="Calibri Light"/>
              </a:defRPr>
            </a:lvl1pPr>
          </a:lstStyle>
          <a:p>
            <a:pPr/>
            <a:r>
              <a:t>Nascondi lo stato. Esponi solo quello che serve.</a:t>
            </a:r>
          </a:p>
        </p:txBody>
      </p:sp>
      <p:sp>
        <p:nvSpPr>
          <p:cNvPr id="436" name="Google Shape;323;p40"/>
          <p:cNvSpPr/>
          <p:nvPr/>
        </p:nvSpPr>
        <p:spPr>
          <a:xfrm>
            <a:off x="1371600" y="2286000"/>
            <a:ext cx="6400800" cy="1005839"/>
          </a:xfrm>
          <a:prstGeom prst="rect">
            <a:avLst/>
          </a:prstGeom>
          <a:solidFill>
            <a:srgbClr val="1A1D2B"/>
          </a:solidFill>
          <a:ln w="12700">
            <a:miter lim="400000"/>
          </a:ln>
        </p:spPr>
        <p:txBody>
          <a:bodyPr lIns="0" tIns="0" rIns="0" bIns="0" anchor="ctr"/>
          <a:lstStyle/>
          <a:p>
            <a:pPr/>
          </a:p>
        </p:txBody>
      </p:sp>
      <p:sp>
        <p:nvSpPr>
          <p:cNvPr id="437" name="Google Shape;324;p40"/>
          <p:cNvSpPr/>
          <p:nvPr/>
        </p:nvSpPr>
        <p:spPr>
          <a:xfrm>
            <a:off x="1371600" y="2286000"/>
            <a:ext cx="54864" cy="1005839"/>
          </a:xfrm>
          <a:prstGeom prst="rect">
            <a:avLst/>
          </a:prstGeom>
          <a:solidFill>
            <a:srgbClr val="F97316"/>
          </a:solidFill>
          <a:ln w="12700">
            <a:miter lim="400000"/>
          </a:ln>
        </p:spPr>
        <p:txBody>
          <a:bodyPr lIns="0" tIns="0" rIns="0" bIns="0" anchor="ctr"/>
          <a:lstStyle/>
          <a:p>
            <a:pPr/>
          </a:p>
        </p:txBody>
      </p:sp>
      <p:sp>
        <p:nvSpPr>
          <p:cNvPr id="438" name="Google Shape;325;p40"/>
          <p:cNvSpPr txBox="1"/>
          <p:nvPr/>
        </p:nvSpPr>
        <p:spPr>
          <a:xfrm>
            <a:off x="1645920" y="2415539"/>
            <a:ext cx="59436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97316"/>
                </a:solidFill>
                <a:latin typeface="Georgia"/>
                <a:ea typeface="Georgia"/>
                <a:cs typeface="Georgia"/>
                <a:sym typeface="Georgia"/>
              </a:defRPr>
            </a:lvl1pPr>
          </a:lstStyle>
          <a:p>
            <a:pPr/>
            <a:r>
              <a:t>Inheritance</a:t>
            </a:r>
          </a:p>
        </p:txBody>
      </p:sp>
      <p:sp>
        <p:nvSpPr>
          <p:cNvPr id="439" name="Google Shape;326;p40"/>
          <p:cNvSpPr txBox="1"/>
          <p:nvPr/>
        </p:nvSpPr>
        <p:spPr>
          <a:xfrm>
            <a:off x="1645920" y="2922840"/>
            <a:ext cx="59436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9CA3AF"/>
                </a:solidFill>
                <a:latin typeface="Calibri Light"/>
                <a:ea typeface="Calibri Light"/>
                <a:cs typeface="Calibri Light"/>
                <a:sym typeface="Calibri Light"/>
              </a:defRPr>
            </a:lvl1pPr>
          </a:lstStyle>
          <a:p>
            <a:pPr/>
            <a:r>
              <a:t>Riusa il codice. Non riscrivere quello che hai già.</a:t>
            </a:r>
          </a:p>
        </p:txBody>
      </p:sp>
      <p:sp>
        <p:nvSpPr>
          <p:cNvPr id="440" name="Google Shape;327;p40"/>
          <p:cNvSpPr/>
          <p:nvPr/>
        </p:nvSpPr>
        <p:spPr>
          <a:xfrm>
            <a:off x="1371600" y="3474720"/>
            <a:ext cx="6400800" cy="1005840"/>
          </a:xfrm>
          <a:prstGeom prst="rect">
            <a:avLst/>
          </a:prstGeom>
          <a:solidFill>
            <a:srgbClr val="1A1D2B"/>
          </a:solidFill>
          <a:ln w="12700">
            <a:miter lim="400000"/>
          </a:ln>
        </p:spPr>
        <p:txBody>
          <a:bodyPr lIns="0" tIns="0" rIns="0" bIns="0" anchor="ctr"/>
          <a:lstStyle/>
          <a:p>
            <a:pPr/>
          </a:p>
        </p:txBody>
      </p:sp>
      <p:sp>
        <p:nvSpPr>
          <p:cNvPr id="441" name="Google Shape;328;p40"/>
          <p:cNvSpPr/>
          <p:nvPr/>
        </p:nvSpPr>
        <p:spPr>
          <a:xfrm>
            <a:off x="1371600" y="3474720"/>
            <a:ext cx="54864" cy="1005840"/>
          </a:xfrm>
          <a:prstGeom prst="rect">
            <a:avLst/>
          </a:prstGeom>
          <a:solidFill>
            <a:srgbClr val="F97316"/>
          </a:solidFill>
          <a:ln w="12700">
            <a:miter lim="400000"/>
          </a:ln>
        </p:spPr>
        <p:txBody>
          <a:bodyPr lIns="0" tIns="0" rIns="0" bIns="0" anchor="ctr"/>
          <a:lstStyle/>
          <a:p>
            <a:pPr/>
          </a:p>
        </p:txBody>
      </p:sp>
      <p:sp>
        <p:nvSpPr>
          <p:cNvPr id="442" name="Google Shape;329;p40"/>
          <p:cNvSpPr txBox="1"/>
          <p:nvPr/>
        </p:nvSpPr>
        <p:spPr>
          <a:xfrm>
            <a:off x="1645920" y="3604259"/>
            <a:ext cx="59436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97316"/>
                </a:solidFill>
                <a:latin typeface="Georgia"/>
                <a:ea typeface="Georgia"/>
                <a:cs typeface="Georgia"/>
                <a:sym typeface="Georgia"/>
              </a:defRPr>
            </a:lvl1pPr>
          </a:lstStyle>
          <a:p>
            <a:pPr/>
            <a:r>
              <a:t>Polymorphism</a:t>
            </a:r>
          </a:p>
        </p:txBody>
      </p:sp>
      <p:sp>
        <p:nvSpPr>
          <p:cNvPr id="443" name="Google Shape;330;p40"/>
          <p:cNvSpPr txBox="1"/>
          <p:nvPr/>
        </p:nvSpPr>
        <p:spPr>
          <a:xfrm>
            <a:off x="1645920" y="4111560"/>
            <a:ext cx="59436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9CA3AF"/>
                </a:solidFill>
                <a:latin typeface="Calibri Light"/>
                <a:ea typeface="Calibri Light"/>
                <a:cs typeface="Calibri Light"/>
                <a:sym typeface="Calibri Light"/>
              </a:defRPr>
            </a:lvl1pPr>
          </a:lstStyle>
          <a:p>
            <a:pPr/>
            <a:r>
              <a:t>Scrivi codice che funziona su tipi diversi.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4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3" grpId="3"/>
      <p:bldP build="whole" bldLvl="1" animBg="1" rev="0" advAuto="0" spid="435" grpId="1"/>
      <p:bldP build="whole" bldLvl="1" animBg="1" rev="0" advAuto="0" spid="439"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447" name="Google Shape;336;p4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448" name="Google Shape;337;p4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449" name="Google Shape;338;p4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7 / 57</a:t>
            </a:r>
          </a:p>
        </p:txBody>
      </p:sp>
      <p:sp>
        <p:nvSpPr>
          <p:cNvPr id="450" name="Google Shape;339;p4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451" name="Google Shape;340;p41"/>
          <p:cNvSpPr/>
          <p:nvPr/>
        </p:nvSpPr>
        <p:spPr>
          <a:xfrm>
            <a:off x="457200" y="4983479"/>
            <a:ext cx="1010654" cy="36577"/>
          </a:xfrm>
          <a:prstGeom prst="rect">
            <a:avLst/>
          </a:prstGeom>
          <a:solidFill>
            <a:srgbClr val="F97316"/>
          </a:solidFill>
          <a:ln w="12700">
            <a:miter lim="400000"/>
          </a:ln>
        </p:spPr>
        <p:txBody>
          <a:bodyPr lIns="0" tIns="0" rIns="0" bIns="0" anchor="ctr"/>
          <a:lstStyle/>
          <a:p>
            <a:pPr/>
          </a:p>
        </p:txBody>
      </p:sp>
      <p:sp>
        <p:nvSpPr>
          <p:cNvPr id="452" name="Google Shape;341;p41"/>
          <p:cNvSpPr txBox="1"/>
          <p:nvPr/>
        </p:nvSpPr>
        <p:spPr>
          <a:xfrm>
            <a:off x="457200" y="391159"/>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Perché ci ha convinto</a:t>
            </a:r>
          </a:p>
        </p:txBody>
      </p:sp>
      <p:sp>
        <p:nvSpPr>
          <p:cNvPr id="453" name="Google Shape;342;p41"/>
          <p:cNvSpPr txBox="1"/>
          <p:nvPr/>
        </p:nvSpPr>
        <p:spPr>
          <a:xfrm>
            <a:off x="731519" y="1494484"/>
            <a:ext cx="7315201" cy="4857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700">
                <a:solidFill>
                  <a:srgbClr val="E5E7EB"/>
                </a:solidFill>
                <a:latin typeface="Calibri Light"/>
                <a:ea typeface="Calibri Light"/>
                <a:cs typeface="Calibri Light"/>
                <a:sym typeface="Calibri Light"/>
              </a:defRPr>
            </a:pPr>
            <a:r>
              <a:t>Il mondo è fatto di oggetti. Un cane ha stato — nome, età, razza.</a:t>
            </a:r>
          </a:p>
          <a:p>
            <a:pPr>
              <a:defRPr sz="1700">
                <a:solidFill>
                  <a:srgbClr val="E5E7EB"/>
                </a:solidFill>
                <a:latin typeface="Calibri Light"/>
                <a:ea typeface="Calibri Light"/>
                <a:cs typeface="Calibri Light"/>
                <a:sym typeface="Calibri Light"/>
              </a:defRPr>
            </a:pPr>
            <a:r>
              <a:t>Ha comportamento — abbaia, mangia, corre.</a:t>
            </a:r>
          </a:p>
        </p:txBody>
      </p:sp>
      <p:sp>
        <p:nvSpPr>
          <p:cNvPr id="454" name="Google Shape;343;p41"/>
          <p:cNvSpPr/>
          <p:nvPr/>
        </p:nvSpPr>
        <p:spPr>
          <a:xfrm>
            <a:off x="731519" y="2743200"/>
            <a:ext cx="7498082" cy="1097281"/>
          </a:xfrm>
          <a:prstGeom prst="rect">
            <a:avLst/>
          </a:prstGeom>
          <a:solidFill>
            <a:srgbClr val="1A1D2B"/>
          </a:solidFill>
          <a:ln w="12700">
            <a:miter lim="400000"/>
          </a:ln>
        </p:spPr>
        <p:txBody>
          <a:bodyPr lIns="0" tIns="0" rIns="0" bIns="0" anchor="ctr"/>
          <a:lstStyle/>
          <a:p>
            <a:pPr/>
          </a:p>
        </p:txBody>
      </p:sp>
      <p:sp>
        <p:nvSpPr>
          <p:cNvPr id="455" name="Google Shape;344;p41"/>
          <p:cNvSpPr/>
          <p:nvPr/>
        </p:nvSpPr>
        <p:spPr>
          <a:xfrm>
            <a:off x="731519" y="2743200"/>
            <a:ext cx="54865" cy="1097281"/>
          </a:xfrm>
          <a:prstGeom prst="rect">
            <a:avLst/>
          </a:prstGeom>
          <a:solidFill>
            <a:srgbClr val="F97316"/>
          </a:solidFill>
          <a:ln w="12700">
            <a:miter lim="400000"/>
          </a:ln>
        </p:spPr>
        <p:txBody>
          <a:bodyPr lIns="0" tIns="0" rIns="0" bIns="0" anchor="ctr"/>
          <a:lstStyle/>
          <a:p>
            <a:pPr/>
          </a:p>
        </p:txBody>
      </p:sp>
      <p:sp>
        <p:nvSpPr>
          <p:cNvPr id="456" name="Google Shape;345;p41"/>
          <p:cNvSpPr txBox="1"/>
          <p:nvPr/>
        </p:nvSpPr>
        <p:spPr>
          <a:xfrm>
            <a:off x="1005839" y="3060263"/>
            <a:ext cx="6949442"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F97316"/>
                </a:solidFill>
                <a:latin typeface="Calibri Light"/>
                <a:ea typeface="Calibri Light"/>
                <a:cs typeface="Calibri Light"/>
                <a:sym typeface="Calibri Light"/>
              </a:defRPr>
            </a:pPr>
            <a:r>
              <a:t>Questa intuizione è vera — ma solo fino a un certo punto.</a:t>
            </a:r>
          </a:p>
          <a:p>
            <a:pPr>
              <a:defRPr sz="1600">
                <a:solidFill>
                  <a:srgbClr val="F97316"/>
                </a:solidFill>
                <a:latin typeface="Calibri Light"/>
                <a:ea typeface="Calibri Light"/>
                <a:cs typeface="Calibri Light"/>
                <a:sym typeface="Calibri Light"/>
              </a:defRPr>
            </a:pPr>
            <a:r>
              <a:t>Il mondo reale è complicato. Le gerarchie rigide scricchiolano.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5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455"/>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6" grpId="3"/>
      <p:bldP build="whole" bldLvl="1" animBg="1" rev="0" advAuto="0" spid="455" grpId="2"/>
      <p:bldP build="whole" bldLvl="1" animBg="1" rev="0" advAuto="0" spid="454"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460" name="Google Shape;351;p42"/>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461" name="Google Shape;352;p42"/>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462" name="Google Shape;353;p42"/>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8 / 57</a:t>
            </a:r>
          </a:p>
        </p:txBody>
      </p:sp>
      <p:sp>
        <p:nvSpPr>
          <p:cNvPr id="463" name="Google Shape;354;p42"/>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464" name="Google Shape;355;p42"/>
          <p:cNvSpPr/>
          <p:nvPr/>
        </p:nvSpPr>
        <p:spPr>
          <a:xfrm>
            <a:off x="457200" y="4983479"/>
            <a:ext cx="1155033" cy="36577"/>
          </a:xfrm>
          <a:prstGeom prst="rect">
            <a:avLst/>
          </a:prstGeom>
          <a:solidFill>
            <a:srgbClr val="F97316"/>
          </a:solidFill>
          <a:ln w="12700">
            <a:miter lim="400000"/>
          </a:ln>
        </p:spPr>
        <p:txBody>
          <a:bodyPr lIns="0" tIns="0" rIns="0" bIns="0" anchor="ctr"/>
          <a:lstStyle/>
          <a:p>
            <a:pPr/>
          </a:p>
        </p:txBody>
      </p:sp>
      <p:sp>
        <p:nvSpPr>
          <p:cNvPr id="465" name="Google Shape;356;p42"/>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9CA3AF"/>
                </a:solidFill>
                <a:latin typeface="Georgia"/>
                <a:ea typeface="Georgia"/>
                <a:cs typeface="Georgia"/>
                <a:sym typeface="Georgia"/>
              </a:defRPr>
            </a:lvl1pPr>
          </a:lstStyle>
          <a:p>
            <a:pPr/>
            <a:r>
              <a:t>Il diagramma che tutti abbiamo disegnato</a:t>
            </a:r>
          </a:p>
        </p:txBody>
      </p:sp>
      <p:sp>
        <p:nvSpPr>
          <p:cNvPr id="466" name="Google Shape;357;p42"/>
          <p:cNvSpPr/>
          <p:nvPr/>
        </p:nvSpPr>
        <p:spPr>
          <a:xfrm>
            <a:off x="2926079" y="1005839"/>
            <a:ext cx="3200401" cy="411481"/>
          </a:xfrm>
          <a:prstGeom prst="rect">
            <a:avLst/>
          </a:prstGeom>
          <a:solidFill>
            <a:srgbClr val="1A1D2B"/>
          </a:solidFill>
          <a:ln w="12700">
            <a:miter lim="400000"/>
          </a:ln>
        </p:spPr>
        <p:txBody>
          <a:bodyPr lIns="0" tIns="0" rIns="0" bIns="0" anchor="ctr"/>
          <a:lstStyle/>
          <a:p>
            <a:pPr/>
          </a:p>
        </p:txBody>
      </p:sp>
      <p:sp>
        <p:nvSpPr>
          <p:cNvPr id="467" name="Google Shape;358;p42"/>
          <p:cNvSpPr txBox="1"/>
          <p:nvPr/>
        </p:nvSpPr>
        <p:spPr>
          <a:xfrm>
            <a:off x="2926079" y="1103629"/>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onsolas"/>
                <a:ea typeface="Consolas"/>
                <a:cs typeface="Consolas"/>
                <a:sym typeface="Consolas"/>
              </a:defRPr>
            </a:lvl1pPr>
          </a:lstStyle>
          <a:p>
            <a:pPr/>
            <a:r>
              <a:t>Animal</a:t>
            </a:r>
          </a:p>
        </p:txBody>
      </p:sp>
      <p:sp>
        <p:nvSpPr>
          <p:cNvPr id="468" name="Google Shape;359;p42"/>
          <p:cNvSpPr/>
          <p:nvPr/>
        </p:nvSpPr>
        <p:spPr>
          <a:xfrm>
            <a:off x="3063239" y="1600200"/>
            <a:ext cx="3200401" cy="411481"/>
          </a:xfrm>
          <a:prstGeom prst="rect">
            <a:avLst/>
          </a:prstGeom>
          <a:solidFill>
            <a:srgbClr val="1A1D2B"/>
          </a:solidFill>
          <a:ln w="12700">
            <a:miter lim="400000"/>
          </a:ln>
        </p:spPr>
        <p:txBody>
          <a:bodyPr lIns="0" tIns="0" rIns="0" bIns="0" anchor="ctr"/>
          <a:lstStyle/>
          <a:p>
            <a:pPr/>
          </a:p>
        </p:txBody>
      </p:sp>
      <p:sp>
        <p:nvSpPr>
          <p:cNvPr id="469" name="Google Shape;360;p42"/>
          <p:cNvSpPr txBox="1"/>
          <p:nvPr/>
        </p:nvSpPr>
        <p:spPr>
          <a:xfrm>
            <a:off x="3063239" y="1697989"/>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onsolas"/>
                <a:ea typeface="Consolas"/>
                <a:cs typeface="Consolas"/>
                <a:sym typeface="Consolas"/>
              </a:defRPr>
            </a:lvl1pPr>
          </a:lstStyle>
          <a:p>
            <a:pPr/>
            <a:r>
              <a:t>Vertebrate</a:t>
            </a:r>
          </a:p>
        </p:txBody>
      </p:sp>
      <p:sp>
        <p:nvSpPr>
          <p:cNvPr id="470" name="Google Shape;361;p42"/>
          <p:cNvSpPr txBox="1"/>
          <p:nvPr/>
        </p:nvSpPr>
        <p:spPr>
          <a:xfrm>
            <a:off x="4434840" y="1423416"/>
            <a:ext cx="457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B7280"/>
                </a:solidFill>
                <a:latin typeface="Calibri Light"/>
                <a:ea typeface="Calibri Light"/>
                <a:cs typeface="Calibri Light"/>
                <a:sym typeface="Calibri Light"/>
              </a:defRPr>
            </a:lvl1pPr>
          </a:lstStyle>
          <a:p>
            <a:pPr/>
            <a:r>
              <a:t>▼</a:t>
            </a:r>
          </a:p>
        </p:txBody>
      </p:sp>
      <p:sp>
        <p:nvSpPr>
          <p:cNvPr id="471" name="Google Shape;362;p42"/>
          <p:cNvSpPr/>
          <p:nvPr/>
        </p:nvSpPr>
        <p:spPr>
          <a:xfrm>
            <a:off x="3200400" y="2194560"/>
            <a:ext cx="3200400" cy="411481"/>
          </a:xfrm>
          <a:prstGeom prst="rect">
            <a:avLst/>
          </a:prstGeom>
          <a:solidFill>
            <a:srgbClr val="1A1D2B"/>
          </a:solidFill>
          <a:ln w="12700">
            <a:miter lim="400000"/>
          </a:ln>
        </p:spPr>
        <p:txBody>
          <a:bodyPr lIns="0" tIns="0" rIns="0" bIns="0" anchor="ctr"/>
          <a:lstStyle/>
          <a:p>
            <a:pPr/>
          </a:p>
        </p:txBody>
      </p:sp>
      <p:sp>
        <p:nvSpPr>
          <p:cNvPr id="472" name="Google Shape;363;p42"/>
          <p:cNvSpPr txBox="1"/>
          <p:nvPr/>
        </p:nvSpPr>
        <p:spPr>
          <a:xfrm>
            <a:off x="3200400" y="2292349"/>
            <a:ext cx="32004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onsolas"/>
                <a:ea typeface="Consolas"/>
                <a:cs typeface="Consolas"/>
                <a:sym typeface="Consolas"/>
              </a:defRPr>
            </a:lvl1pPr>
          </a:lstStyle>
          <a:p>
            <a:pPr/>
            <a:r>
              <a:t>Mammal</a:t>
            </a:r>
          </a:p>
        </p:txBody>
      </p:sp>
      <p:sp>
        <p:nvSpPr>
          <p:cNvPr id="473" name="Google Shape;364;p42"/>
          <p:cNvSpPr txBox="1"/>
          <p:nvPr/>
        </p:nvSpPr>
        <p:spPr>
          <a:xfrm>
            <a:off x="4572000" y="2017776"/>
            <a:ext cx="4572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B7280"/>
                </a:solidFill>
                <a:latin typeface="Calibri Light"/>
                <a:ea typeface="Calibri Light"/>
                <a:cs typeface="Calibri Light"/>
                <a:sym typeface="Calibri Light"/>
              </a:defRPr>
            </a:lvl1pPr>
          </a:lstStyle>
          <a:p>
            <a:pPr/>
            <a:r>
              <a:t>▼</a:t>
            </a:r>
          </a:p>
        </p:txBody>
      </p:sp>
      <p:sp>
        <p:nvSpPr>
          <p:cNvPr id="474" name="Google Shape;365;p42"/>
          <p:cNvSpPr/>
          <p:nvPr/>
        </p:nvSpPr>
        <p:spPr>
          <a:xfrm>
            <a:off x="3337559" y="2788920"/>
            <a:ext cx="3200401" cy="411481"/>
          </a:xfrm>
          <a:prstGeom prst="rect">
            <a:avLst/>
          </a:prstGeom>
          <a:solidFill>
            <a:srgbClr val="1A1D2B"/>
          </a:solidFill>
          <a:ln w="12700">
            <a:miter lim="400000"/>
          </a:ln>
        </p:spPr>
        <p:txBody>
          <a:bodyPr lIns="0" tIns="0" rIns="0" bIns="0" anchor="ctr"/>
          <a:lstStyle/>
          <a:p>
            <a:pPr/>
          </a:p>
        </p:txBody>
      </p:sp>
      <p:sp>
        <p:nvSpPr>
          <p:cNvPr id="475" name="Google Shape;366;p42"/>
          <p:cNvSpPr txBox="1"/>
          <p:nvPr/>
        </p:nvSpPr>
        <p:spPr>
          <a:xfrm>
            <a:off x="3337559" y="2886710"/>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onsolas"/>
                <a:ea typeface="Consolas"/>
                <a:cs typeface="Consolas"/>
                <a:sym typeface="Consolas"/>
              </a:defRPr>
            </a:lvl1pPr>
          </a:lstStyle>
          <a:p>
            <a:pPr/>
            <a:r>
              <a:t>Pet</a:t>
            </a:r>
          </a:p>
        </p:txBody>
      </p:sp>
      <p:sp>
        <p:nvSpPr>
          <p:cNvPr id="476" name="Google Shape;367;p42"/>
          <p:cNvSpPr txBox="1"/>
          <p:nvPr/>
        </p:nvSpPr>
        <p:spPr>
          <a:xfrm>
            <a:off x="4709159" y="2612135"/>
            <a:ext cx="457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B7280"/>
                </a:solidFill>
                <a:latin typeface="Calibri Light"/>
                <a:ea typeface="Calibri Light"/>
                <a:cs typeface="Calibri Light"/>
                <a:sym typeface="Calibri Light"/>
              </a:defRPr>
            </a:lvl1pPr>
          </a:lstStyle>
          <a:p>
            <a:pPr/>
            <a:r>
              <a:t>▼</a:t>
            </a:r>
          </a:p>
        </p:txBody>
      </p:sp>
      <p:sp>
        <p:nvSpPr>
          <p:cNvPr id="477" name="Google Shape;368;p42"/>
          <p:cNvSpPr/>
          <p:nvPr/>
        </p:nvSpPr>
        <p:spPr>
          <a:xfrm>
            <a:off x="3474720" y="3383279"/>
            <a:ext cx="3200401" cy="411481"/>
          </a:xfrm>
          <a:prstGeom prst="rect">
            <a:avLst/>
          </a:prstGeom>
          <a:solidFill>
            <a:srgbClr val="1A1D2B"/>
          </a:solidFill>
          <a:ln w="12700">
            <a:miter lim="400000"/>
          </a:ln>
        </p:spPr>
        <p:txBody>
          <a:bodyPr lIns="0" tIns="0" rIns="0" bIns="0" anchor="ctr"/>
          <a:lstStyle/>
          <a:p>
            <a:pPr/>
          </a:p>
        </p:txBody>
      </p:sp>
      <p:sp>
        <p:nvSpPr>
          <p:cNvPr id="478" name="Google Shape;369;p42"/>
          <p:cNvSpPr txBox="1"/>
          <p:nvPr/>
        </p:nvSpPr>
        <p:spPr>
          <a:xfrm>
            <a:off x="3474720" y="3481070"/>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onsolas"/>
                <a:ea typeface="Consolas"/>
                <a:cs typeface="Consolas"/>
                <a:sym typeface="Consolas"/>
              </a:defRPr>
            </a:lvl1pPr>
          </a:lstStyle>
          <a:p>
            <a:pPr/>
            <a:r>
              <a:t>Dog</a:t>
            </a:r>
          </a:p>
        </p:txBody>
      </p:sp>
      <p:sp>
        <p:nvSpPr>
          <p:cNvPr id="479" name="Google Shape;370;p42"/>
          <p:cNvSpPr txBox="1"/>
          <p:nvPr/>
        </p:nvSpPr>
        <p:spPr>
          <a:xfrm>
            <a:off x="4846320" y="3206496"/>
            <a:ext cx="457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B7280"/>
                </a:solidFill>
                <a:latin typeface="Calibri Light"/>
                <a:ea typeface="Calibri Light"/>
                <a:cs typeface="Calibri Light"/>
                <a:sym typeface="Calibri Light"/>
              </a:defRPr>
            </a:lvl1pPr>
          </a:lstStyle>
          <a:p>
            <a:pPr/>
            <a:r>
              <a:t>▼</a:t>
            </a:r>
          </a:p>
        </p:txBody>
      </p:sp>
      <p:sp>
        <p:nvSpPr>
          <p:cNvPr id="480" name="Google Shape;371;p42"/>
          <p:cNvSpPr/>
          <p:nvPr/>
        </p:nvSpPr>
        <p:spPr>
          <a:xfrm>
            <a:off x="3611879" y="3977640"/>
            <a:ext cx="3200401" cy="411481"/>
          </a:xfrm>
          <a:prstGeom prst="rect">
            <a:avLst/>
          </a:prstGeom>
          <a:solidFill>
            <a:srgbClr val="2A1A08"/>
          </a:solidFill>
          <a:ln w="12700">
            <a:miter lim="400000"/>
          </a:ln>
        </p:spPr>
        <p:txBody>
          <a:bodyPr lIns="0" tIns="0" rIns="0" bIns="0" anchor="ctr"/>
          <a:lstStyle/>
          <a:p>
            <a:pPr/>
          </a:p>
        </p:txBody>
      </p:sp>
      <p:sp>
        <p:nvSpPr>
          <p:cNvPr id="481" name="Google Shape;372;p42"/>
          <p:cNvSpPr/>
          <p:nvPr/>
        </p:nvSpPr>
        <p:spPr>
          <a:xfrm>
            <a:off x="3611879" y="3977640"/>
            <a:ext cx="3200401" cy="36577"/>
          </a:xfrm>
          <a:prstGeom prst="rect">
            <a:avLst/>
          </a:prstGeom>
          <a:solidFill>
            <a:srgbClr val="F97316"/>
          </a:solidFill>
          <a:ln w="12700">
            <a:miter lim="400000"/>
          </a:ln>
        </p:spPr>
        <p:txBody>
          <a:bodyPr lIns="0" tIns="0" rIns="0" bIns="0" anchor="ctr"/>
          <a:lstStyle/>
          <a:p>
            <a:pPr/>
          </a:p>
        </p:txBody>
      </p:sp>
      <p:sp>
        <p:nvSpPr>
          <p:cNvPr id="482" name="Google Shape;373;p42"/>
          <p:cNvSpPr txBox="1"/>
          <p:nvPr/>
        </p:nvSpPr>
        <p:spPr>
          <a:xfrm>
            <a:off x="3611879" y="4075430"/>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F97316"/>
                </a:solidFill>
                <a:latin typeface="Consolas"/>
                <a:ea typeface="Consolas"/>
                <a:cs typeface="Consolas"/>
                <a:sym typeface="Consolas"/>
              </a:defRPr>
            </a:lvl1pPr>
          </a:lstStyle>
          <a:p>
            <a:pPr/>
            <a:r>
              <a:t>GoldenRetriever</a:t>
            </a:r>
          </a:p>
        </p:txBody>
      </p:sp>
      <p:sp>
        <p:nvSpPr>
          <p:cNvPr id="483" name="Google Shape;374;p42"/>
          <p:cNvSpPr txBox="1"/>
          <p:nvPr/>
        </p:nvSpPr>
        <p:spPr>
          <a:xfrm>
            <a:off x="4983479" y="3800855"/>
            <a:ext cx="4572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B7280"/>
                </a:solidFill>
                <a:latin typeface="Calibri Light"/>
                <a:ea typeface="Calibri Light"/>
                <a:cs typeface="Calibri Light"/>
                <a:sym typeface="Calibri Light"/>
              </a:defRPr>
            </a:lvl1pPr>
          </a:lstStyle>
          <a:p>
            <a:pPr/>
            <a:r>
              <a:t>▼</a:t>
            </a:r>
          </a:p>
        </p:txBody>
      </p:sp>
      <p:sp>
        <p:nvSpPr>
          <p:cNvPr id="484" name="Google Shape;375;p42"/>
          <p:cNvSpPr txBox="1"/>
          <p:nvPr/>
        </p:nvSpPr>
        <p:spPr>
          <a:xfrm>
            <a:off x="1828800" y="4614480"/>
            <a:ext cx="5486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Bella. Finché non arriva il business.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4"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488" name="Google Shape;381;p43"/>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489" name="Google Shape;382;p43"/>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490" name="Google Shape;383;p43"/>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9 / 57</a:t>
            </a:r>
          </a:p>
        </p:txBody>
      </p:sp>
      <p:sp>
        <p:nvSpPr>
          <p:cNvPr id="491" name="Google Shape;384;p43"/>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492" name="Google Shape;385;p43"/>
          <p:cNvSpPr/>
          <p:nvPr/>
        </p:nvSpPr>
        <p:spPr>
          <a:xfrm>
            <a:off x="457200" y="4983479"/>
            <a:ext cx="1299411" cy="36577"/>
          </a:xfrm>
          <a:prstGeom prst="rect">
            <a:avLst/>
          </a:prstGeom>
          <a:solidFill>
            <a:srgbClr val="F97316"/>
          </a:solidFill>
          <a:ln w="12700">
            <a:miter lim="400000"/>
          </a:ln>
        </p:spPr>
        <p:txBody>
          <a:bodyPr lIns="0" tIns="0" rIns="0" bIns="0" anchor="ctr"/>
          <a:lstStyle/>
          <a:p>
            <a:pPr/>
          </a:p>
        </p:txBody>
      </p:sp>
      <p:sp>
        <p:nvSpPr>
          <p:cNvPr id="493" name="Google Shape;386;p43"/>
          <p:cNvSpPr txBox="1"/>
          <p:nvPr/>
        </p:nvSpPr>
        <p:spPr>
          <a:xfrm>
            <a:off x="457200" y="391159"/>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E poi è arrivato il business</a:t>
            </a:r>
          </a:p>
        </p:txBody>
      </p:sp>
      <p:sp>
        <p:nvSpPr>
          <p:cNvPr id="494" name="Google Shape;387;p43"/>
          <p:cNvSpPr/>
          <p:nvPr/>
        </p:nvSpPr>
        <p:spPr>
          <a:xfrm>
            <a:off x="1371600" y="1188719"/>
            <a:ext cx="6400800" cy="1828801"/>
          </a:xfrm>
          <a:prstGeom prst="rect">
            <a:avLst/>
          </a:prstGeom>
          <a:solidFill>
            <a:srgbClr val="1A1D2B"/>
          </a:solidFill>
          <a:ln w="12700">
            <a:miter lim="400000"/>
          </a:ln>
        </p:spPr>
        <p:txBody>
          <a:bodyPr lIns="0" tIns="0" rIns="0" bIns="0" anchor="ctr"/>
          <a:lstStyle/>
          <a:p>
            <a:pPr/>
          </a:p>
        </p:txBody>
      </p:sp>
      <p:sp>
        <p:nvSpPr>
          <p:cNvPr id="495" name="Google Shape;388;p43"/>
          <p:cNvSpPr txBox="1"/>
          <p:nvPr/>
        </p:nvSpPr>
        <p:spPr>
          <a:xfrm>
            <a:off x="1645920" y="1462063"/>
            <a:ext cx="5943601"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onsolas"/>
                <a:ea typeface="Consolas"/>
                <a:cs typeface="Consolas"/>
                <a:sym typeface="Consolas"/>
              </a:defRPr>
            </a:lvl1pPr>
          </a:lstStyle>
          <a:p>
            <a:pPr/>
            <a:r>
              <a:t>WorkingDog →  Dog  o  ServiceAnimal?</a:t>
            </a:r>
          </a:p>
        </p:txBody>
      </p:sp>
      <p:sp>
        <p:nvSpPr>
          <p:cNvPr id="496" name="Google Shape;389;p43"/>
          <p:cNvSpPr txBox="1"/>
          <p:nvPr/>
        </p:nvSpPr>
        <p:spPr>
          <a:xfrm>
            <a:off x="1645920" y="1964983"/>
            <a:ext cx="5943601"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onsolas"/>
                <a:ea typeface="Consolas"/>
                <a:cs typeface="Consolas"/>
                <a:sym typeface="Consolas"/>
              </a:defRPr>
            </a:lvl1pPr>
          </a:lstStyle>
          <a:p>
            <a:pPr/>
            <a:r>
              <a:t>ServiceAnimal →  Animal  o  interfaccia?</a:t>
            </a:r>
          </a:p>
        </p:txBody>
      </p:sp>
      <p:sp>
        <p:nvSpPr>
          <p:cNvPr id="497" name="Google Shape;390;p43"/>
          <p:cNvSpPr txBox="1"/>
          <p:nvPr/>
        </p:nvSpPr>
        <p:spPr>
          <a:xfrm>
            <a:off x="1645920" y="2467903"/>
            <a:ext cx="5943601" cy="230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onsolas"/>
                <a:ea typeface="Consolas"/>
                <a:cs typeface="Consolas"/>
                <a:sym typeface="Consolas"/>
              </a:defRPr>
            </a:lvl1pPr>
          </a:lstStyle>
          <a:p>
            <a:pPr/>
            <a:r>
              <a:t>HybridPet →  ???</a:t>
            </a:r>
          </a:p>
        </p:txBody>
      </p:sp>
      <p:sp>
        <p:nvSpPr>
          <p:cNvPr id="498" name="Google Shape;391;p43"/>
          <p:cNvSpPr/>
          <p:nvPr/>
        </p:nvSpPr>
        <p:spPr>
          <a:xfrm>
            <a:off x="1371600" y="3474720"/>
            <a:ext cx="6400800" cy="914401"/>
          </a:xfrm>
          <a:prstGeom prst="rect">
            <a:avLst/>
          </a:prstGeom>
          <a:solidFill>
            <a:srgbClr val="1A1D2B"/>
          </a:solidFill>
          <a:ln w="12700">
            <a:miter lim="400000"/>
          </a:ln>
        </p:spPr>
        <p:txBody>
          <a:bodyPr lIns="0" tIns="0" rIns="0" bIns="0" anchor="ctr"/>
          <a:lstStyle/>
          <a:p>
            <a:pPr/>
          </a:p>
        </p:txBody>
      </p:sp>
      <p:sp>
        <p:nvSpPr>
          <p:cNvPr id="499" name="Google Shape;392;p43"/>
          <p:cNvSpPr/>
          <p:nvPr/>
        </p:nvSpPr>
        <p:spPr>
          <a:xfrm>
            <a:off x="1371600" y="3474720"/>
            <a:ext cx="54864" cy="914401"/>
          </a:xfrm>
          <a:prstGeom prst="rect">
            <a:avLst/>
          </a:prstGeom>
          <a:solidFill>
            <a:srgbClr val="EF4444"/>
          </a:solidFill>
          <a:ln w="12700">
            <a:miter lim="400000"/>
          </a:ln>
        </p:spPr>
        <p:txBody>
          <a:bodyPr lIns="0" tIns="0" rIns="0" bIns="0" anchor="ctr"/>
          <a:lstStyle/>
          <a:p>
            <a:pPr/>
          </a:p>
        </p:txBody>
      </p:sp>
      <p:sp>
        <p:nvSpPr>
          <p:cNvPr id="500" name="Google Shape;393;p43"/>
          <p:cNvSpPr txBox="1"/>
          <p:nvPr/>
        </p:nvSpPr>
        <p:spPr>
          <a:xfrm>
            <a:off x="1645920" y="3724341"/>
            <a:ext cx="594360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EF4444"/>
                </a:solidFill>
                <a:latin typeface="Calibri Light"/>
                <a:ea typeface="Calibri Light"/>
                <a:cs typeface="Calibri Light"/>
                <a:sym typeface="Calibri Light"/>
              </a:defRPr>
            </a:pPr>
            <a:r>
              <a:t>L'OOP ci ha dato gli strumenti per costruire la lavagna.</a:t>
            </a:r>
          </a:p>
          <a:p>
            <a:pPr>
              <a:defRPr sz="1500">
                <a:solidFill>
                  <a:srgbClr val="EF4444"/>
                </a:solidFill>
                <a:latin typeface="Calibri Light"/>
                <a:ea typeface="Calibri Light"/>
                <a:cs typeface="Calibri Light"/>
                <a:sym typeface="Calibri Light"/>
              </a:defRPr>
            </a:pPr>
            <a:r>
              <a:t>Non ci ha dato gli strumenti per capire quando smettere.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98"/>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499"/>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5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8" grpId="1"/>
      <p:bldP build="whole" bldLvl="1" animBg="1" rev="0" advAuto="0" spid="499" grpId="2"/>
      <p:bldP build="whole" bldLvl="1" animBg="1" rev="0" advAuto="0" spid="500" grpId="3"/>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04" name="Google Shape;399;p44"/>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05" name="Google Shape;400;p44"/>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506" name="Google Shape;401;p4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10 / 57</a:t>
            </a:r>
          </a:p>
        </p:txBody>
      </p:sp>
      <p:sp>
        <p:nvSpPr>
          <p:cNvPr id="507" name="Google Shape;402;p4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08" name="Google Shape;403;p44"/>
          <p:cNvSpPr/>
          <p:nvPr/>
        </p:nvSpPr>
        <p:spPr>
          <a:xfrm>
            <a:off x="457200" y="4983479"/>
            <a:ext cx="1443790" cy="36577"/>
          </a:xfrm>
          <a:prstGeom prst="rect">
            <a:avLst/>
          </a:prstGeom>
          <a:solidFill>
            <a:srgbClr val="F97316"/>
          </a:solidFill>
          <a:ln w="12700">
            <a:miter lim="400000"/>
          </a:ln>
        </p:spPr>
        <p:txBody>
          <a:bodyPr lIns="0" tIns="0" rIns="0" bIns="0" anchor="ctr"/>
          <a:lstStyle/>
          <a:p>
            <a:pPr/>
          </a:p>
        </p:txBody>
      </p:sp>
      <p:sp>
        <p:nvSpPr>
          <p:cNvPr id="509" name="Google Shape;404;p44"/>
          <p:cNvSpPr txBox="1"/>
          <p:nvPr/>
        </p:nvSpPr>
        <p:spPr>
          <a:xfrm>
            <a:off x="731519" y="839469"/>
            <a:ext cx="3657601" cy="1155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0">
                <a:solidFill>
                  <a:srgbClr val="F97316"/>
                </a:solidFill>
                <a:latin typeface="Georgia"/>
                <a:ea typeface="Georgia"/>
                <a:cs typeface="Georgia"/>
                <a:sym typeface="Georgia"/>
              </a:defRPr>
            </a:lvl1pPr>
          </a:lstStyle>
          <a:p>
            <a:pPr/>
            <a:r>
              <a:t>1995</a:t>
            </a:r>
          </a:p>
        </p:txBody>
      </p:sp>
      <p:sp>
        <p:nvSpPr>
          <p:cNvPr id="510" name="Google Shape;405;p44"/>
          <p:cNvSpPr txBox="1"/>
          <p:nvPr/>
        </p:nvSpPr>
        <p:spPr>
          <a:xfrm>
            <a:off x="731519" y="2174240"/>
            <a:ext cx="5486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Java e il mainstream</a:t>
            </a:r>
          </a:p>
        </p:txBody>
      </p:sp>
      <p:sp>
        <p:nvSpPr>
          <p:cNvPr id="511" name="Google Shape;406;p44"/>
          <p:cNvSpPr txBox="1"/>
          <p:nvPr/>
        </p:nvSpPr>
        <p:spPr>
          <a:xfrm>
            <a:off x="731519" y="3151703"/>
            <a:ext cx="50292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9CA3AF"/>
                </a:solidFill>
                <a:latin typeface="Calibri Light"/>
                <a:ea typeface="Calibri Light"/>
                <a:cs typeface="Calibri Light"/>
                <a:sym typeface="Calibri Light"/>
              </a:defRPr>
            </a:pPr>
            <a:r>
              <a:t>Java non ha inventato l'OOP. Ma l'ha portato ovunque.</a:t>
            </a:r>
          </a:p>
          <a:p>
            <a:pPr>
              <a:defRPr sz="1600">
                <a:solidFill>
                  <a:srgbClr val="9CA3AF"/>
                </a:solidFill>
                <a:latin typeface="Calibri Light"/>
                <a:ea typeface="Calibri Light"/>
                <a:cs typeface="Calibri Light"/>
                <a:sym typeface="Calibri Light"/>
              </a:defRPr>
            </a:pPr>
            <a:r>
              <a:t>Nelle università, nei libri, nelle aziende.</a:t>
            </a:r>
          </a:p>
        </p:txBody>
      </p:sp>
      <p:sp>
        <p:nvSpPr>
          <p:cNvPr id="512" name="Google Shape;407;p44"/>
          <p:cNvSpPr txBox="1"/>
          <p:nvPr/>
        </p:nvSpPr>
        <p:spPr>
          <a:xfrm>
            <a:off x="731519" y="4042980"/>
            <a:ext cx="50292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6B7280"/>
                </a:solidFill>
                <a:latin typeface="Calibri Light"/>
                <a:ea typeface="Calibri Light"/>
                <a:cs typeface="Calibri Light"/>
                <a:sym typeface="Calibri Light"/>
              </a:defRPr>
            </a:pPr>
            <a:r>
              <a:t>Quello che tutti insegnano diventa</a:t>
            </a:r>
          </a:p>
          <a:p>
            <a:pPr>
              <a:defRPr>
                <a:solidFill>
                  <a:srgbClr val="6B7280"/>
                </a:solidFill>
                <a:latin typeface="Calibri Light"/>
                <a:ea typeface="Calibri Light"/>
                <a:cs typeface="Calibri Light"/>
                <a:sym typeface="Calibri Light"/>
              </a:defRPr>
            </a:pPr>
            <a:r>
              <a:t>quello che tutti danno per scontato.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5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2" grpId="2"/>
      <p:bldP build="whole" bldLvl="1" animBg="1" rev="0" advAuto="0" spid="511"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16" name="Google Shape;413;p45"/>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17" name="Google Shape;414;p45"/>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518" name="Google Shape;415;p45"/>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11 / 57</a:t>
            </a:r>
          </a:p>
        </p:txBody>
      </p:sp>
      <p:sp>
        <p:nvSpPr>
          <p:cNvPr id="519" name="Google Shape;416;p45"/>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20" name="Google Shape;417;p45"/>
          <p:cNvSpPr/>
          <p:nvPr/>
        </p:nvSpPr>
        <p:spPr>
          <a:xfrm>
            <a:off x="457200" y="4983479"/>
            <a:ext cx="1588168" cy="36577"/>
          </a:xfrm>
          <a:prstGeom prst="rect">
            <a:avLst/>
          </a:prstGeom>
          <a:solidFill>
            <a:srgbClr val="F97316"/>
          </a:solidFill>
          <a:ln w="12700">
            <a:miter lim="400000"/>
          </a:ln>
        </p:spPr>
        <p:txBody>
          <a:bodyPr lIns="0" tIns="0" rIns="0" bIns="0" anchor="ctr"/>
          <a:lstStyle/>
          <a:p>
            <a:pPr/>
          </a:p>
        </p:txBody>
      </p:sp>
      <p:sp>
        <p:nvSpPr>
          <p:cNvPr id="521" name="Google Shape;418;p45"/>
          <p:cNvSpPr txBox="1"/>
          <p:nvPr/>
        </p:nvSpPr>
        <p:spPr>
          <a:xfrm>
            <a:off x="914400" y="825499"/>
            <a:ext cx="73152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6B7280"/>
                </a:solidFill>
                <a:latin typeface="Consolas"/>
                <a:ea typeface="Consolas"/>
                <a:cs typeface="Consolas"/>
                <a:sym typeface="Consolas"/>
              </a:defRPr>
            </a:lvl1pPr>
          </a:lstStyle>
          <a:p>
            <a:pPr/>
            <a:r>
              <a:t>1994 — Design Patterns, p. 20</a:t>
            </a:r>
          </a:p>
        </p:txBody>
      </p:sp>
      <p:sp>
        <p:nvSpPr>
          <p:cNvPr id="522" name="Google Shape;419;p45"/>
          <p:cNvSpPr txBox="1"/>
          <p:nvPr/>
        </p:nvSpPr>
        <p:spPr>
          <a:xfrm>
            <a:off x="914400" y="1737360"/>
            <a:ext cx="7315200"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i="1" sz="3200">
                <a:solidFill>
                  <a:srgbClr val="F97316"/>
                </a:solidFill>
                <a:latin typeface="Georgia"/>
                <a:ea typeface="Georgia"/>
                <a:cs typeface="Georgia"/>
                <a:sym typeface="Georgia"/>
              </a:defRPr>
            </a:pPr>
            <a:r>
              <a:t>"Favor object composition</a:t>
            </a:r>
            <a:endParaRPr i="0">
              <a:latin typeface="Calibri Light"/>
              <a:ea typeface="Calibri Light"/>
              <a:cs typeface="Calibri Light"/>
              <a:sym typeface="Calibri Light"/>
            </a:endParaRPr>
          </a:p>
          <a:p>
            <a:pPr algn="ctr">
              <a:defRPr i="1" sz="3200">
                <a:solidFill>
                  <a:srgbClr val="F97316"/>
                </a:solidFill>
                <a:latin typeface="Georgia"/>
                <a:ea typeface="Georgia"/>
                <a:cs typeface="Georgia"/>
                <a:sym typeface="Georgia"/>
              </a:defRPr>
            </a:pPr>
            <a:r>
              <a:t>over class inheritance."</a:t>
            </a:r>
          </a:p>
        </p:txBody>
      </p:sp>
      <p:sp>
        <p:nvSpPr>
          <p:cNvPr id="523" name="Google Shape;420;p45"/>
          <p:cNvSpPr/>
          <p:nvPr/>
        </p:nvSpPr>
        <p:spPr>
          <a:xfrm>
            <a:off x="3840479" y="3200400"/>
            <a:ext cx="1463041" cy="36577"/>
          </a:xfrm>
          <a:prstGeom prst="rect">
            <a:avLst/>
          </a:prstGeom>
          <a:solidFill>
            <a:srgbClr val="F97316"/>
          </a:solidFill>
          <a:ln w="12700">
            <a:miter lim="400000"/>
          </a:ln>
        </p:spPr>
        <p:txBody>
          <a:bodyPr lIns="0" tIns="0" rIns="0" bIns="0" anchor="ctr"/>
          <a:lstStyle/>
          <a:p>
            <a:pPr/>
          </a:p>
        </p:txBody>
      </p:sp>
      <p:sp>
        <p:nvSpPr>
          <p:cNvPr id="524" name="Google Shape;421;p45"/>
          <p:cNvSpPr txBox="1"/>
          <p:nvPr/>
        </p:nvSpPr>
        <p:spPr>
          <a:xfrm>
            <a:off x="1371600" y="3608903"/>
            <a:ext cx="640080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600">
                <a:solidFill>
                  <a:srgbClr val="9CA3AF"/>
                </a:solidFill>
                <a:latin typeface="Calibri Light"/>
                <a:ea typeface="Calibri Light"/>
                <a:cs typeface="Calibri Light"/>
                <a:sym typeface="Calibri Light"/>
              </a:defRPr>
            </a:pPr>
            <a:r>
              <a:t>Lo abbiamo letto. Lo abbiamo sottolineato.</a:t>
            </a:r>
          </a:p>
          <a:p>
            <a:pPr algn="ctr">
              <a:defRPr sz="1600">
                <a:solidFill>
                  <a:srgbClr val="9CA3AF"/>
                </a:solidFill>
                <a:latin typeface="Calibri Light"/>
                <a:ea typeface="Calibri Light"/>
                <a:cs typeface="Calibri Light"/>
                <a:sym typeface="Calibri Light"/>
              </a:defRPr>
            </a:pPr>
            <a:r>
              <a:t>Lo abbiamo messo sullo scaffale.</a:t>
            </a:r>
          </a:p>
        </p:txBody>
      </p:sp>
      <p:sp>
        <p:nvSpPr>
          <p:cNvPr id="525" name="Google Shape;422;p45"/>
          <p:cNvSpPr txBox="1"/>
          <p:nvPr/>
        </p:nvSpPr>
        <p:spPr>
          <a:xfrm>
            <a:off x="1371600" y="4313793"/>
            <a:ext cx="6400800" cy="24209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600">
                <a:solidFill>
                  <a:srgbClr val="E5E7EB"/>
                </a:solidFill>
                <a:latin typeface="Calibri Light"/>
                <a:ea typeface="Calibri Light"/>
                <a:cs typeface="Calibri Light"/>
                <a:sym typeface="Calibri Light"/>
              </a:defRPr>
            </a:pPr>
            <a:r>
              <a:t>E poi siamo andati avanti a scrivere </a:t>
            </a:r>
            <a:r>
              <a:rPr b="1">
                <a:solidFill>
                  <a:srgbClr val="F97316"/>
                </a:solidFill>
                <a:latin typeface="Consolas"/>
                <a:ea typeface="Consolas"/>
                <a:cs typeface="Consolas"/>
                <a:sym typeface="Consolas"/>
              </a:rPr>
              <a:t>extends</a:t>
            </a:r>
            <a:r>
              <a: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5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4" grpId="1"/>
      <p:bldP build="whole" bldLvl="1" animBg="1" rev="0" advAuto="0" spid="525" grpId="2"/>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29" name="Google Shape;428;p4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30" name="Google Shape;429;p4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531" name="Google Shape;430;p4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12 / 57</a:t>
            </a:r>
          </a:p>
        </p:txBody>
      </p:sp>
      <p:sp>
        <p:nvSpPr>
          <p:cNvPr id="532" name="Google Shape;431;p4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33" name="Google Shape;432;p46"/>
          <p:cNvSpPr/>
          <p:nvPr/>
        </p:nvSpPr>
        <p:spPr>
          <a:xfrm>
            <a:off x="457200" y="4983479"/>
            <a:ext cx="1732547" cy="36577"/>
          </a:xfrm>
          <a:prstGeom prst="rect">
            <a:avLst/>
          </a:prstGeom>
          <a:solidFill>
            <a:srgbClr val="F97316"/>
          </a:solidFill>
          <a:ln w="12700">
            <a:miter lim="400000"/>
          </a:ln>
        </p:spPr>
        <p:txBody>
          <a:bodyPr lIns="0" tIns="0" rIns="0" bIns="0" anchor="ctr"/>
          <a:lstStyle/>
          <a:p>
            <a:pPr/>
          </a:p>
        </p:txBody>
      </p:sp>
      <p:sp>
        <p:nvSpPr>
          <p:cNvPr id="534" name="Google Shape;433;p46"/>
          <p:cNvSpPr txBox="1"/>
          <p:nvPr/>
        </p:nvSpPr>
        <p:spPr>
          <a:xfrm>
            <a:off x="914400" y="1399539"/>
            <a:ext cx="7315200"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200">
                <a:solidFill>
                  <a:srgbClr val="6B7280"/>
                </a:solidFill>
                <a:latin typeface="Georgia"/>
                <a:ea typeface="Georgia"/>
                <a:cs typeface="Georgia"/>
                <a:sym typeface="Georgia"/>
              </a:defRPr>
            </a:lvl1pPr>
          </a:lstStyle>
          <a:p>
            <a:pPr/>
            <a:r>
              <a:t>2026</a:t>
            </a:r>
          </a:p>
        </p:txBody>
      </p:sp>
      <p:sp>
        <p:nvSpPr>
          <p:cNvPr id="535" name="Google Shape;434;p46"/>
          <p:cNvSpPr txBox="1"/>
          <p:nvPr/>
        </p:nvSpPr>
        <p:spPr>
          <a:xfrm>
            <a:off x="457200" y="2924810"/>
            <a:ext cx="822960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97316"/>
                </a:solidFill>
                <a:latin typeface="Consolas"/>
                <a:ea typeface="Consolas"/>
                <a:cs typeface="Consolas"/>
                <a:sym typeface="Consolas"/>
              </a:defRPr>
            </a:lvl1pPr>
          </a:lstStyle>
          <a:p>
            <a:pPr/>
            <a:r>
              <a:t>AbstractBaseServiceFactoryImpl</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37" name="Google Shape;440;p4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38" name="Google Shape;441;p4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539" name="Google Shape;442;p4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13 / 57</a:t>
            </a:r>
          </a:p>
        </p:txBody>
      </p:sp>
      <p:sp>
        <p:nvSpPr>
          <p:cNvPr id="540" name="Google Shape;443;p4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41" name="Google Shape;444;p47"/>
          <p:cNvSpPr/>
          <p:nvPr/>
        </p:nvSpPr>
        <p:spPr>
          <a:xfrm>
            <a:off x="457200" y="4983479"/>
            <a:ext cx="1876926" cy="36577"/>
          </a:xfrm>
          <a:prstGeom prst="rect">
            <a:avLst/>
          </a:prstGeom>
          <a:solidFill>
            <a:srgbClr val="F97316"/>
          </a:solidFill>
          <a:ln w="12700">
            <a:miter lim="400000"/>
          </a:ln>
        </p:spPr>
        <p:txBody>
          <a:bodyPr lIns="0" tIns="0" rIns="0" bIns="0" anchor="ctr"/>
          <a:lstStyle/>
          <a:p>
            <a:pPr/>
          </a:p>
        </p:txBody>
      </p:sp>
      <p:sp>
        <p:nvSpPr>
          <p:cNvPr id="542" name="Google Shape;445;p47"/>
          <p:cNvSpPr txBox="1"/>
          <p:nvPr/>
        </p:nvSpPr>
        <p:spPr>
          <a:xfrm>
            <a:off x="914400" y="130936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F4444"/>
                </a:solidFill>
                <a:latin typeface="Consolas"/>
                <a:ea typeface="Consolas"/>
                <a:cs typeface="Consolas"/>
                <a:sym typeface="Consolas"/>
              </a:defRPr>
            </a:lvl1pPr>
          </a:lstStyle>
          <a:p>
            <a:pPr/>
            <a:r>
              <a:t>CREPA #1</a:t>
            </a:r>
          </a:p>
        </p:txBody>
      </p:sp>
      <p:sp>
        <p:nvSpPr>
          <p:cNvPr id="543" name="Google Shape;446;p47"/>
          <p:cNvSpPr txBox="1"/>
          <p:nvPr/>
        </p:nvSpPr>
        <p:spPr>
          <a:xfrm>
            <a:off x="457200" y="2059939"/>
            <a:ext cx="822960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400">
                <a:solidFill>
                  <a:srgbClr val="FFFFFF"/>
                </a:solidFill>
                <a:latin typeface="Georgia"/>
                <a:ea typeface="Georgia"/>
                <a:cs typeface="Georgia"/>
                <a:sym typeface="Georgia"/>
              </a:defRPr>
            </a:lvl1pPr>
          </a:lstStyle>
          <a:p>
            <a:pPr/>
            <a:r>
              <a:t>Fragile Base Class</a:t>
            </a:r>
          </a:p>
        </p:txBody>
      </p:sp>
      <p:sp>
        <p:nvSpPr>
          <p:cNvPr id="544" name="Google Shape;447;p47"/>
          <p:cNvSpPr txBox="1"/>
          <p:nvPr/>
        </p:nvSpPr>
        <p:spPr>
          <a:xfrm>
            <a:off x="914400" y="3125296"/>
            <a:ext cx="73152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800">
                <a:solidFill>
                  <a:srgbClr val="9CA3AF"/>
                </a:solidFill>
                <a:latin typeface="Calibri Light"/>
                <a:ea typeface="Calibri Light"/>
                <a:cs typeface="Calibri Light"/>
                <a:sym typeface="Calibri Light"/>
              </a:defRPr>
            </a:lvl1pPr>
          </a:lstStyle>
          <a:p>
            <a:pPr/>
            <a:r>
              <a:t>Una conseguenza strutturale dell'ereditarietà</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4" grpId="2"/>
      <p:bldP build="whole" bldLvl="1" animBg="1" rev="0" advAuto="0" spid="543"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48" name="Google Shape;453;p4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49" name="Google Shape;454;p4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550" name="Google Shape;455;p4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14 / 57</a:t>
            </a:r>
          </a:p>
        </p:txBody>
      </p:sp>
      <p:sp>
        <p:nvSpPr>
          <p:cNvPr id="551" name="Google Shape;456;p4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52" name="Google Shape;457;p48"/>
          <p:cNvSpPr/>
          <p:nvPr/>
        </p:nvSpPr>
        <p:spPr>
          <a:xfrm>
            <a:off x="457200" y="4983479"/>
            <a:ext cx="2021304" cy="36577"/>
          </a:xfrm>
          <a:prstGeom prst="rect">
            <a:avLst/>
          </a:prstGeom>
          <a:solidFill>
            <a:srgbClr val="F97316"/>
          </a:solidFill>
          <a:ln w="12700">
            <a:miter lim="400000"/>
          </a:ln>
        </p:spPr>
        <p:txBody>
          <a:bodyPr lIns="0" tIns="0" rIns="0" bIns="0" anchor="ctr"/>
          <a:lstStyle/>
          <a:p>
            <a:pPr/>
          </a:p>
        </p:txBody>
      </p:sp>
      <p:sp>
        <p:nvSpPr>
          <p:cNvPr id="553" name="Google Shape;458;p48"/>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La gerarchia</a:t>
            </a:r>
          </a:p>
        </p:txBody>
      </p:sp>
      <p:sp>
        <p:nvSpPr>
          <p:cNvPr id="554" name="Google Shape;459;p48"/>
          <p:cNvSpPr/>
          <p:nvPr/>
        </p:nvSpPr>
        <p:spPr>
          <a:xfrm>
            <a:off x="914400" y="1097279"/>
            <a:ext cx="7315200" cy="2926082"/>
          </a:xfrm>
          <a:prstGeom prst="rect">
            <a:avLst/>
          </a:prstGeom>
          <a:solidFill>
            <a:srgbClr val="12141F"/>
          </a:solidFill>
          <a:ln w="12700">
            <a:miter lim="400000"/>
          </a:ln>
        </p:spPr>
        <p:txBody>
          <a:bodyPr lIns="0" tIns="0" rIns="0" bIns="0" anchor="ctr"/>
          <a:lstStyle/>
          <a:p>
            <a:pPr/>
          </a:p>
        </p:txBody>
      </p:sp>
      <p:sp>
        <p:nvSpPr>
          <p:cNvPr id="555" name="Google Shape;460;p48"/>
          <p:cNvSpPr txBox="1"/>
          <p:nvPr/>
        </p:nvSpPr>
        <p:spPr>
          <a:xfrm>
            <a:off x="1188719" y="1645920"/>
            <a:ext cx="685800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3B82F6"/>
                </a:solidFill>
                <a:latin typeface="Consolas"/>
                <a:ea typeface="Consolas"/>
                <a:cs typeface="Consolas"/>
                <a:sym typeface="Consolas"/>
              </a:defRPr>
            </a:pPr>
            <a:r>
              <a:t>class </a:t>
            </a:r>
            <a:r>
              <a:rPr>
                <a:solidFill>
                  <a:srgbClr val="F97316"/>
                </a:solidFill>
              </a:rPr>
              <a:t>Collection {</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  add(element) { ... }</a:t>
            </a:r>
            <a:endParaRPr>
              <a:latin typeface="Calibri Light"/>
              <a:ea typeface="Calibri Light"/>
              <a:cs typeface="Calibri Light"/>
              <a:sym typeface="Calibri Light"/>
            </a:endParaRPr>
          </a:p>
          <a:p>
            <a:pPr/>
            <a:endParaRPr sz="1500">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  addAll(list) {</a:t>
            </a:r>
            <a:endParaRPr>
              <a:latin typeface="Calibri Light"/>
              <a:ea typeface="Calibri Light"/>
              <a:cs typeface="Calibri Light"/>
              <a:sym typeface="Calibri Light"/>
            </a:endParaRPr>
          </a:p>
          <a:p>
            <a:pPr>
              <a:defRPr sz="1500">
                <a:solidFill>
                  <a:srgbClr val="6B7280"/>
                </a:solidFill>
                <a:latin typeface="Consolas"/>
                <a:ea typeface="Consolas"/>
                <a:cs typeface="Consolas"/>
                <a:sym typeface="Consolas"/>
              </a:defRPr>
            </a:pPr>
            <a:r>
              <a:t>    // itera e chiama add() per ogni elemento</a:t>
            </a:r>
            <a:endParaRPr>
              <a:latin typeface="Calibri Light"/>
              <a:ea typeface="Calibri Light"/>
              <a:cs typeface="Calibri Light"/>
              <a:sym typeface="Calibri Light"/>
            </a:endParaRPr>
          </a:p>
          <a:p>
            <a:pPr>
              <a:defRPr sz="1500">
                <a:solidFill>
                  <a:srgbClr val="EAB308"/>
                </a:solidFill>
                <a:latin typeface="Consolas"/>
                <a:ea typeface="Consolas"/>
                <a:cs typeface="Consolas"/>
                <a:sym typeface="Consolas"/>
              </a:defRPr>
            </a:pPr>
            <a:r>
              <a:t>    list.forEach(e =&gt; this.add(e))</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  }</a:t>
            </a:r>
            <a:endParaRPr>
              <a:latin typeface="Calibri Light"/>
              <a:ea typeface="Calibri Light"/>
              <a:cs typeface="Calibri Light"/>
              <a:sym typeface="Calibri Light"/>
            </a:endParaRPr>
          </a:p>
          <a:p>
            <a:pPr>
              <a:defRPr sz="1500">
                <a:solidFill>
                  <a:srgbClr val="F97316"/>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57" name="Google Shape;466;p4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58" name="Google Shape;467;p4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559" name="Google Shape;468;p4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15 / 57</a:t>
            </a:r>
          </a:p>
        </p:txBody>
      </p:sp>
      <p:sp>
        <p:nvSpPr>
          <p:cNvPr id="560" name="Google Shape;469;p4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61" name="Google Shape;470;p49"/>
          <p:cNvSpPr/>
          <p:nvPr/>
        </p:nvSpPr>
        <p:spPr>
          <a:xfrm>
            <a:off x="457199" y="4983479"/>
            <a:ext cx="2165686" cy="36577"/>
          </a:xfrm>
          <a:prstGeom prst="rect">
            <a:avLst/>
          </a:prstGeom>
          <a:solidFill>
            <a:srgbClr val="F97316"/>
          </a:solidFill>
          <a:ln w="12700">
            <a:miter lim="400000"/>
          </a:ln>
        </p:spPr>
        <p:txBody>
          <a:bodyPr lIns="0" tIns="0" rIns="0" bIns="0" anchor="ctr"/>
          <a:lstStyle/>
          <a:p>
            <a:pPr/>
          </a:p>
        </p:txBody>
      </p:sp>
      <p:sp>
        <p:nvSpPr>
          <p:cNvPr id="562" name="Google Shape;471;p49"/>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La sottoclasse innocente</a:t>
            </a:r>
          </a:p>
        </p:txBody>
      </p:sp>
      <p:sp>
        <p:nvSpPr>
          <p:cNvPr id="563" name="Google Shape;472;p49"/>
          <p:cNvSpPr/>
          <p:nvPr/>
        </p:nvSpPr>
        <p:spPr>
          <a:xfrm>
            <a:off x="914400" y="1097280"/>
            <a:ext cx="7315200" cy="2743201"/>
          </a:xfrm>
          <a:prstGeom prst="rect">
            <a:avLst/>
          </a:prstGeom>
          <a:solidFill>
            <a:srgbClr val="12141F"/>
          </a:solidFill>
          <a:ln w="12700">
            <a:miter lim="400000"/>
          </a:ln>
        </p:spPr>
        <p:txBody>
          <a:bodyPr lIns="0" tIns="0" rIns="0" bIns="0" anchor="ctr"/>
          <a:lstStyle/>
          <a:p>
            <a:pPr/>
          </a:p>
        </p:txBody>
      </p:sp>
      <p:sp>
        <p:nvSpPr>
          <p:cNvPr id="564" name="Google Shape;473;p49"/>
          <p:cNvSpPr txBox="1"/>
          <p:nvPr/>
        </p:nvSpPr>
        <p:spPr>
          <a:xfrm>
            <a:off x="1188719" y="1598930"/>
            <a:ext cx="6858001" cy="173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3B82F6"/>
                </a:solidFill>
                <a:latin typeface="Consolas"/>
                <a:ea typeface="Consolas"/>
                <a:cs typeface="Consolas"/>
                <a:sym typeface="Consolas"/>
              </a:defRPr>
            </a:pPr>
            <a:r>
              <a:t>class </a:t>
            </a:r>
            <a:r>
              <a:rPr>
                <a:solidFill>
                  <a:srgbClr val="F97316"/>
                </a:solidFill>
              </a:rPr>
              <a:t>InstrumentedCollection</a:t>
            </a:r>
            <a:r>
              <a:t> extends </a:t>
            </a:r>
            <a:r>
              <a:rPr>
                <a:solidFill>
                  <a:srgbClr val="E5E7EB"/>
                </a:solidFill>
              </a:rPr>
              <a:t>Collection {</a:t>
            </a:r>
            <a:endParaRPr>
              <a:latin typeface="Calibri Light"/>
              <a:ea typeface="Calibri Light"/>
              <a:cs typeface="Calibri Light"/>
              <a:sym typeface="Calibri Light"/>
            </a:endParaRPr>
          </a:p>
          <a:p>
            <a:pPr>
              <a:defRPr>
                <a:solidFill>
                  <a:srgbClr val="9CA3AF"/>
                </a:solidFill>
                <a:latin typeface="Consolas"/>
                <a:ea typeface="Consolas"/>
                <a:cs typeface="Consolas"/>
                <a:sym typeface="Consolas"/>
              </a:defRPr>
            </a:pPr>
            <a:r>
              <a:t>  count = 0</a:t>
            </a:r>
            <a:endParaRPr>
              <a:latin typeface="Calibri Light"/>
              <a:ea typeface="Calibri Light"/>
              <a:cs typeface="Calibri Light"/>
              <a:sym typeface="Calibri Light"/>
            </a:endParaRPr>
          </a:p>
          <a:p>
            <a:pPr/>
            <a:endParaRPr>
              <a:latin typeface="Calibri Light"/>
              <a:ea typeface="Calibri Light"/>
              <a:cs typeface="Calibri Light"/>
              <a:sym typeface="Calibri Light"/>
            </a:endParaRPr>
          </a:p>
          <a:p>
            <a:pPr>
              <a:defRPr>
                <a:solidFill>
                  <a:srgbClr val="22C55E"/>
                </a:solidFill>
                <a:latin typeface="Consolas"/>
                <a:ea typeface="Consolas"/>
                <a:cs typeface="Consolas"/>
                <a:sym typeface="Consolas"/>
              </a:defRPr>
            </a:pPr>
            <a:r>
              <a:t>  add(e) { count++; super.add(e) }</a:t>
            </a:r>
            <a:endParaRPr>
              <a:latin typeface="Calibri Light"/>
              <a:ea typeface="Calibri Light"/>
              <a:cs typeface="Calibri Light"/>
              <a:sym typeface="Calibri Light"/>
            </a:endParaRPr>
          </a:p>
          <a:p>
            <a:pPr>
              <a:defRPr>
                <a:solidFill>
                  <a:srgbClr val="22C55E"/>
                </a:solidFill>
                <a:latin typeface="Consolas"/>
                <a:ea typeface="Consolas"/>
                <a:cs typeface="Consolas"/>
                <a:sym typeface="Consolas"/>
              </a:defRPr>
            </a:pPr>
            <a:r>
              <a:t>  addAll(list) { </a:t>
            </a:r>
          </a:p>
          <a:p>
            <a:pPr>
              <a:defRPr>
                <a:solidFill>
                  <a:srgbClr val="22C55E"/>
                </a:solidFill>
                <a:latin typeface="Consolas"/>
                <a:ea typeface="Consolas"/>
                <a:cs typeface="Consolas"/>
                <a:sym typeface="Consolas"/>
              </a:defRPr>
            </a:pPr>
            <a:r>
              <a:t>     count += list.size();</a:t>
            </a:r>
            <a:endParaRPr>
              <a:latin typeface="Calibri Light"/>
              <a:ea typeface="Calibri Light"/>
              <a:cs typeface="Calibri Light"/>
              <a:sym typeface="Calibri Light"/>
            </a:endParaRPr>
          </a:p>
          <a:p>
            <a:pPr>
              <a:defRPr>
                <a:solidFill>
                  <a:srgbClr val="22C55E"/>
                </a:solidFill>
                <a:latin typeface="Consolas"/>
                <a:ea typeface="Consolas"/>
                <a:cs typeface="Consolas"/>
                <a:sym typeface="Consolas"/>
              </a:defRPr>
            </a:pPr>
            <a:r>
              <a:t>     super.addAll(list) </a:t>
            </a:r>
            <a:br/>
            <a:r>
              <a:t>  }</a:t>
            </a:r>
          </a:p>
        </p:txBody>
      </p:sp>
      <p:sp>
        <p:nvSpPr>
          <p:cNvPr id="565" name="Google Shape;474;p49"/>
          <p:cNvSpPr txBox="1"/>
          <p:nvPr/>
        </p:nvSpPr>
        <p:spPr>
          <a:xfrm>
            <a:off x="1828800" y="4203000"/>
            <a:ext cx="5486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Sembra corretto. Vero?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5"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67" name="Google Shape;480;p5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68" name="Google Shape;481;p5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569" name="Google Shape;482;p5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16 / 57</a:t>
            </a:r>
          </a:p>
        </p:txBody>
      </p:sp>
      <p:sp>
        <p:nvSpPr>
          <p:cNvPr id="570" name="Google Shape;483;p5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71" name="Google Shape;484;p50"/>
          <p:cNvSpPr/>
          <p:nvPr/>
        </p:nvSpPr>
        <p:spPr>
          <a:xfrm>
            <a:off x="457199" y="4983479"/>
            <a:ext cx="2310065" cy="36577"/>
          </a:xfrm>
          <a:prstGeom prst="rect">
            <a:avLst/>
          </a:prstGeom>
          <a:solidFill>
            <a:srgbClr val="F97316"/>
          </a:solidFill>
          <a:ln w="12700">
            <a:miter lim="400000"/>
          </a:ln>
        </p:spPr>
        <p:txBody>
          <a:bodyPr lIns="0" tIns="0" rIns="0" bIns="0" anchor="ctr"/>
          <a:lstStyle/>
          <a:p>
            <a:pPr/>
          </a:p>
        </p:txBody>
      </p:sp>
      <p:sp>
        <p:nvSpPr>
          <p:cNvPr id="572" name="Google Shape;485;p50"/>
          <p:cNvSpPr/>
          <p:nvPr/>
        </p:nvSpPr>
        <p:spPr>
          <a:xfrm>
            <a:off x="2286000" y="731519"/>
            <a:ext cx="4572000" cy="1645922"/>
          </a:xfrm>
          <a:prstGeom prst="rect">
            <a:avLst/>
          </a:prstGeom>
          <a:solidFill>
            <a:srgbClr val="12141F"/>
          </a:solidFill>
          <a:ln w="12700">
            <a:miter lim="400000"/>
          </a:ln>
        </p:spPr>
        <p:txBody>
          <a:bodyPr lIns="0" tIns="0" rIns="0" bIns="0" anchor="ctr"/>
          <a:lstStyle/>
          <a:p>
            <a:pPr/>
          </a:p>
        </p:txBody>
      </p:sp>
      <p:sp>
        <p:nvSpPr>
          <p:cNvPr id="573" name="Google Shape;486;p50"/>
          <p:cNvSpPr/>
          <p:nvPr/>
        </p:nvSpPr>
        <p:spPr>
          <a:xfrm>
            <a:off x="2286000" y="731519"/>
            <a:ext cx="4572000" cy="45721"/>
          </a:xfrm>
          <a:prstGeom prst="rect">
            <a:avLst/>
          </a:prstGeom>
          <a:solidFill>
            <a:srgbClr val="EF4444"/>
          </a:solidFill>
          <a:ln w="12700">
            <a:miter lim="400000"/>
          </a:ln>
        </p:spPr>
        <p:txBody>
          <a:bodyPr lIns="0" tIns="0" rIns="0" bIns="0" anchor="ctr"/>
          <a:lstStyle/>
          <a:p>
            <a:pPr/>
          </a:p>
        </p:txBody>
      </p:sp>
      <p:sp>
        <p:nvSpPr>
          <p:cNvPr id="574" name="Google Shape;487;p50"/>
          <p:cNvSpPr txBox="1"/>
          <p:nvPr/>
        </p:nvSpPr>
        <p:spPr>
          <a:xfrm>
            <a:off x="2560320" y="976630"/>
            <a:ext cx="4114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9CA3AF"/>
                </a:solidFill>
                <a:latin typeface="Consolas"/>
                <a:ea typeface="Consolas"/>
                <a:cs typeface="Consolas"/>
                <a:sym typeface="Consolas"/>
              </a:defRPr>
            </a:lvl1pPr>
          </a:lstStyle>
          <a:p>
            <a:pPr/>
            <a:r>
              <a:t>addAll([a, b, c])</a:t>
            </a:r>
          </a:p>
        </p:txBody>
      </p:sp>
      <p:sp>
        <p:nvSpPr>
          <p:cNvPr id="575" name="Google Shape;488;p50"/>
          <p:cNvSpPr txBox="1"/>
          <p:nvPr/>
        </p:nvSpPr>
        <p:spPr>
          <a:xfrm>
            <a:off x="2560320" y="1362710"/>
            <a:ext cx="4114801" cy="749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800">
                <a:solidFill>
                  <a:srgbClr val="6B7280"/>
                </a:solidFill>
                <a:latin typeface="Consolas"/>
                <a:ea typeface="Consolas"/>
                <a:cs typeface="Consolas"/>
                <a:sym typeface="Consolas"/>
              </a:defRPr>
            </a:pPr>
            <a:r>
              <a:t>count → </a:t>
            </a:r>
            <a:r>
              <a:rPr b="1" sz="5200">
                <a:solidFill>
                  <a:srgbClr val="EF4444"/>
                </a:solidFill>
                <a:latin typeface="Georgia"/>
                <a:ea typeface="Georgia"/>
                <a:cs typeface="Georgia"/>
                <a:sym typeface="Georgia"/>
              </a:rPr>
              <a:t>6</a:t>
            </a:r>
          </a:p>
        </p:txBody>
      </p:sp>
      <p:sp>
        <p:nvSpPr>
          <p:cNvPr id="576" name="Google Shape;489;p50"/>
          <p:cNvSpPr txBox="1"/>
          <p:nvPr/>
        </p:nvSpPr>
        <p:spPr>
          <a:xfrm>
            <a:off x="1097280" y="2911804"/>
            <a:ext cx="6858001" cy="4857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700">
                <a:solidFill>
                  <a:srgbClr val="E5E7EB"/>
                </a:solidFill>
                <a:latin typeface="Calibri Light"/>
                <a:ea typeface="Calibri Light"/>
                <a:cs typeface="Calibri Light"/>
                <a:sym typeface="Calibri Light"/>
              </a:defRPr>
            </a:pPr>
            <a:r>
              <a:t>addAll() della superclasse chiama add() internamente.</a:t>
            </a:r>
          </a:p>
          <a:p>
            <a:pPr algn="ctr">
              <a:defRPr sz="1700">
                <a:solidFill>
                  <a:srgbClr val="E5E7EB"/>
                </a:solidFill>
                <a:latin typeface="Calibri Light"/>
                <a:ea typeface="Calibri Light"/>
                <a:cs typeface="Calibri Light"/>
                <a:sym typeface="Calibri Light"/>
              </a:defRPr>
            </a:pPr>
            <a:r>
              <a:t>Il nostro override conta due volte.</a:t>
            </a:r>
          </a:p>
        </p:txBody>
      </p:sp>
      <p:sp>
        <p:nvSpPr>
          <p:cNvPr id="577" name="Google Shape;490;p50"/>
          <p:cNvSpPr txBox="1"/>
          <p:nvPr/>
        </p:nvSpPr>
        <p:spPr>
          <a:xfrm>
            <a:off x="1371600" y="3997260"/>
            <a:ext cx="6400800"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a:solidFill>
                  <a:srgbClr val="6B7280"/>
                </a:solidFill>
                <a:latin typeface="Calibri Light"/>
                <a:ea typeface="Calibri Light"/>
                <a:cs typeface="Calibri Light"/>
                <a:sym typeface="Calibri Light"/>
              </a:defRPr>
            </a:pPr>
            <a:r>
              <a:t>Non abbiamo fatto nulla di sbagliato.</a:t>
            </a:r>
          </a:p>
          <a:p>
            <a:pPr algn="ctr">
              <a:defRPr>
                <a:solidFill>
                  <a:srgbClr val="6B7280"/>
                </a:solidFill>
                <a:latin typeface="Calibri Light"/>
                <a:ea typeface="Calibri Light"/>
                <a:cs typeface="Calibri Light"/>
                <a:sym typeface="Calibri Light"/>
              </a:defRPr>
            </a:pPr>
            <a:r>
              <a:t>Abbiamo usato l'ereditarietà esattamente come ci hanno insegnato.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5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76" grpId="2"/>
      <p:bldP build="whole" bldLvl="1" animBg="1" rev="0" advAuto="0" spid="577" grpId="3"/>
      <p:bldP build="whole" bldLvl="1" animBg="1" rev="0" advAuto="0" spid="575"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81" name="Google Shape;496;p5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82" name="Google Shape;497;p5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583" name="Google Shape;498;p5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17 / 57</a:t>
            </a:r>
          </a:p>
        </p:txBody>
      </p:sp>
      <p:sp>
        <p:nvSpPr>
          <p:cNvPr id="584" name="Google Shape;499;p5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85" name="Google Shape;500;p51"/>
          <p:cNvSpPr/>
          <p:nvPr/>
        </p:nvSpPr>
        <p:spPr>
          <a:xfrm>
            <a:off x="457200" y="4983479"/>
            <a:ext cx="2454443" cy="36577"/>
          </a:xfrm>
          <a:prstGeom prst="rect">
            <a:avLst/>
          </a:prstGeom>
          <a:solidFill>
            <a:srgbClr val="F97316"/>
          </a:solidFill>
          <a:ln w="12700">
            <a:miter lim="400000"/>
          </a:ln>
        </p:spPr>
        <p:txBody>
          <a:bodyPr lIns="0" tIns="0" rIns="0" bIns="0" anchor="ctr"/>
          <a:lstStyle/>
          <a:p>
            <a:pPr/>
          </a:p>
        </p:txBody>
      </p:sp>
      <p:sp>
        <p:nvSpPr>
          <p:cNvPr id="586" name="Google Shape;501;p51"/>
          <p:cNvSpPr/>
          <p:nvPr/>
        </p:nvSpPr>
        <p:spPr>
          <a:xfrm>
            <a:off x="914400" y="731519"/>
            <a:ext cx="7315200" cy="1371601"/>
          </a:xfrm>
          <a:prstGeom prst="rect">
            <a:avLst/>
          </a:prstGeom>
          <a:solidFill>
            <a:srgbClr val="1A1D2B"/>
          </a:solidFill>
          <a:ln w="12700">
            <a:miter lim="400000"/>
          </a:ln>
        </p:spPr>
        <p:txBody>
          <a:bodyPr lIns="0" tIns="0" rIns="0" bIns="0" anchor="ctr"/>
          <a:lstStyle/>
          <a:p>
            <a:pPr/>
          </a:p>
        </p:txBody>
      </p:sp>
      <p:sp>
        <p:nvSpPr>
          <p:cNvPr id="587" name="Google Shape;502;p51"/>
          <p:cNvSpPr/>
          <p:nvPr/>
        </p:nvSpPr>
        <p:spPr>
          <a:xfrm>
            <a:off x="914400" y="731519"/>
            <a:ext cx="54864" cy="1371601"/>
          </a:xfrm>
          <a:prstGeom prst="rect">
            <a:avLst/>
          </a:prstGeom>
          <a:solidFill>
            <a:srgbClr val="F97316"/>
          </a:solidFill>
          <a:ln w="12700">
            <a:miter lim="400000"/>
          </a:ln>
        </p:spPr>
        <p:txBody>
          <a:bodyPr lIns="0" tIns="0" rIns="0" bIns="0" anchor="ctr"/>
          <a:lstStyle/>
          <a:p>
            <a:pPr/>
          </a:p>
        </p:txBody>
      </p:sp>
      <p:sp>
        <p:nvSpPr>
          <p:cNvPr id="588" name="Google Shape;503;p51"/>
          <p:cNvSpPr txBox="1"/>
          <p:nvPr/>
        </p:nvSpPr>
        <p:spPr>
          <a:xfrm>
            <a:off x="1188720" y="1137920"/>
            <a:ext cx="676656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2000">
                <a:solidFill>
                  <a:srgbClr val="F97316"/>
                </a:solidFill>
                <a:latin typeface="Georgia"/>
                <a:ea typeface="Georgia"/>
                <a:cs typeface="Georgia"/>
                <a:sym typeface="Georgia"/>
              </a:defRPr>
            </a:pPr>
            <a:r>
              <a:t>"L'ereditarietà espone i dettagli implementativi.</a:t>
            </a:r>
            <a:endParaRPr>
              <a:latin typeface="Calibri Light"/>
              <a:ea typeface="Calibri Light"/>
              <a:cs typeface="Calibri Light"/>
              <a:sym typeface="Calibri Light"/>
            </a:endParaRPr>
          </a:p>
          <a:p>
            <a:pPr>
              <a:defRPr sz="2000">
                <a:solidFill>
                  <a:srgbClr val="F97316"/>
                </a:solidFill>
                <a:latin typeface="Georgia"/>
                <a:ea typeface="Georgia"/>
                <a:cs typeface="Georgia"/>
                <a:sym typeface="Georgia"/>
              </a:defRPr>
            </a:pPr>
            <a:r>
              <a:t>Non è encapsulation — è il contrario."</a:t>
            </a:r>
          </a:p>
        </p:txBody>
      </p:sp>
      <p:sp>
        <p:nvSpPr>
          <p:cNvPr id="589" name="Google Shape;504;p51"/>
          <p:cNvSpPr/>
          <p:nvPr/>
        </p:nvSpPr>
        <p:spPr>
          <a:xfrm>
            <a:off x="1371600" y="2560320"/>
            <a:ext cx="6400800" cy="1828801"/>
          </a:xfrm>
          <a:prstGeom prst="rect">
            <a:avLst/>
          </a:prstGeom>
          <a:solidFill>
            <a:srgbClr val="1A1D2B"/>
          </a:solidFill>
          <a:ln w="12700">
            <a:miter lim="400000"/>
          </a:ln>
        </p:spPr>
        <p:txBody>
          <a:bodyPr lIns="0" tIns="0" rIns="0" bIns="0" anchor="ctr"/>
          <a:lstStyle/>
          <a:p>
            <a:pPr/>
          </a:p>
        </p:txBody>
      </p:sp>
      <p:sp>
        <p:nvSpPr>
          <p:cNvPr id="590" name="Google Shape;505;p51"/>
          <p:cNvSpPr txBox="1"/>
          <p:nvPr/>
        </p:nvSpPr>
        <p:spPr>
          <a:xfrm>
            <a:off x="1645920" y="2772409"/>
            <a:ext cx="5943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9CA3AF"/>
                </a:solidFill>
                <a:latin typeface="Consolas"/>
                <a:ea typeface="Consolas"/>
                <a:cs typeface="Consolas"/>
                <a:sym typeface="Consolas"/>
              </a:defRPr>
            </a:lvl1pPr>
          </a:lstStyle>
          <a:p>
            <a:pPr/>
            <a:r>
              <a:t>java.util.Stack extends Vector</a:t>
            </a:r>
          </a:p>
        </p:txBody>
      </p:sp>
      <p:sp>
        <p:nvSpPr>
          <p:cNvPr id="591" name="Google Shape;506;p51"/>
          <p:cNvSpPr txBox="1"/>
          <p:nvPr/>
        </p:nvSpPr>
        <p:spPr>
          <a:xfrm>
            <a:off x="1645920" y="3320702"/>
            <a:ext cx="5943601" cy="2165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E5E7EB"/>
                </a:solidFill>
                <a:latin typeface="Calibri Light"/>
                <a:ea typeface="Calibri Light"/>
                <a:cs typeface="Calibri Light"/>
                <a:sym typeface="Calibri Light"/>
              </a:defRPr>
            </a:pPr>
            <a:r>
              <a:t>Stack espone </a:t>
            </a:r>
            <a:r>
              <a:rPr>
                <a:solidFill>
                  <a:srgbClr val="EF4444"/>
                </a:solidFill>
                <a:latin typeface="Consolas"/>
                <a:ea typeface="Consolas"/>
                <a:cs typeface="Consolas"/>
                <a:sym typeface="Consolas"/>
              </a:rPr>
              <a:t>get(index)</a:t>
            </a:r>
            <a:r>
              <a:t>, </a:t>
            </a:r>
            <a:r>
              <a:rPr>
                <a:solidFill>
                  <a:srgbClr val="EF4444"/>
                </a:solidFill>
                <a:latin typeface="Consolas"/>
                <a:ea typeface="Consolas"/>
                <a:cs typeface="Consolas"/>
                <a:sym typeface="Consolas"/>
              </a:rPr>
              <a:t>insertElementAt()</a:t>
            </a:r>
            <a:r>
              <a:t>, </a:t>
            </a:r>
            <a:r>
              <a:rPr>
                <a:solidFill>
                  <a:srgbClr val="EF4444"/>
                </a:solidFill>
                <a:latin typeface="Consolas"/>
                <a:ea typeface="Consolas"/>
                <a:cs typeface="Consolas"/>
                <a:sym typeface="Consolas"/>
              </a:rPr>
              <a:t>remove(index)</a:t>
            </a:r>
          </a:p>
        </p:txBody>
      </p:sp>
      <p:sp>
        <p:nvSpPr>
          <p:cNvPr id="592" name="Google Shape;507;p51"/>
          <p:cNvSpPr txBox="1"/>
          <p:nvPr/>
        </p:nvSpPr>
        <p:spPr>
          <a:xfrm>
            <a:off x="1645920" y="3944927"/>
            <a:ext cx="59436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6B7280"/>
                </a:solidFill>
                <a:latin typeface="Calibri Light"/>
                <a:ea typeface="Calibri Light"/>
                <a:cs typeface="Calibri Light"/>
                <a:sym typeface="Calibri Light"/>
              </a:defRPr>
            </a:lvl1pPr>
          </a:lstStyle>
          <a:p>
            <a:pPr/>
            <a:r>
              <a:t>Trent'anni di debito tecnico in una singola riga di ereditarietà.</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89"/>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590"/>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591"/>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5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90" grpId="2"/>
      <p:bldP build="whole" bldLvl="1" animBg="1" rev="0" advAuto="0" spid="591" grpId="3"/>
      <p:bldP build="whole" bldLvl="1" animBg="1" rev="0" advAuto="0" spid="589" grpId="1"/>
      <p:bldP build="whole" bldLvl="1" animBg="1" rev="0" advAuto="0" spid="592" grpId="4"/>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594" name="Google Shape;428;p4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595" name="Google Shape;429;p4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1</a:t>
            </a:r>
          </a:p>
        </p:txBody>
      </p:sp>
      <p:sp>
        <p:nvSpPr>
          <p:cNvPr id="596" name="Google Shape;430;p4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12 / 57</a:t>
            </a:r>
          </a:p>
        </p:txBody>
      </p:sp>
      <p:sp>
        <p:nvSpPr>
          <p:cNvPr id="597" name="Google Shape;431;p4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598" name="Google Shape;432;p46"/>
          <p:cNvSpPr/>
          <p:nvPr/>
        </p:nvSpPr>
        <p:spPr>
          <a:xfrm>
            <a:off x="457200" y="4983479"/>
            <a:ext cx="1732547" cy="36577"/>
          </a:xfrm>
          <a:prstGeom prst="rect">
            <a:avLst/>
          </a:prstGeom>
          <a:solidFill>
            <a:srgbClr val="F97316"/>
          </a:solidFill>
          <a:ln w="12700">
            <a:miter lim="400000"/>
          </a:ln>
        </p:spPr>
        <p:txBody>
          <a:bodyPr lIns="0" tIns="0" rIns="0" bIns="0" anchor="ctr"/>
          <a:lstStyle/>
          <a:p>
            <a:pPr/>
          </a:p>
        </p:txBody>
      </p:sp>
      <p:sp>
        <p:nvSpPr>
          <p:cNvPr id="599" name="Google Shape;433;p46"/>
          <p:cNvSpPr txBox="1"/>
          <p:nvPr/>
        </p:nvSpPr>
        <p:spPr>
          <a:xfrm>
            <a:off x="914400" y="1399539"/>
            <a:ext cx="7315200"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200">
                <a:solidFill>
                  <a:srgbClr val="6B7280"/>
                </a:solidFill>
                <a:latin typeface="Georgia"/>
                <a:ea typeface="Georgia"/>
                <a:cs typeface="Georgia"/>
                <a:sym typeface="Georgia"/>
              </a:defRPr>
            </a:lvl1pPr>
          </a:lstStyle>
          <a:p>
            <a:pPr/>
            <a:r>
              <a:t>Virtual Methods</a:t>
            </a:r>
          </a:p>
        </p:txBody>
      </p:sp>
      <p:sp>
        <p:nvSpPr>
          <p:cNvPr id="600" name="Google Shape;434;p46"/>
          <p:cNvSpPr txBox="1"/>
          <p:nvPr/>
        </p:nvSpPr>
        <p:spPr>
          <a:xfrm>
            <a:off x="457200" y="2924810"/>
            <a:ext cx="822960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97316"/>
                </a:solidFill>
                <a:latin typeface="Consolas"/>
                <a:ea typeface="Consolas"/>
                <a:cs typeface="Consolas"/>
                <a:sym typeface="Consolas"/>
              </a:defRPr>
            </a:lvl1pPr>
          </a:lstStyle>
          <a:p>
            <a:pPr/>
            <a:r>
              <a:t>Il costo dell'indirezione non è nullo (anzi)</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02" name="Google Shape;524;p53"/>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03" name="Google Shape;525;p53"/>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04" name="Google Shape;526;p53"/>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18 / 57</a:t>
            </a:r>
          </a:p>
        </p:txBody>
      </p:sp>
      <p:sp>
        <p:nvSpPr>
          <p:cNvPr id="605" name="Google Shape;527;p53"/>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06" name="Google Shape;528;p53"/>
          <p:cNvSpPr/>
          <p:nvPr/>
        </p:nvSpPr>
        <p:spPr>
          <a:xfrm>
            <a:off x="457200" y="4983479"/>
            <a:ext cx="2598822" cy="36577"/>
          </a:xfrm>
          <a:prstGeom prst="rect">
            <a:avLst/>
          </a:prstGeom>
          <a:solidFill>
            <a:srgbClr val="F97316"/>
          </a:solidFill>
          <a:ln w="12700">
            <a:miter lim="400000"/>
          </a:ln>
        </p:spPr>
        <p:txBody>
          <a:bodyPr lIns="0" tIns="0" rIns="0" bIns="0" anchor="ctr"/>
          <a:lstStyle/>
          <a:p>
            <a:pPr/>
          </a:p>
        </p:txBody>
      </p:sp>
      <p:sp>
        <p:nvSpPr>
          <p:cNvPr id="607" name="Google Shape;529;p53"/>
          <p:cNvSpPr txBox="1"/>
          <p:nvPr/>
        </p:nvSpPr>
        <p:spPr>
          <a:xfrm>
            <a:off x="914400" y="130936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F4444"/>
                </a:solidFill>
                <a:latin typeface="Consolas"/>
                <a:ea typeface="Consolas"/>
                <a:cs typeface="Consolas"/>
                <a:sym typeface="Consolas"/>
              </a:defRPr>
            </a:lvl1pPr>
          </a:lstStyle>
          <a:p>
            <a:pPr/>
            <a:r>
              <a:t>CREPA #2</a:t>
            </a:r>
          </a:p>
        </p:txBody>
      </p:sp>
      <p:sp>
        <p:nvSpPr>
          <p:cNvPr id="608" name="Google Shape;530;p53"/>
          <p:cNvSpPr txBox="1"/>
          <p:nvPr/>
        </p:nvSpPr>
        <p:spPr>
          <a:xfrm>
            <a:off x="457200" y="2072639"/>
            <a:ext cx="8229600"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FFFFFF"/>
                </a:solidFill>
                <a:latin typeface="Georgia"/>
                <a:ea typeface="Georgia"/>
                <a:cs typeface="Georgia"/>
                <a:sym typeface="Georgia"/>
              </a:defRPr>
            </a:lvl1pPr>
          </a:lstStyle>
          <a:p>
            <a:pPr/>
            <a:r>
              <a:t>The Billion Dollar Mistake</a:t>
            </a:r>
          </a:p>
        </p:txBody>
      </p:sp>
      <p:sp>
        <p:nvSpPr>
          <p:cNvPr id="609" name="Google Shape;531;p53"/>
          <p:cNvSpPr txBox="1"/>
          <p:nvPr/>
        </p:nvSpPr>
        <p:spPr>
          <a:xfrm>
            <a:off x="914400" y="3199129"/>
            <a:ext cx="731520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97316"/>
                </a:solidFill>
                <a:latin typeface="Consolas"/>
                <a:ea typeface="Consolas"/>
                <a:cs typeface="Consolas"/>
                <a:sym typeface="Consolas"/>
              </a:defRPr>
            </a:lvl1pPr>
          </a:lstStyle>
          <a:p>
            <a:pPr/>
            <a:r>
              <a:t>null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6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08" grpId="1"/>
      <p:bldP build="whole" bldLvl="1" animBg="1" rev="0" advAuto="0" spid="609" grpId="2"/>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11" name="Google Shape;537;p54"/>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12" name="Google Shape;538;p54"/>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13" name="Google Shape;539;p5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19 / 57</a:t>
            </a:r>
          </a:p>
        </p:txBody>
      </p:sp>
      <p:sp>
        <p:nvSpPr>
          <p:cNvPr id="614" name="Google Shape;540;p5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15" name="Google Shape;541;p54"/>
          <p:cNvSpPr/>
          <p:nvPr/>
        </p:nvSpPr>
        <p:spPr>
          <a:xfrm>
            <a:off x="457200" y="4983479"/>
            <a:ext cx="2743200" cy="36577"/>
          </a:xfrm>
          <a:prstGeom prst="rect">
            <a:avLst/>
          </a:prstGeom>
          <a:solidFill>
            <a:srgbClr val="F97316"/>
          </a:solidFill>
          <a:ln w="12700">
            <a:miter lim="400000"/>
          </a:ln>
        </p:spPr>
        <p:txBody>
          <a:bodyPr lIns="0" tIns="0" rIns="0" bIns="0" anchor="ctr"/>
          <a:lstStyle/>
          <a:p>
            <a:pPr/>
          </a:p>
        </p:txBody>
      </p:sp>
      <p:sp>
        <p:nvSpPr>
          <p:cNvPr id="616" name="Google Shape;542;p54"/>
          <p:cNvSpPr txBox="1"/>
          <p:nvPr/>
        </p:nvSpPr>
        <p:spPr>
          <a:xfrm>
            <a:off x="914400" y="1485900"/>
            <a:ext cx="7315200"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i="1" sz="2400">
                <a:solidFill>
                  <a:srgbClr val="E5E7EB"/>
                </a:solidFill>
                <a:latin typeface="Georgia"/>
                <a:ea typeface="Georgia"/>
                <a:cs typeface="Georgia"/>
                <a:sym typeface="Georgia"/>
              </a:defRPr>
            </a:pPr>
            <a:r>
              <a:t>"I call it my billion-dollar mistake.</a:t>
            </a:r>
            <a:endParaRPr i="0">
              <a:latin typeface="Calibri Light"/>
              <a:ea typeface="Calibri Light"/>
              <a:cs typeface="Calibri Light"/>
              <a:sym typeface="Calibri Light"/>
            </a:endParaRPr>
          </a:p>
          <a:p>
            <a:pPr algn="ctr">
              <a:defRPr i="1" sz="2400">
                <a:solidFill>
                  <a:srgbClr val="E5E7EB"/>
                </a:solidFill>
                <a:latin typeface="Georgia"/>
                <a:ea typeface="Georgia"/>
                <a:cs typeface="Georgia"/>
                <a:sym typeface="Georgia"/>
              </a:defRPr>
            </a:pPr>
            <a:r>
              <a:t>It was the invention of the null reference in 1965."</a:t>
            </a:r>
          </a:p>
        </p:txBody>
      </p:sp>
      <p:sp>
        <p:nvSpPr>
          <p:cNvPr id="617" name="Google Shape;543;p54"/>
          <p:cNvSpPr/>
          <p:nvPr/>
        </p:nvSpPr>
        <p:spPr>
          <a:xfrm>
            <a:off x="3840479" y="2926079"/>
            <a:ext cx="1463041" cy="36577"/>
          </a:xfrm>
          <a:prstGeom prst="rect">
            <a:avLst/>
          </a:prstGeom>
          <a:solidFill>
            <a:srgbClr val="F97316"/>
          </a:solidFill>
          <a:ln w="12700">
            <a:miter lim="400000"/>
          </a:ln>
        </p:spPr>
        <p:txBody>
          <a:bodyPr lIns="0" tIns="0" rIns="0" bIns="0" anchor="ctr"/>
          <a:lstStyle/>
          <a:p>
            <a:pPr/>
          </a:p>
        </p:txBody>
      </p:sp>
      <p:sp>
        <p:nvSpPr>
          <p:cNvPr id="618" name="Google Shape;544;p54"/>
          <p:cNvSpPr txBox="1"/>
          <p:nvPr/>
        </p:nvSpPr>
        <p:spPr>
          <a:xfrm>
            <a:off x="914400" y="3295650"/>
            <a:ext cx="73152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800">
                <a:solidFill>
                  <a:srgbClr val="F97316"/>
                </a:solidFill>
                <a:latin typeface="Georgia"/>
                <a:ea typeface="Georgia"/>
                <a:cs typeface="Georgia"/>
                <a:sym typeface="Georgia"/>
              </a:defRPr>
            </a:lvl1pPr>
          </a:lstStyle>
          <a:p>
            <a:pPr/>
            <a:r>
              <a:t>Tony Hoare</a:t>
            </a:r>
          </a:p>
        </p:txBody>
      </p:sp>
      <p:sp>
        <p:nvSpPr>
          <p:cNvPr id="619" name="Google Shape;545;p54"/>
          <p:cNvSpPr txBox="1"/>
          <p:nvPr/>
        </p:nvSpPr>
        <p:spPr>
          <a:xfrm>
            <a:off x="914400" y="3745800"/>
            <a:ext cx="7315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QCon London, 2009</a:t>
            </a:r>
          </a:p>
        </p:txBody>
      </p:sp>
      <p:sp>
        <p:nvSpPr>
          <p:cNvPr id="620" name="Google Shape;546;p54"/>
          <p:cNvSpPr txBox="1"/>
          <p:nvPr/>
        </p:nvSpPr>
        <p:spPr>
          <a:xfrm>
            <a:off x="914400" y="4082087"/>
            <a:ext cx="73152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6B7280"/>
                </a:solidFill>
                <a:latin typeface="Calibri Light"/>
                <a:ea typeface="Calibri Light"/>
                <a:cs typeface="Calibri Light"/>
                <a:sym typeface="Calibri Light"/>
              </a:defRPr>
            </a:lvl1pPr>
          </a:lstStyle>
          <a:p>
            <a:pPr/>
            <a:r>
              <a:t>L'inventore di Quicksort.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20"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24" name="Google Shape;552;p55"/>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25" name="Google Shape;553;p55"/>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26" name="Google Shape;554;p55"/>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20 / 57</a:t>
            </a:r>
          </a:p>
        </p:txBody>
      </p:sp>
      <p:sp>
        <p:nvSpPr>
          <p:cNvPr id="627" name="Google Shape;555;p55"/>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28" name="Google Shape;556;p55"/>
          <p:cNvSpPr/>
          <p:nvPr/>
        </p:nvSpPr>
        <p:spPr>
          <a:xfrm>
            <a:off x="457200" y="4983479"/>
            <a:ext cx="2887579" cy="36577"/>
          </a:xfrm>
          <a:prstGeom prst="rect">
            <a:avLst/>
          </a:prstGeom>
          <a:solidFill>
            <a:srgbClr val="F97316"/>
          </a:solidFill>
          <a:ln w="12700">
            <a:miter lim="400000"/>
          </a:ln>
        </p:spPr>
        <p:txBody>
          <a:bodyPr lIns="0" tIns="0" rIns="0" bIns="0" anchor="ctr"/>
          <a:lstStyle/>
          <a:p>
            <a:pPr/>
          </a:p>
        </p:txBody>
      </p:sp>
      <p:sp>
        <p:nvSpPr>
          <p:cNvPr id="629" name="Google Shape;557;p55"/>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Perché null è un problema di design</a:t>
            </a:r>
          </a:p>
        </p:txBody>
      </p:sp>
      <p:sp>
        <p:nvSpPr>
          <p:cNvPr id="630" name="Google Shape;558;p55"/>
          <p:cNvSpPr/>
          <p:nvPr/>
        </p:nvSpPr>
        <p:spPr>
          <a:xfrm>
            <a:off x="731519" y="1188719"/>
            <a:ext cx="3657601" cy="2286001"/>
          </a:xfrm>
          <a:prstGeom prst="rect">
            <a:avLst/>
          </a:prstGeom>
          <a:solidFill>
            <a:srgbClr val="1A1D2B"/>
          </a:solidFill>
          <a:ln w="12700">
            <a:miter lim="400000"/>
          </a:ln>
        </p:spPr>
        <p:txBody>
          <a:bodyPr lIns="0" tIns="0" rIns="0" bIns="0" anchor="ctr"/>
          <a:lstStyle/>
          <a:p>
            <a:pPr/>
          </a:p>
        </p:txBody>
      </p:sp>
      <p:sp>
        <p:nvSpPr>
          <p:cNvPr id="631" name="Google Shape;559;p55"/>
          <p:cNvSpPr/>
          <p:nvPr/>
        </p:nvSpPr>
        <p:spPr>
          <a:xfrm>
            <a:off x="731519" y="1188719"/>
            <a:ext cx="3657601" cy="45721"/>
          </a:xfrm>
          <a:prstGeom prst="rect">
            <a:avLst/>
          </a:prstGeom>
          <a:solidFill>
            <a:srgbClr val="22C55E"/>
          </a:solidFill>
          <a:ln w="12700">
            <a:miter lim="400000"/>
          </a:ln>
        </p:spPr>
        <p:txBody>
          <a:bodyPr lIns="0" tIns="0" rIns="0" bIns="0" anchor="ctr"/>
          <a:lstStyle/>
          <a:p>
            <a:pPr/>
          </a:p>
        </p:txBody>
      </p:sp>
      <p:sp>
        <p:nvSpPr>
          <p:cNvPr id="632" name="Google Shape;560;p55"/>
          <p:cNvSpPr txBox="1"/>
          <p:nvPr/>
        </p:nvSpPr>
        <p:spPr>
          <a:xfrm>
            <a:off x="1005839" y="146558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Cosa pensi</a:t>
            </a:r>
          </a:p>
        </p:txBody>
      </p:sp>
      <p:sp>
        <p:nvSpPr>
          <p:cNvPr id="633" name="Google Shape;561;p55"/>
          <p:cNvSpPr txBox="1"/>
          <p:nvPr/>
        </p:nvSpPr>
        <p:spPr>
          <a:xfrm>
            <a:off x="1005839" y="2040889"/>
            <a:ext cx="32004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E5E7EB"/>
                </a:solidFill>
                <a:latin typeface="Consolas"/>
                <a:ea typeface="Consolas"/>
                <a:cs typeface="Consolas"/>
                <a:sym typeface="Consolas"/>
              </a:defRPr>
            </a:lvl1pPr>
          </a:lstStyle>
          <a:p>
            <a:pPr/>
            <a:r>
              <a:t>user.getAddress().getCity()</a:t>
            </a:r>
          </a:p>
        </p:txBody>
      </p:sp>
      <p:sp>
        <p:nvSpPr>
          <p:cNvPr id="634" name="Google Shape;562;p55"/>
          <p:cNvSpPr/>
          <p:nvPr/>
        </p:nvSpPr>
        <p:spPr>
          <a:xfrm>
            <a:off x="4754879" y="1188719"/>
            <a:ext cx="3657601" cy="2286001"/>
          </a:xfrm>
          <a:prstGeom prst="rect">
            <a:avLst/>
          </a:prstGeom>
          <a:solidFill>
            <a:srgbClr val="1A1D2B"/>
          </a:solidFill>
          <a:ln w="12700">
            <a:miter lim="400000"/>
          </a:ln>
        </p:spPr>
        <p:txBody>
          <a:bodyPr lIns="0" tIns="0" rIns="0" bIns="0" anchor="ctr"/>
          <a:lstStyle/>
          <a:p>
            <a:pPr/>
          </a:p>
        </p:txBody>
      </p:sp>
      <p:sp>
        <p:nvSpPr>
          <p:cNvPr id="635" name="Google Shape;563;p55"/>
          <p:cNvSpPr/>
          <p:nvPr/>
        </p:nvSpPr>
        <p:spPr>
          <a:xfrm>
            <a:off x="4754879" y="1188719"/>
            <a:ext cx="3657601" cy="45721"/>
          </a:xfrm>
          <a:prstGeom prst="rect">
            <a:avLst/>
          </a:prstGeom>
          <a:solidFill>
            <a:srgbClr val="EF4444"/>
          </a:solidFill>
          <a:ln w="12700">
            <a:miter lim="400000"/>
          </a:ln>
        </p:spPr>
        <p:txBody>
          <a:bodyPr lIns="0" tIns="0" rIns="0" bIns="0" anchor="ctr"/>
          <a:lstStyle/>
          <a:p>
            <a:pPr/>
          </a:p>
        </p:txBody>
      </p:sp>
      <p:sp>
        <p:nvSpPr>
          <p:cNvPr id="636" name="Google Shape;564;p55"/>
          <p:cNvSpPr txBox="1"/>
          <p:nvPr/>
        </p:nvSpPr>
        <p:spPr>
          <a:xfrm>
            <a:off x="5029200" y="146558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F4444"/>
                </a:solidFill>
                <a:latin typeface="Consolas"/>
                <a:ea typeface="Consolas"/>
                <a:cs typeface="Consolas"/>
                <a:sym typeface="Consolas"/>
              </a:defRPr>
            </a:lvl1pPr>
          </a:lstStyle>
          <a:p>
            <a:pPr/>
            <a:r>
              <a:t>Cosa succede</a:t>
            </a:r>
          </a:p>
        </p:txBody>
      </p:sp>
      <p:sp>
        <p:nvSpPr>
          <p:cNvPr id="637" name="Google Shape;565;p55"/>
          <p:cNvSpPr txBox="1"/>
          <p:nvPr/>
        </p:nvSpPr>
        <p:spPr>
          <a:xfrm>
            <a:off x="5029200" y="2040889"/>
            <a:ext cx="32004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E5E7EB"/>
                </a:solidFill>
                <a:latin typeface="Consolas"/>
                <a:ea typeface="Consolas"/>
                <a:cs typeface="Consolas"/>
                <a:sym typeface="Consolas"/>
              </a:defRPr>
            </a:lvl1pPr>
          </a:lstStyle>
          <a:p>
            <a:pPr/>
            <a:r>
              <a:t>NullPointerException</a:t>
            </a:r>
          </a:p>
        </p:txBody>
      </p:sp>
      <p:sp>
        <p:nvSpPr>
          <p:cNvPr id="638" name="Google Shape;566;p55"/>
          <p:cNvSpPr txBox="1"/>
          <p:nvPr/>
        </p:nvSpPr>
        <p:spPr>
          <a:xfrm>
            <a:off x="5029200" y="2584625"/>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B7280"/>
                </a:solidFill>
                <a:latin typeface="Calibri Light"/>
                <a:ea typeface="Calibri Light"/>
                <a:cs typeface="Calibri Light"/>
                <a:sym typeface="Calibri Light"/>
              </a:defRPr>
            </a:lvl1pPr>
          </a:lstStyle>
          <a:p>
            <a:pPr/>
            <a:r>
              <a:t>Runtime. In produzione. A mezzanotte.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3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635"/>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636"/>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637"/>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6" grpId="3"/>
      <p:bldP build="whole" bldLvl="1" animBg="1" rev="0" advAuto="0" spid="634" grpId="1"/>
      <p:bldP build="whole" bldLvl="1" animBg="1" rev="0" advAuto="0" spid="638" grpId="5"/>
      <p:bldP build="whole" bldLvl="1" animBg="1" rev="0" advAuto="0" spid="637" grpId="4"/>
      <p:bldP build="whole" bldLvl="1" animBg="1" rev="0" advAuto="0" spid="635" grpId="2"/>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42" name="Google Shape;572;p5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43" name="Google Shape;573;p5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44" name="Google Shape;574;p5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21 / 57</a:t>
            </a:r>
          </a:p>
        </p:txBody>
      </p:sp>
      <p:sp>
        <p:nvSpPr>
          <p:cNvPr id="645" name="Google Shape;575;p5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46" name="Google Shape;576;p56"/>
          <p:cNvSpPr/>
          <p:nvPr/>
        </p:nvSpPr>
        <p:spPr>
          <a:xfrm>
            <a:off x="457200" y="4983479"/>
            <a:ext cx="3031958" cy="36577"/>
          </a:xfrm>
          <a:prstGeom prst="rect">
            <a:avLst/>
          </a:prstGeom>
          <a:solidFill>
            <a:srgbClr val="F97316"/>
          </a:solidFill>
          <a:ln w="12700">
            <a:miter lim="400000"/>
          </a:ln>
        </p:spPr>
        <p:txBody>
          <a:bodyPr lIns="0" tIns="0" rIns="0" bIns="0" anchor="ctr"/>
          <a:lstStyle/>
          <a:p>
            <a:pPr/>
          </a:p>
        </p:txBody>
      </p:sp>
      <p:sp>
        <p:nvSpPr>
          <p:cNvPr id="647" name="Google Shape;577;p56"/>
          <p:cNvSpPr txBox="1"/>
          <p:nvPr/>
        </p:nvSpPr>
        <p:spPr>
          <a:xfrm>
            <a:off x="914400" y="1023619"/>
            <a:ext cx="7315200"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E5E7EB"/>
                </a:solidFill>
                <a:latin typeface="Consolas"/>
                <a:ea typeface="Consolas"/>
                <a:cs typeface="Consolas"/>
                <a:sym typeface="Consolas"/>
              </a:defRPr>
            </a:lvl1pPr>
          </a:lstStyle>
          <a:p>
            <a:pPr/>
            <a:r>
              <a:t>User getUser(String id)</a:t>
            </a:r>
          </a:p>
        </p:txBody>
      </p:sp>
      <p:sp>
        <p:nvSpPr>
          <p:cNvPr id="648" name="Google Shape;578;p56"/>
          <p:cNvSpPr txBox="1"/>
          <p:nvPr/>
        </p:nvSpPr>
        <p:spPr>
          <a:xfrm>
            <a:off x="914400" y="1936749"/>
            <a:ext cx="7315200" cy="698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800">
                <a:solidFill>
                  <a:srgbClr val="EF4444"/>
                </a:solidFill>
                <a:latin typeface="Georgia"/>
                <a:ea typeface="Georgia"/>
                <a:cs typeface="Georgia"/>
                <a:sym typeface="Georgia"/>
              </a:defRPr>
            </a:lvl1pPr>
          </a:lstStyle>
          <a:p>
            <a:pPr/>
            <a:r>
              <a:t>Mente.</a:t>
            </a:r>
          </a:p>
        </p:txBody>
      </p:sp>
      <p:sp>
        <p:nvSpPr>
          <p:cNvPr id="649" name="Google Shape;579;p56"/>
          <p:cNvSpPr txBox="1"/>
          <p:nvPr/>
        </p:nvSpPr>
        <p:spPr>
          <a:xfrm>
            <a:off x="1371600" y="3050103"/>
            <a:ext cx="64008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9CA3AF"/>
                </a:solidFill>
                <a:latin typeface="Calibri Light"/>
                <a:ea typeface="Calibri Light"/>
                <a:cs typeface="Calibri Light"/>
                <a:sym typeface="Calibri Light"/>
              </a:defRPr>
            </a:lvl1pPr>
          </a:lstStyle>
          <a:p>
            <a:pPr/>
            <a:r>
              <a:t>Restituisce User oppure null. Ma null non è nel tipo.</a:t>
            </a:r>
          </a:p>
        </p:txBody>
      </p:sp>
      <p:sp>
        <p:nvSpPr>
          <p:cNvPr id="650" name="Google Shape;580;p56"/>
          <p:cNvSpPr/>
          <p:nvPr/>
        </p:nvSpPr>
        <p:spPr>
          <a:xfrm>
            <a:off x="1097279" y="3657600"/>
            <a:ext cx="6949442" cy="822961"/>
          </a:xfrm>
          <a:prstGeom prst="rect">
            <a:avLst/>
          </a:prstGeom>
          <a:solidFill>
            <a:srgbClr val="1A1D2B"/>
          </a:solidFill>
          <a:ln w="12700">
            <a:miter lim="400000"/>
          </a:ln>
        </p:spPr>
        <p:txBody>
          <a:bodyPr lIns="0" tIns="0" rIns="0" bIns="0" anchor="ctr"/>
          <a:lstStyle/>
          <a:p>
            <a:pPr/>
          </a:p>
        </p:txBody>
      </p:sp>
      <p:sp>
        <p:nvSpPr>
          <p:cNvPr id="651" name="Google Shape;581;p56"/>
          <p:cNvSpPr/>
          <p:nvPr/>
        </p:nvSpPr>
        <p:spPr>
          <a:xfrm>
            <a:off x="1097280" y="3657600"/>
            <a:ext cx="54865" cy="822961"/>
          </a:xfrm>
          <a:prstGeom prst="rect">
            <a:avLst/>
          </a:prstGeom>
          <a:solidFill>
            <a:srgbClr val="F97316"/>
          </a:solidFill>
          <a:ln w="12700">
            <a:miter lim="400000"/>
          </a:ln>
        </p:spPr>
        <p:txBody>
          <a:bodyPr lIns="0" tIns="0" rIns="0" bIns="0" anchor="ctr"/>
          <a:lstStyle/>
          <a:p>
            <a:pPr/>
          </a:p>
        </p:txBody>
      </p:sp>
      <p:sp>
        <p:nvSpPr>
          <p:cNvPr id="652" name="Google Shape;582;p56"/>
          <p:cNvSpPr txBox="1"/>
          <p:nvPr/>
        </p:nvSpPr>
        <p:spPr>
          <a:xfrm>
            <a:off x="1371600" y="3860100"/>
            <a:ext cx="6400800"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F97316"/>
                </a:solidFill>
                <a:latin typeface="Calibri Light"/>
                <a:ea typeface="Calibri Light"/>
                <a:cs typeface="Calibri Light"/>
                <a:sym typeface="Calibri Light"/>
              </a:defRPr>
            </a:pPr>
            <a:r>
              <a:t>Il tipo di ritorno è un contratto. Se il contratto mente,</a:t>
            </a:r>
          </a:p>
          <a:p>
            <a:pPr>
              <a:defRPr>
                <a:solidFill>
                  <a:srgbClr val="F97316"/>
                </a:solidFill>
                <a:latin typeface="Calibri Light"/>
                <a:ea typeface="Calibri Light"/>
                <a:cs typeface="Calibri Light"/>
                <a:sym typeface="Calibri Light"/>
              </a:defRPr>
            </a:pPr>
            <a:r>
              <a:t>non hai un sistema di tipi — hai una decorazione.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6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650"/>
                                        </p:tgtEl>
                                        <p:attrNameLst>
                                          <p:attrName>style.visibility</p:attrName>
                                        </p:attrNameLst>
                                      </p:cBhvr>
                                      <p:to>
                                        <p:strVal val="visible"/>
                                      </p:to>
                                    </p:set>
                                  </p:childTnLst>
                                </p:cTn>
                              </p:par>
                            </p:childTnLst>
                          </p:cTn>
                        </p:par>
                        <p:par>
                          <p:cTn id="15" fill="hold">
                            <p:stCondLst>
                              <p:cond delay="0"/>
                            </p:stCondLst>
                            <p:childTnLst>
                              <p:par>
                                <p:cTn id="16" presetClass="entr" nodeType="afterEffect" presetSubtype="0" presetID="1" grpId="4" fill="hold">
                                  <p:stCondLst>
                                    <p:cond delay="0"/>
                                  </p:stCondLst>
                                  <p:iterate type="el" backwards="0">
                                    <p:tmAbs val="0"/>
                                  </p:iterate>
                                  <p:childTnLst>
                                    <p:set>
                                      <p:cBhvr>
                                        <p:cTn id="17" fill="hold"/>
                                        <p:tgtEl>
                                          <p:spTgt spid="651"/>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5" fill="hold">
                                  <p:stCondLst>
                                    <p:cond delay="0"/>
                                  </p:stCondLst>
                                  <p:iterate type="el" backwards="0">
                                    <p:tmAbs val="0"/>
                                  </p:iterate>
                                  <p:childTnLst>
                                    <p:set>
                                      <p:cBhvr>
                                        <p:cTn id="20" fill="hold"/>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49" grpId="2"/>
      <p:bldP build="whole" bldLvl="1" animBg="1" rev="0" advAuto="0" spid="651" grpId="4"/>
      <p:bldP build="whole" bldLvl="1" animBg="1" rev="0" advAuto="0" spid="652" grpId="5"/>
      <p:bldP build="whole" bldLvl="1" animBg="1" rev="0" advAuto="0" spid="648" grpId="1"/>
      <p:bldP build="whole" bldLvl="1" animBg="1" rev="0" advAuto="0" spid="650" grpId="3"/>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56" name="Google Shape;588;p5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57" name="Google Shape;589;p5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58" name="Google Shape;590;p5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22 / 57</a:t>
            </a:r>
          </a:p>
        </p:txBody>
      </p:sp>
      <p:sp>
        <p:nvSpPr>
          <p:cNvPr id="659" name="Google Shape;591;p5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60" name="Google Shape;592;p57"/>
          <p:cNvSpPr/>
          <p:nvPr/>
        </p:nvSpPr>
        <p:spPr>
          <a:xfrm>
            <a:off x="457199" y="4983479"/>
            <a:ext cx="3176339" cy="36577"/>
          </a:xfrm>
          <a:prstGeom prst="rect">
            <a:avLst/>
          </a:prstGeom>
          <a:solidFill>
            <a:srgbClr val="F97316"/>
          </a:solidFill>
          <a:ln w="12700">
            <a:miter lim="400000"/>
          </a:ln>
        </p:spPr>
        <p:txBody>
          <a:bodyPr lIns="0" tIns="0" rIns="0" bIns="0" anchor="ctr"/>
          <a:lstStyle/>
          <a:p>
            <a:pPr/>
          </a:p>
        </p:txBody>
      </p:sp>
      <p:sp>
        <p:nvSpPr>
          <p:cNvPr id="661" name="Google Shape;593;p57"/>
          <p:cNvSpPr txBox="1"/>
          <p:nvPr/>
        </p:nvSpPr>
        <p:spPr>
          <a:xfrm>
            <a:off x="457200" y="389890"/>
            <a:ext cx="822960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FFFFF"/>
                </a:solidFill>
                <a:latin typeface="Georgia"/>
                <a:ea typeface="Georgia"/>
                <a:cs typeface="Georgia"/>
                <a:sym typeface="Georgia"/>
              </a:defRPr>
            </a:lvl1pPr>
          </a:lstStyle>
          <a:p>
            <a:pPr/>
            <a:r>
              <a:t>Null in natura: 3 significati, 0 informazione</a:t>
            </a:r>
          </a:p>
        </p:txBody>
      </p:sp>
      <p:sp>
        <p:nvSpPr>
          <p:cNvPr id="662" name="Google Shape;594;p57"/>
          <p:cNvSpPr/>
          <p:nvPr/>
        </p:nvSpPr>
        <p:spPr>
          <a:xfrm>
            <a:off x="731519" y="1188719"/>
            <a:ext cx="2468882" cy="2286001"/>
          </a:xfrm>
          <a:prstGeom prst="rect">
            <a:avLst/>
          </a:prstGeom>
          <a:solidFill>
            <a:srgbClr val="1A1D2B"/>
          </a:solidFill>
          <a:ln w="12700">
            <a:miter lim="400000"/>
          </a:ln>
        </p:spPr>
        <p:txBody>
          <a:bodyPr lIns="0" tIns="0" rIns="0" bIns="0" anchor="ctr"/>
          <a:lstStyle/>
          <a:p>
            <a:pPr/>
          </a:p>
        </p:txBody>
      </p:sp>
      <p:sp>
        <p:nvSpPr>
          <p:cNvPr id="663" name="Google Shape;595;p57"/>
          <p:cNvSpPr/>
          <p:nvPr/>
        </p:nvSpPr>
        <p:spPr>
          <a:xfrm>
            <a:off x="731519" y="1188719"/>
            <a:ext cx="2468882" cy="45721"/>
          </a:xfrm>
          <a:prstGeom prst="rect">
            <a:avLst/>
          </a:prstGeom>
          <a:solidFill>
            <a:srgbClr val="EAB308"/>
          </a:solidFill>
          <a:ln w="12700">
            <a:miter lim="400000"/>
          </a:ln>
        </p:spPr>
        <p:txBody>
          <a:bodyPr lIns="0" tIns="0" rIns="0" bIns="0" anchor="ctr"/>
          <a:lstStyle/>
          <a:p>
            <a:pPr/>
          </a:p>
        </p:txBody>
      </p:sp>
      <p:sp>
        <p:nvSpPr>
          <p:cNvPr id="664" name="Google Shape;596;p57"/>
          <p:cNvSpPr txBox="1"/>
          <p:nvPr/>
        </p:nvSpPr>
        <p:spPr>
          <a:xfrm>
            <a:off x="914400" y="1562538"/>
            <a:ext cx="21031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Non trovato</a:t>
            </a:r>
          </a:p>
        </p:txBody>
      </p:sp>
      <p:sp>
        <p:nvSpPr>
          <p:cNvPr id="665" name="Google Shape;597;p57"/>
          <p:cNvSpPr txBox="1"/>
          <p:nvPr/>
        </p:nvSpPr>
        <p:spPr>
          <a:xfrm>
            <a:off x="914400" y="2230120"/>
            <a:ext cx="21031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97316"/>
                </a:solidFill>
                <a:latin typeface="Consolas"/>
                <a:ea typeface="Consolas"/>
                <a:cs typeface="Consolas"/>
                <a:sym typeface="Consolas"/>
              </a:defRPr>
            </a:lvl1pPr>
          </a:lstStyle>
          <a:p>
            <a:pPr/>
            <a:r>
              <a:t>getUser() → null</a:t>
            </a:r>
          </a:p>
        </p:txBody>
      </p:sp>
      <p:sp>
        <p:nvSpPr>
          <p:cNvPr id="666" name="Google Shape;598;p57"/>
          <p:cNvSpPr/>
          <p:nvPr/>
        </p:nvSpPr>
        <p:spPr>
          <a:xfrm>
            <a:off x="3474720" y="1188719"/>
            <a:ext cx="2468881" cy="2286001"/>
          </a:xfrm>
          <a:prstGeom prst="rect">
            <a:avLst/>
          </a:prstGeom>
          <a:solidFill>
            <a:srgbClr val="1A1D2B"/>
          </a:solidFill>
          <a:ln w="12700">
            <a:miter lim="400000"/>
          </a:ln>
        </p:spPr>
        <p:txBody>
          <a:bodyPr lIns="0" tIns="0" rIns="0" bIns="0" anchor="ctr"/>
          <a:lstStyle/>
          <a:p>
            <a:pPr/>
          </a:p>
        </p:txBody>
      </p:sp>
      <p:sp>
        <p:nvSpPr>
          <p:cNvPr id="667" name="Google Shape;599;p57"/>
          <p:cNvSpPr/>
          <p:nvPr/>
        </p:nvSpPr>
        <p:spPr>
          <a:xfrm>
            <a:off x="3474720" y="1188719"/>
            <a:ext cx="2468881" cy="45721"/>
          </a:xfrm>
          <a:prstGeom prst="rect">
            <a:avLst/>
          </a:prstGeom>
          <a:solidFill>
            <a:srgbClr val="3B82F6"/>
          </a:solidFill>
          <a:ln w="12700">
            <a:miter lim="400000"/>
          </a:ln>
        </p:spPr>
        <p:txBody>
          <a:bodyPr lIns="0" tIns="0" rIns="0" bIns="0" anchor="ctr"/>
          <a:lstStyle/>
          <a:p>
            <a:pPr/>
          </a:p>
        </p:txBody>
      </p:sp>
      <p:sp>
        <p:nvSpPr>
          <p:cNvPr id="668" name="Google Shape;600;p57"/>
          <p:cNvSpPr txBox="1"/>
          <p:nvPr/>
        </p:nvSpPr>
        <p:spPr>
          <a:xfrm>
            <a:off x="3657600" y="1562538"/>
            <a:ext cx="21031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Non caricato</a:t>
            </a:r>
          </a:p>
        </p:txBody>
      </p:sp>
      <p:sp>
        <p:nvSpPr>
          <p:cNvPr id="669" name="Google Shape;601;p57"/>
          <p:cNvSpPr txBox="1"/>
          <p:nvPr/>
        </p:nvSpPr>
        <p:spPr>
          <a:xfrm>
            <a:off x="3657600" y="2230120"/>
            <a:ext cx="21031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97316"/>
                </a:solidFill>
                <a:latin typeface="Consolas"/>
                <a:ea typeface="Consolas"/>
                <a:cs typeface="Consolas"/>
                <a:sym typeface="Consolas"/>
              </a:defRPr>
            </a:lvl1pPr>
          </a:lstStyle>
          <a:p>
            <a:pPr/>
            <a:r>
              <a:t>this.user == null</a:t>
            </a:r>
          </a:p>
        </p:txBody>
      </p:sp>
      <p:sp>
        <p:nvSpPr>
          <p:cNvPr id="670" name="Google Shape;602;p57"/>
          <p:cNvSpPr/>
          <p:nvPr/>
        </p:nvSpPr>
        <p:spPr>
          <a:xfrm>
            <a:off x="6217920" y="1188719"/>
            <a:ext cx="2468881" cy="2286001"/>
          </a:xfrm>
          <a:prstGeom prst="rect">
            <a:avLst/>
          </a:prstGeom>
          <a:solidFill>
            <a:srgbClr val="1A1D2B"/>
          </a:solidFill>
          <a:ln w="12700">
            <a:miter lim="400000"/>
          </a:ln>
        </p:spPr>
        <p:txBody>
          <a:bodyPr lIns="0" tIns="0" rIns="0" bIns="0" anchor="ctr"/>
          <a:lstStyle/>
          <a:p>
            <a:pPr/>
          </a:p>
        </p:txBody>
      </p:sp>
      <p:sp>
        <p:nvSpPr>
          <p:cNvPr id="671" name="Google Shape;603;p57"/>
          <p:cNvSpPr/>
          <p:nvPr/>
        </p:nvSpPr>
        <p:spPr>
          <a:xfrm>
            <a:off x="6217920" y="1188719"/>
            <a:ext cx="2468881" cy="45721"/>
          </a:xfrm>
          <a:prstGeom prst="rect">
            <a:avLst/>
          </a:prstGeom>
          <a:solidFill>
            <a:srgbClr val="EF4444"/>
          </a:solidFill>
          <a:ln w="12700">
            <a:miter lim="400000"/>
          </a:ln>
        </p:spPr>
        <p:txBody>
          <a:bodyPr lIns="0" tIns="0" rIns="0" bIns="0" anchor="ctr"/>
          <a:lstStyle/>
          <a:p>
            <a:pPr/>
          </a:p>
        </p:txBody>
      </p:sp>
      <p:sp>
        <p:nvSpPr>
          <p:cNvPr id="672" name="Google Shape;604;p57"/>
          <p:cNvSpPr txBox="1"/>
          <p:nvPr/>
        </p:nvSpPr>
        <p:spPr>
          <a:xfrm>
            <a:off x="6400800" y="1562538"/>
            <a:ext cx="21031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Errore silenzioso</a:t>
            </a:r>
          </a:p>
        </p:txBody>
      </p:sp>
      <p:sp>
        <p:nvSpPr>
          <p:cNvPr id="673" name="Google Shape;605;p57"/>
          <p:cNvSpPr txBox="1"/>
          <p:nvPr/>
        </p:nvSpPr>
        <p:spPr>
          <a:xfrm>
            <a:off x="6400800" y="2230120"/>
            <a:ext cx="21031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97316"/>
                </a:solidFill>
                <a:latin typeface="Consolas"/>
                <a:ea typeface="Consolas"/>
                <a:cs typeface="Consolas"/>
                <a:sym typeface="Consolas"/>
              </a:defRPr>
            </a:lvl1pPr>
          </a:lstStyle>
          <a:p>
            <a:pPr/>
            <a:r>
              <a:t>process() → null</a:t>
            </a:r>
          </a:p>
        </p:txBody>
      </p:sp>
      <p:sp>
        <p:nvSpPr>
          <p:cNvPr id="674" name="Google Shape;606;p57"/>
          <p:cNvSpPr txBox="1"/>
          <p:nvPr/>
        </p:nvSpPr>
        <p:spPr>
          <a:xfrm>
            <a:off x="914400" y="3928680"/>
            <a:ext cx="7315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Stesso tipo. Tre significati completamente diversi.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62"/>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663"/>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664"/>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66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5" fill="hold">
                                  <p:stCondLst>
                                    <p:cond delay="0"/>
                                  </p:stCondLst>
                                  <p:iterate type="el" backwards="0">
                                    <p:tmAbs val="0"/>
                                  </p:iterate>
                                  <p:childTnLst>
                                    <p:set>
                                      <p:cBhvr>
                                        <p:cTn id="19" fill="hold"/>
                                        <p:tgtEl>
                                          <p:spTgt spid="666"/>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667"/>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668"/>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66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9" fill="hold">
                                  <p:stCondLst>
                                    <p:cond delay="0"/>
                                  </p:stCondLst>
                                  <p:iterate type="el" backwards="0">
                                    <p:tmAbs val="0"/>
                                  </p:iterate>
                                  <p:childTnLst>
                                    <p:set>
                                      <p:cBhvr>
                                        <p:cTn id="32" fill="hold"/>
                                        <p:tgtEl>
                                          <p:spTgt spid="670"/>
                                        </p:tgtEl>
                                        <p:attrNameLst>
                                          <p:attrName>style.visibility</p:attrName>
                                        </p:attrNameLst>
                                      </p:cBhvr>
                                      <p:to>
                                        <p:strVal val="visible"/>
                                      </p:to>
                                    </p:set>
                                  </p:childTnLst>
                                </p:cTn>
                              </p:par>
                            </p:childTnLst>
                          </p:cTn>
                        </p:par>
                        <p:par>
                          <p:cTn id="33" fill="hold">
                            <p:stCondLst>
                              <p:cond delay="0"/>
                            </p:stCondLst>
                            <p:childTnLst>
                              <p:par>
                                <p:cTn id="34" presetClass="entr" nodeType="afterEffect" presetSubtype="0" presetID="1" grpId="10" fill="hold">
                                  <p:stCondLst>
                                    <p:cond delay="0"/>
                                  </p:stCondLst>
                                  <p:iterate type="el" backwards="0">
                                    <p:tmAbs val="0"/>
                                  </p:iterate>
                                  <p:childTnLst>
                                    <p:set>
                                      <p:cBhvr>
                                        <p:cTn id="35" fill="hold"/>
                                        <p:tgtEl>
                                          <p:spTgt spid="671"/>
                                        </p:tgtEl>
                                        <p:attrNameLst>
                                          <p:attrName>style.visibility</p:attrName>
                                        </p:attrNameLst>
                                      </p:cBhvr>
                                      <p:to>
                                        <p:strVal val="visible"/>
                                      </p:to>
                                    </p:set>
                                  </p:childTnLst>
                                </p:cTn>
                              </p:par>
                            </p:childTnLst>
                          </p:cTn>
                        </p:par>
                        <p:par>
                          <p:cTn id="36" fill="hold">
                            <p:stCondLst>
                              <p:cond delay="0"/>
                            </p:stCondLst>
                            <p:childTnLst>
                              <p:par>
                                <p:cTn id="37" presetClass="entr" nodeType="afterEffect" presetSubtype="0" presetID="1" grpId="11" fill="hold">
                                  <p:stCondLst>
                                    <p:cond delay="0"/>
                                  </p:stCondLst>
                                  <p:iterate type="el" backwards="0">
                                    <p:tmAbs val="0"/>
                                  </p:iterate>
                                  <p:childTnLst>
                                    <p:set>
                                      <p:cBhvr>
                                        <p:cTn id="38" fill="hold"/>
                                        <p:tgtEl>
                                          <p:spTgt spid="672"/>
                                        </p:tgtEl>
                                        <p:attrNameLst>
                                          <p:attrName>style.visibility</p:attrName>
                                        </p:attrNameLst>
                                      </p:cBhvr>
                                      <p:to>
                                        <p:strVal val="visible"/>
                                      </p:to>
                                    </p:set>
                                  </p:childTnLst>
                                </p:cTn>
                              </p:par>
                            </p:childTnLst>
                          </p:cTn>
                        </p:par>
                        <p:par>
                          <p:cTn id="39" fill="hold">
                            <p:stCondLst>
                              <p:cond delay="0"/>
                            </p:stCondLst>
                            <p:childTnLst>
                              <p:par>
                                <p:cTn id="40" presetClass="entr" nodeType="afterEffect" presetSubtype="0" presetID="1" grpId="12" fill="hold">
                                  <p:stCondLst>
                                    <p:cond delay="0"/>
                                  </p:stCondLst>
                                  <p:iterate type="el" backwards="0">
                                    <p:tmAbs val="0"/>
                                  </p:iterate>
                                  <p:childTnLst>
                                    <p:set>
                                      <p:cBhvr>
                                        <p:cTn id="41" fill="hold"/>
                                        <p:tgtEl>
                                          <p:spTgt spid="67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0" presetID="1" grpId="13" fill="hold">
                                  <p:stCondLst>
                                    <p:cond delay="0"/>
                                  </p:stCondLst>
                                  <p:iterate type="el" backwards="0">
                                    <p:tmAbs val="0"/>
                                  </p:iterate>
                                  <p:childTnLst>
                                    <p:set>
                                      <p:cBhvr>
                                        <p:cTn id="45" fill="hold"/>
                                        <p:tgtEl>
                                          <p:spTgt spid="6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63" grpId="2"/>
      <p:bldP build="whole" bldLvl="1" animBg="1" rev="0" advAuto="0" spid="664" grpId="3"/>
      <p:bldP build="whole" bldLvl="1" animBg="1" rev="0" advAuto="0" spid="666" grpId="5"/>
      <p:bldP build="whole" bldLvl="1" animBg="1" rev="0" advAuto="0" spid="669" grpId="8"/>
      <p:bldP build="whole" bldLvl="1" animBg="1" rev="0" advAuto="0" spid="672" grpId="11"/>
      <p:bldP build="whole" bldLvl="1" animBg="1" rev="0" advAuto="0" spid="662" grpId="1"/>
      <p:bldP build="whole" bldLvl="1" animBg="1" rev="0" advAuto="0" spid="667" grpId="6"/>
      <p:bldP build="whole" bldLvl="1" animBg="1" rev="0" advAuto="0" spid="665" grpId="4"/>
      <p:bldP build="whole" bldLvl="1" animBg="1" rev="0" advAuto="0" spid="671" grpId="10"/>
      <p:bldP build="whole" bldLvl="1" animBg="1" rev="0" advAuto="0" spid="674" grpId="13"/>
      <p:bldP build="whole" bldLvl="1" animBg="1" rev="0" advAuto="0" spid="670" grpId="9"/>
      <p:bldP build="whole" bldLvl="1" animBg="1" rev="0" advAuto="0" spid="668" grpId="7"/>
      <p:bldP build="whole" bldLvl="1" animBg="1" rev="0" advAuto="0" spid="673" grpId="12"/>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78" name="Google Shape;612;p5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79" name="Google Shape;613;p5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80" name="Google Shape;614;p5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23 / 57</a:t>
            </a:r>
          </a:p>
        </p:txBody>
      </p:sp>
      <p:sp>
        <p:nvSpPr>
          <p:cNvPr id="681" name="Google Shape;615;p5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82" name="Google Shape;616;p58"/>
          <p:cNvSpPr/>
          <p:nvPr/>
        </p:nvSpPr>
        <p:spPr>
          <a:xfrm>
            <a:off x="457200" y="4983479"/>
            <a:ext cx="3320716" cy="36577"/>
          </a:xfrm>
          <a:prstGeom prst="rect">
            <a:avLst/>
          </a:prstGeom>
          <a:solidFill>
            <a:srgbClr val="F97316"/>
          </a:solidFill>
          <a:ln w="12700">
            <a:miter lim="400000"/>
          </a:ln>
        </p:spPr>
        <p:txBody>
          <a:bodyPr lIns="0" tIns="0" rIns="0" bIns="0" anchor="ctr"/>
          <a:lstStyle/>
          <a:p>
            <a:pPr/>
          </a:p>
        </p:txBody>
      </p:sp>
      <p:sp>
        <p:nvSpPr>
          <p:cNvPr id="683" name="Google Shape;617;p58"/>
          <p:cNvSpPr txBox="1"/>
          <p:nvPr/>
        </p:nvSpPr>
        <p:spPr>
          <a:xfrm>
            <a:off x="914400" y="130936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F4444"/>
                </a:solidFill>
                <a:latin typeface="Consolas"/>
                <a:ea typeface="Consolas"/>
                <a:cs typeface="Consolas"/>
                <a:sym typeface="Consolas"/>
              </a:defRPr>
            </a:lvl1pPr>
          </a:lstStyle>
          <a:p>
            <a:pPr/>
            <a:r>
              <a:t>CREPA #3</a:t>
            </a:r>
          </a:p>
        </p:txBody>
      </p:sp>
      <p:sp>
        <p:nvSpPr>
          <p:cNvPr id="684" name="Google Shape;618;p58"/>
          <p:cNvSpPr txBox="1"/>
          <p:nvPr/>
        </p:nvSpPr>
        <p:spPr>
          <a:xfrm>
            <a:off x="457200" y="2059939"/>
            <a:ext cx="822960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400">
                <a:solidFill>
                  <a:srgbClr val="FFFFFF"/>
                </a:solidFill>
                <a:latin typeface="Georgia"/>
                <a:ea typeface="Georgia"/>
                <a:cs typeface="Georgia"/>
                <a:sym typeface="Georgia"/>
              </a:defRPr>
            </a:lvl1pPr>
          </a:lstStyle>
          <a:p>
            <a:pPr/>
            <a:r>
              <a:t>Chi possiede cosa?</a:t>
            </a:r>
          </a:p>
        </p:txBody>
      </p:sp>
      <p:sp>
        <p:nvSpPr>
          <p:cNvPr id="685" name="Google Shape;619;p58"/>
          <p:cNvSpPr txBox="1"/>
          <p:nvPr/>
        </p:nvSpPr>
        <p:spPr>
          <a:xfrm>
            <a:off x="914400" y="3125296"/>
            <a:ext cx="73152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800">
                <a:solidFill>
                  <a:srgbClr val="9CA3AF"/>
                </a:solidFill>
                <a:latin typeface="Calibri Light"/>
                <a:ea typeface="Calibri Light"/>
                <a:cs typeface="Calibri Light"/>
                <a:sym typeface="Calibri Light"/>
              </a:defRPr>
            </a:lvl1pPr>
          </a:lstStyle>
          <a:p>
            <a:pPr/>
            <a:r>
              <a:t>Ownership implicito e stato mutabile condiviso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85"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689" name="Google Shape;625;p5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690" name="Google Shape;626;p5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691" name="Google Shape;627;p5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24 / 57</a:t>
            </a:r>
          </a:p>
        </p:txBody>
      </p:sp>
      <p:sp>
        <p:nvSpPr>
          <p:cNvPr id="692" name="Google Shape;628;p5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693" name="Google Shape;629;p59"/>
          <p:cNvSpPr/>
          <p:nvPr/>
        </p:nvSpPr>
        <p:spPr>
          <a:xfrm>
            <a:off x="457199" y="4983479"/>
            <a:ext cx="3465097" cy="36577"/>
          </a:xfrm>
          <a:prstGeom prst="rect">
            <a:avLst/>
          </a:prstGeom>
          <a:solidFill>
            <a:srgbClr val="F97316"/>
          </a:solidFill>
          <a:ln w="12700">
            <a:miter lim="400000"/>
          </a:ln>
        </p:spPr>
        <p:txBody>
          <a:bodyPr lIns="0" tIns="0" rIns="0" bIns="0" anchor="ctr"/>
          <a:lstStyle/>
          <a:p>
            <a:pPr/>
          </a:p>
        </p:txBody>
      </p:sp>
      <p:sp>
        <p:nvSpPr>
          <p:cNvPr id="694" name="Google Shape;630;p59"/>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Il problema</a:t>
            </a:r>
          </a:p>
        </p:txBody>
      </p:sp>
      <p:sp>
        <p:nvSpPr>
          <p:cNvPr id="695" name="Google Shape;631;p59"/>
          <p:cNvSpPr/>
          <p:nvPr/>
        </p:nvSpPr>
        <p:spPr>
          <a:xfrm>
            <a:off x="1371600" y="1371600"/>
            <a:ext cx="2011679" cy="914400"/>
          </a:xfrm>
          <a:prstGeom prst="rect">
            <a:avLst/>
          </a:prstGeom>
          <a:solidFill>
            <a:srgbClr val="1A2744"/>
          </a:solidFill>
          <a:ln w="12700">
            <a:miter lim="400000"/>
          </a:ln>
        </p:spPr>
        <p:txBody>
          <a:bodyPr lIns="0" tIns="0" rIns="0" bIns="0" anchor="ctr"/>
          <a:lstStyle/>
          <a:p>
            <a:pPr/>
          </a:p>
        </p:txBody>
      </p:sp>
      <p:sp>
        <p:nvSpPr>
          <p:cNvPr id="696" name="Google Shape;632;p59"/>
          <p:cNvSpPr txBox="1"/>
          <p:nvPr/>
        </p:nvSpPr>
        <p:spPr>
          <a:xfrm>
            <a:off x="1371600" y="1708149"/>
            <a:ext cx="201167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3B82F6"/>
                </a:solidFill>
                <a:latin typeface="Consolas"/>
                <a:ea typeface="Consolas"/>
                <a:cs typeface="Consolas"/>
                <a:sym typeface="Consolas"/>
              </a:defRPr>
            </a:lvl1pPr>
          </a:lstStyle>
          <a:p>
            <a:pPr/>
            <a:r>
              <a:t>ServiceA</a:t>
            </a:r>
          </a:p>
        </p:txBody>
      </p:sp>
      <p:sp>
        <p:nvSpPr>
          <p:cNvPr id="697" name="Google Shape;633;p59"/>
          <p:cNvSpPr txBox="1"/>
          <p:nvPr/>
        </p:nvSpPr>
        <p:spPr>
          <a:xfrm>
            <a:off x="3383279" y="1720850"/>
            <a:ext cx="2377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onsolas"/>
                <a:ea typeface="Consolas"/>
                <a:cs typeface="Consolas"/>
                <a:sym typeface="Consolas"/>
              </a:defRPr>
            </a:lvl1pPr>
          </a:lstStyle>
          <a:p>
            <a:pPr/>
            <a:r>
              <a:t>→  Config  →</a:t>
            </a:r>
          </a:p>
        </p:txBody>
      </p:sp>
      <p:sp>
        <p:nvSpPr>
          <p:cNvPr id="698" name="Google Shape;634;p59"/>
          <p:cNvSpPr/>
          <p:nvPr/>
        </p:nvSpPr>
        <p:spPr>
          <a:xfrm>
            <a:off x="5760720" y="1371600"/>
            <a:ext cx="2011680" cy="914400"/>
          </a:xfrm>
          <a:prstGeom prst="rect">
            <a:avLst/>
          </a:prstGeom>
          <a:solidFill>
            <a:srgbClr val="261A44"/>
          </a:solidFill>
          <a:ln w="12700">
            <a:miter lim="400000"/>
          </a:ln>
        </p:spPr>
        <p:txBody>
          <a:bodyPr lIns="0" tIns="0" rIns="0" bIns="0" anchor="ctr"/>
          <a:lstStyle/>
          <a:p>
            <a:pPr/>
          </a:p>
        </p:txBody>
      </p:sp>
      <p:sp>
        <p:nvSpPr>
          <p:cNvPr id="699" name="Google Shape;635;p59"/>
          <p:cNvSpPr txBox="1"/>
          <p:nvPr/>
        </p:nvSpPr>
        <p:spPr>
          <a:xfrm>
            <a:off x="5760720" y="1708149"/>
            <a:ext cx="20116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A855F7"/>
                </a:solidFill>
                <a:latin typeface="Consolas"/>
                <a:ea typeface="Consolas"/>
                <a:cs typeface="Consolas"/>
                <a:sym typeface="Consolas"/>
              </a:defRPr>
            </a:lvl1pPr>
          </a:lstStyle>
          <a:p>
            <a:pPr/>
            <a:r>
              <a:t>ServiceB</a:t>
            </a:r>
          </a:p>
        </p:txBody>
      </p:sp>
      <p:sp>
        <p:nvSpPr>
          <p:cNvPr id="700" name="Google Shape;636;p59"/>
          <p:cNvSpPr txBox="1"/>
          <p:nvPr/>
        </p:nvSpPr>
        <p:spPr>
          <a:xfrm>
            <a:off x="1828800" y="2597149"/>
            <a:ext cx="548640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F4444"/>
                </a:solidFill>
                <a:latin typeface="Consolas"/>
                <a:ea typeface="Consolas"/>
                <a:cs typeface="Consolas"/>
                <a:sym typeface="Consolas"/>
              </a:defRPr>
            </a:lvl1pPr>
          </a:lstStyle>
          <a:p>
            <a:pPr/>
            <a:r>
              <a:t>ServiceB modifica Config ⚡</a:t>
            </a:r>
          </a:p>
        </p:txBody>
      </p:sp>
      <p:sp>
        <p:nvSpPr>
          <p:cNvPr id="701" name="Google Shape;637;p59"/>
          <p:cNvSpPr/>
          <p:nvPr/>
        </p:nvSpPr>
        <p:spPr>
          <a:xfrm>
            <a:off x="1371600" y="3200400"/>
            <a:ext cx="6400800" cy="914400"/>
          </a:xfrm>
          <a:prstGeom prst="rect">
            <a:avLst/>
          </a:prstGeom>
          <a:solidFill>
            <a:srgbClr val="1A1D2B"/>
          </a:solidFill>
          <a:ln w="12700">
            <a:miter lim="400000"/>
          </a:ln>
        </p:spPr>
        <p:txBody>
          <a:bodyPr lIns="0" tIns="0" rIns="0" bIns="0" anchor="ctr"/>
          <a:lstStyle/>
          <a:p>
            <a:pPr/>
          </a:p>
        </p:txBody>
      </p:sp>
      <p:sp>
        <p:nvSpPr>
          <p:cNvPr id="702" name="Google Shape;638;p59"/>
          <p:cNvSpPr/>
          <p:nvPr/>
        </p:nvSpPr>
        <p:spPr>
          <a:xfrm>
            <a:off x="1371600" y="3200400"/>
            <a:ext cx="54864" cy="914400"/>
          </a:xfrm>
          <a:prstGeom prst="rect">
            <a:avLst/>
          </a:prstGeom>
          <a:solidFill>
            <a:srgbClr val="EF4444"/>
          </a:solidFill>
          <a:ln w="12700">
            <a:miter lim="400000"/>
          </a:ln>
        </p:spPr>
        <p:txBody>
          <a:bodyPr lIns="0" tIns="0" rIns="0" bIns="0" anchor="ctr"/>
          <a:lstStyle/>
          <a:p>
            <a:pPr/>
          </a:p>
        </p:txBody>
      </p:sp>
      <p:sp>
        <p:nvSpPr>
          <p:cNvPr id="703" name="Google Shape;639;p59"/>
          <p:cNvSpPr txBox="1"/>
          <p:nvPr/>
        </p:nvSpPr>
        <p:spPr>
          <a:xfrm>
            <a:off x="1645920" y="3450021"/>
            <a:ext cx="594360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E5E7EB"/>
                </a:solidFill>
                <a:latin typeface="Calibri Light"/>
                <a:ea typeface="Calibri Light"/>
                <a:cs typeface="Calibri Light"/>
                <a:sym typeface="Calibri Light"/>
              </a:defRPr>
            </a:pPr>
            <a:r>
              <a:t>Nessuno ha dichiarato chi possiede quell'oggetto.</a:t>
            </a:r>
          </a:p>
          <a:p>
            <a:pPr>
              <a:defRPr sz="1500">
                <a:solidFill>
                  <a:srgbClr val="E5E7EB"/>
                </a:solidFill>
                <a:latin typeface="Calibri Light"/>
                <a:ea typeface="Calibri Light"/>
                <a:cs typeface="Calibri Light"/>
                <a:sym typeface="Calibri Light"/>
              </a:defRPr>
            </a:pPr>
            <a:r>
              <a:t>Chi ha il diritto di modificarlo.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701"/>
                                        </p:tgtEl>
                                        <p:attrNameLst>
                                          <p:attrName>style.visibility</p:attrName>
                                        </p:attrNameLst>
                                      </p:cBhvr>
                                      <p:to>
                                        <p:strVal val="visible"/>
                                      </p:to>
                                    </p:set>
                                  </p:childTnLst>
                                </p:cTn>
                              </p:par>
                            </p:childTnLst>
                          </p:cTn>
                        </p:par>
                        <p:par>
                          <p:cTn id="11" fill="hold">
                            <p:stCondLst>
                              <p:cond delay="0"/>
                            </p:stCondLst>
                            <p:childTnLst>
                              <p:par>
                                <p:cTn id="12" presetClass="entr" nodeType="afterEffect" presetSubtype="0" presetID="1" grpId="3" fill="hold">
                                  <p:stCondLst>
                                    <p:cond delay="0"/>
                                  </p:stCondLst>
                                  <p:iterate type="el" backwards="0">
                                    <p:tmAbs val="0"/>
                                  </p:iterate>
                                  <p:childTnLst>
                                    <p:set>
                                      <p:cBhvr>
                                        <p:cTn id="13" fill="hold"/>
                                        <p:tgtEl>
                                          <p:spTgt spid="702"/>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7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03" grpId="4"/>
      <p:bldP build="whole" bldLvl="1" animBg="1" rev="0" advAuto="0" spid="701" grpId="2"/>
      <p:bldP build="whole" bldLvl="1" animBg="1" rev="0" advAuto="0" spid="702" grpId="3"/>
      <p:bldP build="whole" bldLvl="1" animBg="1" rev="0" advAuto="0" spid="700"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07" name="Google Shape;645;p6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08" name="Google Shape;646;p6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09" name="Google Shape;647;p6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25 / 57</a:t>
            </a:r>
          </a:p>
        </p:txBody>
      </p:sp>
      <p:sp>
        <p:nvSpPr>
          <p:cNvPr id="710" name="Google Shape;648;p6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11" name="Google Shape;649;p60"/>
          <p:cNvSpPr/>
          <p:nvPr/>
        </p:nvSpPr>
        <p:spPr>
          <a:xfrm>
            <a:off x="457199" y="4983479"/>
            <a:ext cx="3609475" cy="36577"/>
          </a:xfrm>
          <a:prstGeom prst="rect">
            <a:avLst/>
          </a:prstGeom>
          <a:solidFill>
            <a:srgbClr val="F97316"/>
          </a:solidFill>
          <a:ln w="12700">
            <a:miter lim="400000"/>
          </a:ln>
        </p:spPr>
        <p:txBody>
          <a:bodyPr lIns="0" tIns="0" rIns="0" bIns="0" anchor="ctr"/>
          <a:lstStyle/>
          <a:p>
            <a:pPr/>
          </a:p>
        </p:txBody>
      </p:sp>
      <p:sp>
        <p:nvSpPr>
          <p:cNvPr id="712" name="Google Shape;650;p60"/>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Il codice innocente</a:t>
            </a:r>
          </a:p>
        </p:txBody>
      </p:sp>
      <p:sp>
        <p:nvSpPr>
          <p:cNvPr id="713" name="Google Shape;651;p60"/>
          <p:cNvSpPr/>
          <p:nvPr/>
        </p:nvSpPr>
        <p:spPr>
          <a:xfrm>
            <a:off x="914400" y="1097280"/>
            <a:ext cx="7315200" cy="2011679"/>
          </a:xfrm>
          <a:prstGeom prst="rect">
            <a:avLst/>
          </a:prstGeom>
          <a:solidFill>
            <a:srgbClr val="12141F"/>
          </a:solidFill>
          <a:ln w="12700">
            <a:miter lim="400000"/>
          </a:ln>
        </p:spPr>
        <p:txBody>
          <a:bodyPr lIns="0" tIns="0" rIns="0" bIns="0" anchor="ctr"/>
          <a:lstStyle/>
          <a:p>
            <a:pPr/>
          </a:p>
        </p:txBody>
      </p:sp>
      <p:sp>
        <p:nvSpPr>
          <p:cNvPr id="714" name="Google Shape;652;p60"/>
          <p:cNvSpPr txBox="1"/>
          <p:nvPr/>
        </p:nvSpPr>
        <p:spPr>
          <a:xfrm>
            <a:off x="1188719" y="1645920"/>
            <a:ext cx="6858001"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3B82F6"/>
                </a:solidFill>
                <a:latin typeface="Consolas"/>
                <a:ea typeface="Consolas"/>
                <a:cs typeface="Consolas"/>
                <a:sym typeface="Consolas"/>
              </a:defRPr>
            </a:pPr>
            <a:r>
              <a:t>void </a:t>
            </a:r>
            <a:r>
              <a:rPr>
                <a:solidFill>
                  <a:srgbClr val="22C55E"/>
                </a:solidFill>
              </a:rPr>
              <a:t>processItems</a:t>
            </a:r>
            <a:r>
              <a:rPr>
                <a:solidFill>
                  <a:srgbClr val="E5E7EB"/>
                </a:solidFill>
              </a:rPr>
              <a:t>(List items) {</a:t>
            </a:r>
            <a:endParaRPr>
              <a:latin typeface="Calibri Light"/>
              <a:ea typeface="Calibri Light"/>
              <a:cs typeface="Calibri Light"/>
              <a:sym typeface="Calibri Light"/>
            </a:endParaRPr>
          </a:p>
          <a:p>
            <a:pPr>
              <a:defRPr sz="1500">
                <a:solidFill>
                  <a:srgbClr val="EAB308"/>
                </a:solidFill>
                <a:latin typeface="Consolas"/>
                <a:ea typeface="Consolas"/>
                <a:cs typeface="Consolas"/>
                <a:sym typeface="Consolas"/>
              </a:defRPr>
            </a:pPr>
            <a:r>
              <a:t>    items.sort()  </a:t>
            </a:r>
            <a:r>
              <a:rPr>
                <a:solidFill>
                  <a:srgbClr val="6B7280"/>
                </a:solidFill>
              </a:rPr>
              <a:t>// ordina in-place!</a:t>
            </a:r>
            <a:endParaRPr>
              <a:latin typeface="Calibri Light"/>
              <a:ea typeface="Calibri Light"/>
              <a:cs typeface="Calibri Light"/>
              <a:sym typeface="Calibri Light"/>
            </a:endParaRPr>
          </a:p>
          <a:p>
            <a:pPr>
              <a:defRPr sz="1500">
                <a:solidFill>
                  <a:srgbClr val="6B7280"/>
                </a:solidFill>
                <a:latin typeface="Consolas"/>
                <a:ea typeface="Consolas"/>
                <a:cs typeface="Consolas"/>
                <a:sym typeface="Consolas"/>
              </a:defRPr>
            </a:pPr>
            <a:r>
              <a:t>    // ... elabora ...</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a:t>
            </a:r>
          </a:p>
        </p:txBody>
      </p:sp>
      <p:sp>
        <p:nvSpPr>
          <p:cNvPr id="715" name="Google Shape;653;p60"/>
          <p:cNvSpPr txBox="1"/>
          <p:nvPr/>
        </p:nvSpPr>
        <p:spPr>
          <a:xfrm>
            <a:off x="914400" y="3610042"/>
            <a:ext cx="73152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F4444"/>
                </a:solidFill>
                <a:latin typeface="Calibri Light"/>
                <a:ea typeface="Calibri Light"/>
                <a:cs typeface="Calibri Light"/>
                <a:sym typeface="Calibri Light"/>
              </a:defRPr>
            </a:lvl1pPr>
          </a:lstStyle>
          <a:p>
            <a:pPr/>
            <a:r>
              <a:t>Il chiamante si aspettava che la lista rimanesse intatta. Non lo era.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15"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19" name="Google Shape;659;p6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20" name="Google Shape;660;p6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21" name="Google Shape;661;p6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26 / 57</a:t>
            </a:r>
          </a:p>
        </p:txBody>
      </p:sp>
      <p:sp>
        <p:nvSpPr>
          <p:cNvPr id="722" name="Google Shape;662;p6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23" name="Google Shape;663;p61"/>
          <p:cNvSpPr/>
          <p:nvPr/>
        </p:nvSpPr>
        <p:spPr>
          <a:xfrm>
            <a:off x="457200" y="4983479"/>
            <a:ext cx="3753854" cy="36577"/>
          </a:xfrm>
          <a:prstGeom prst="rect">
            <a:avLst/>
          </a:prstGeom>
          <a:solidFill>
            <a:srgbClr val="F97316"/>
          </a:solidFill>
          <a:ln w="12700">
            <a:miter lim="400000"/>
          </a:ln>
        </p:spPr>
        <p:txBody>
          <a:bodyPr lIns="0" tIns="0" rIns="0" bIns="0" anchor="ctr"/>
          <a:lstStyle/>
          <a:p>
            <a:pPr/>
          </a:p>
        </p:txBody>
      </p:sp>
      <p:sp>
        <p:nvSpPr>
          <p:cNvPr id="724" name="Google Shape;664;p61"/>
          <p:cNvSpPr txBox="1"/>
          <p:nvPr/>
        </p:nvSpPr>
        <p:spPr>
          <a:xfrm>
            <a:off x="457200" y="345440"/>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Aliasing</a:t>
            </a:r>
          </a:p>
        </p:txBody>
      </p:sp>
      <p:sp>
        <p:nvSpPr>
          <p:cNvPr id="725" name="Google Shape;665;p61"/>
          <p:cNvSpPr txBox="1"/>
          <p:nvPr/>
        </p:nvSpPr>
        <p:spPr>
          <a:xfrm>
            <a:off x="3283542" y="1297939"/>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3B82F6"/>
                </a:solidFill>
                <a:latin typeface="Consolas"/>
                <a:ea typeface="Consolas"/>
                <a:cs typeface="Consolas"/>
                <a:sym typeface="Consolas"/>
              </a:defRPr>
            </a:lvl1pPr>
          </a:lstStyle>
          <a:p>
            <a:pPr/>
            <a:r>
              <a:t>a</a:t>
            </a:r>
          </a:p>
        </p:txBody>
      </p:sp>
      <p:sp>
        <p:nvSpPr>
          <p:cNvPr id="726" name="Google Shape;666;p61"/>
          <p:cNvSpPr/>
          <p:nvPr/>
        </p:nvSpPr>
        <p:spPr>
          <a:xfrm>
            <a:off x="3727026" y="1737360"/>
            <a:ext cx="27433" cy="548641"/>
          </a:xfrm>
          <a:prstGeom prst="rect">
            <a:avLst/>
          </a:prstGeom>
          <a:solidFill>
            <a:srgbClr val="3B82F6"/>
          </a:solidFill>
          <a:ln w="12700">
            <a:miter lim="400000"/>
          </a:ln>
        </p:spPr>
        <p:txBody>
          <a:bodyPr lIns="0" tIns="0" rIns="0" bIns="0" anchor="ctr"/>
          <a:lstStyle/>
          <a:p>
            <a:pPr/>
          </a:p>
        </p:txBody>
      </p:sp>
      <p:sp>
        <p:nvSpPr>
          <p:cNvPr id="727" name="Google Shape;667;p61"/>
          <p:cNvSpPr/>
          <p:nvPr/>
        </p:nvSpPr>
        <p:spPr>
          <a:xfrm>
            <a:off x="3657600" y="2286000"/>
            <a:ext cx="1828800" cy="914400"/>
          </a:xfrm>
          <a:prstGeom prst="rect">
            <a:avLst/>
          </a:prstGeom>
          <a:solidFill>
            <a:srgbClr val="2A1A08"/>
          </a:solidFill>
          <a:ln w="12700">
            <a:miter lim="400000"/>
          </a:ln>
        </p:spPr>
        <p:txBody>
          <a:bodyPr lIns="0" tIns="0" rIns="0" bIns="0" anchor="ctr"/>
          <a:lstStyle/>
          <a:p>
            <a:pPr/>
          </a:p>
        </p:txBody>
      </p:sp>
      <p:sp>
        <p:nvSpPr>
          <p:cNvPr id="728" name="Google Shape;668;p61"/>
          <p:cNvSpPr txBox="1"/>
          <p:nvPr/>
        </p:nvSpPr>
        <p:spPr>
          <a:xfrm>
            <a:off x="3657600" y="2622549"/>
            <a:ext cx="18288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97316"/>
                </a:solidFill>
                <a:latin typeface="Consolas"/>
                <a:ea typeface="Consolas"/>
                <a:cs typeface="Consolas"/>
                <a:sym typeface="Consolas"/>
              </a:defRPr>
            </a:lvl1pPr>
          </a:lstStyle>
          <a:p>
            <a:pPr/>
            <a:r>
              <a:t>Object</a:t>
            </a:r>
          </a:p>
        </p:txBody>
      </p:sp>
      <p:sp>
        <p:nvSpPr>
          <p:cNvPr id="729" name="Google Shape;669;p61"/>
          <p:cNvSpPr txBox="1"/>
          <p:nvPr/>
        </p:nvSpPr>
        <p:spPr>
          <a:xfrm>
            <a:off x="4900675" y="1353819"/>
            <a:ext cx="9144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855F7"/>
                </a:solidFill>
                <a:latin typeface="Consolas"/>
                <a:ea typeface="Consolas"/>
                <a:cs typeface="Consolas"/>
                <a:sym typeface="Consolas"/>
              </a:defRPr>
            </a:lvl1pPr>
          </a:lstStyle>
          <a:p>
            <a:pPr/>
            <a:r>
              <a:t>b</a:t>
            </a:r>
          </a:p>
        </p:txBody>
      </p:sp>
      <p:sp>
        <p:nvSpPr>
          <p:cNvPr id="730" name="Google Shape;670;p61"/>
          <p:cNvSpPr/>
          <p:nvPr/>
        </p:nvSpPr>
        <p:spPr>
          <a:xfrm>
            <a:off x="5344159" y="1737360"/>
            <a:ext cx="27433" cy="548641"/>
          </a:xfrm>
          <a:prstGeom prst="rect">
            <a:avLst/>
          </a:prstGeom>
          <a:solidFill>
            <a:srgbClr val="A855F7"/>
          </a:solidFill>
          <a:ln w="12700">
            <a:miter lim="400000"/>
          </a:ln>
        </p:spPr>
        <p:txBody>
          <a:bodyPr lIns="0" tIns="0" rIns="0" bIns="0" anchor="ctr"/>
          <a:lstStyle/>
          <a:p>
            <a:pPr/>
          </a:p>
        </p:txBody>
      </p:sp>
      <p:sp>
        <p:nvSpPr>
          <p:cNvPr id="731" name="Google Shape;671;p61"/>
          <p:cNvSpPr txBox="1"/>
          <p:nvPr/>
        </p:nvSpPr>
        <p:spPr>
          <a:xfrm>
            <a:off x="1371600" y="3632901"/>
            <a:ext cx="640080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9CA3AF"/>
                </a:solidFill>
                <a:latin typeface="Calibri Light"/>
                <a:ea typeface="Calibri Light"/>
                <a:cs typeface="Calibri Light"/>
                <a:sym typeface="Calibri Light"/>
              </a:defRPr>
            </a:pPr>
            <a:r>
              <a:t>Due nomi. Stesso oggetto.</a:t>
            </a:r>
          </a:p>
          <a:p>
            <a:pPr algn="ctr">
              <a:defRPr sz="1500">
                <a:solidFill>
                  <a:srgbClr val="9CA3AF"/>
                </a:solidFill>
                <a:latin typeface="Calibri Light"/>
                <a:ea typeface="Calibri Light"/>
                <a:cs typeface="Calibri Light"/>
                <a:sym typeface="Calibri Light"/>
              </a:defRPr>
            </a:pPr>
            <a:r>
              <a:t>Modifichi tramite a → la modifica si vede tramite b.</a:t>
            </a:r>
          </a:p>
        </p:txBody>
      </p:sp>
      <p:sp>
        <p:nvSpPr>
          <p:cNvPr id="732" name="Google Shape;672;p61"/>
          <p:cNvSpPr txBox="1"/>
          <p:nvPr/>
        </p:nvSpPr>
        <p:spPr>
          <a:xfrm>
            <a:off x="1371600" y="4402127"/>
            <a:ext cx="64008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6B7280"/>
                </a:solidFill>
                <a:latin typeface="Calibri Light"/>
                <a:ea typeface="Calibri Light"/>
                <a:cs typeface="Calibri Light"/>
                <a:sym typeface="Calibri Light"/>
              </a:defRPr>
            </a:lvl1pPr>
          </a:lstStyle>
          <a:p>
            <a:pPr/>
            <a:r>
              <a:t>Java, Python, JavaScript, C# — comportamento di default.</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36" name="Google Shape;678;p62"/>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37" name="Google Shape;679;p62"/>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38" name="Google Shape;680;p62"/>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27 / 57</a:t>
            </a:r>
          </a:p>
        </p:txBody>
      </p:sp>
      <p:sp>
        <p:nvSpPr>
          <p:cNvPr id="739" name="Google Shape;681;p62"/>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40" name="Google Shape;682;p62"/>
          <p:cNvSpPr/>
          <p:nvPr/>
        </p:nvSpPr>
        <p:spPr>
          <a:xfrm>
            <a:off x="457199" y="4983479"/>
            <a:ext cx="3898233" cy="36577"/>
          </a:xfrm>
          <a:prstGeom prst="rect">
            <a:avLst/>
          </a:prstGeom>
          <a:solidFill>
            <a:srgbClr val="F97316"/>
          </a:solidFill>
          <a:ln w="12700">
            <a:miter lim="400000"/>
          </a:ln>
        </p:spPr>
        <p:txBody>
          <a:bodyPr lIns="0" tIns="0" rIns="0" bIns="0" anchor="ctr"/>
          <a:lstStyle/>
          <a:p>
            <a:pPr/>
          </a:p>
        </p:txBody>
      </p:sp>
      <p:sp>
        <p:nvSpPr>
          <p:cNvPr id="741" name="Google Shape;683;p62"/>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Defensive copies</a:t>
            </a:r>
          </a:p>
        </p:txBody>
      </p:sp>
      <p:sp>
        <p:nvSpPr>
          <p:cNvPr id="742" name="Google Shape;684;p62"/>
          <p:cNvSpPr/>
          <p:nvPr/>
        </p:nvSpPr>
        <p:spPr>
          <a:xfrm>
            <a:off x="914400" y="1097280"/>
            <a:ext cx="7315200" cy="1645921"/>
          </a:xfrm>
          <a:prstGeom prst="rect">
            <a:avLst/>
          </a:prstGeom>
          <a:solidFill>
            <a:srgbClr val="12141F"/>
          </a:solidFill>
          <a:ln w="12700">
            <a:miter lim="400000"/>
          </a:ln>
        </p:spPr>
        <p:txBody>
          <a:bodyPr lIns="0" tIns="0" rIns="0" bIns="0" anchor="ctr"/>
          <a:lstStyle/>
          <a:p>
            <a:pPr/>
          </a:p>
        </p:txBody>
      </p:sp>
      <p:sp>
        <p:nvSpPr>
          <p:cNvPr id="743" name="Google Shape;685;p62"/>
          <p:cNvSpPr txBox="1"/>
          <p:nvPr/>
        </p:nvSpPr>
        <p:spPr>
          <a:xfrm>
            <a:off x="1188719" y="1577339"/>
            <a:ext cx="685800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E5E7EB"/>
                </a:solidFill>
                <a:latin typeface="Consolas"/>
                <a:ea typeface="Consolas"/>
                <a:cs typeface="Consolas"/>
                <a:sym typeface="Consolas"/>
              </a:defRPr>
            </a:pPr>
            <a:r>
              <a:t>new ArrayList&lt;&gt;(original)</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Collections.unmodifiableList(original)</a:t>
            </a:r>
            <a:endParaRPr>
              <a:latin typeface="Calibri Light"/>
              <a:ea typeface="Calibri Light"/>
              <a:cs typeface="Calibri Light"/>
              <a:sym typeface="Calibri Light"/>
            </a:endParaRPr>
          </a:p>
          <a:p>
            <a:pPr>
              <a:defRPr sz="1500">
                <a:solidFill>
                  <a:srgbClr val="6B7280"/>
                </a:solidFill>
                <a:latin typeface="Consolas"/>
                <a:ea typeface="Consolas"/>
                <a:cs typeface="Consolas"/>
                <a:sym typeface="Consolas"/>
              </a:defRPr>
            </a:pPr>
            <a:r>
              <a:t>// deep copy? shallow copy? clone()?</a:t>
            </a:r>
          </a:p>
        </p:txBody>
      </p:sp>
      <p:sp>
        <p:nvSpPr>
          <p:cNvPr id="744" name="Google Shape;686;p62"/>
          <p:cNvSpPr/>
          <p:nvPr/>
        </p:nvSpPr>
        <p:spPr>
          <a:xfrm>
            <a:off x="914400" y="3200400"/>
            <a:ext cx="7315200" cy="914400"/>
          </a:xfrm>
          <a:prstGeom prst="rect">
            <a:avLst/>
          </a:prstGeom>
          <a:solidFill>
            <a:srgbClr val="1A1D2B"/>
          </a:solidFill>
          <a:ln w="12700">
            <a:miter lim="400000"/>
          </a:ln>
        </p:spPr>
        <p:txBody>
          <a:bodyPr lIns="0" tIns="0" rIns="0" bIns="0" anchor="ctr"/>
          <a:lstStyle/>
          <a:p>
            <a:pPr/>
          </a:p>
        </p:txBody>
      </p:sp>
      <p:sp>
        <p:nvSpPr>
          <p:cNvPr id="745" name="Google Shape;687;p62"/>
          <p:cNvSpPr/>
          <p:nvPr/>
        </p:nvSpPr>
        <p:spPr>
          <a:xfrm>
            <a:off x="914400" y="3200400"/>
            <a:ext cx="54864" cy="914400"/>
          </a:xfrm>
          <a:prstGeom prst="rect">
            <a:avLst/>
          </a:prstGeom>
          <a:solidFill>
            <a:srgbClr val="EAB308"/>
          </a:solidFill>
          <a:ln w="12700">
            <a:miter lim="400000"/>
          </a:ln>
        </p:spPr>
        <p:txBody>
          <a:bodyPr lIns="0" tIns="0" rIns="0" bIns="0" anchor="ctr"/>
          <a:lstStyle/>
          <a:p>
            <a:pPr/>
          </a:p>
        </p:txBody>
      </p:sp>
      <p:sp>
        <p:nvSpPr>
          <p:cNvPr id="746" name="Google Shape;688;p62"/>
          <p:cNvSpPr txBox="1"/>
          <p:nvPr/>
        </p:nvSpPr>
        <p:spPr>
          <a:xfrm>
            <a:off x="1188719" y="3426023"/>
            <a:ext cx="68580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EAB308"/>
                </a:solidFill>
                <a:latin typeface="Calibri Light"/>
                <a:ea typeface="Calibri Light"/>
                <a:cs typeface="Calibri Light"/>
                <a:sym typeface="Calibri Light"/>
              </a:defRPr>
            </a:pPr>
            <a:r>
              <a:t>Stai scrivendo codice per difenderti dal linguaggio,</a:t>
            </a:r>
          </a:p>
          <a:p>
            <a:pPr>
              <a:defRPr sz="1600">
                <a:solidFill>
                  <a:srgbClr val="EAB308"/>
                </a:solidFill>
                <a:latin typeface="Calibri Light"/>
                <a:ea typeface="Calibri Light"/>
                <a:cs typeface="Calibri Light"/>
                <a:sym typeface="Calibri Light"/>
              </a:defRPr>
            </a:pPr>
            <a:r>
              <a:t>non per risolvere il problema del tuo utente.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4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745"/>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45" grpId="2"/>
      <p:bldP build="whole" bldLvl="1" animBg="1" rev="0" advAuto="0" spid="744" grpId="1"/>
      <p:bldP build="whole" bldLvl="1" animBg="1" rev="0" advAuto="0" spid="746" grpId="3"/>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50" name="Google Shape;694;p63"/>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51" name="Google Shape;695;p63"/>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52" name="Google Shape;696;p63"/>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28 / 57</a:t>
            </a:r>
          </a:p>
        </p:txBody>
      </p:sp>
      <p:sp>
        <p:nvSpPr>
          <p:cNvPr id="753" name="Google Shape;697;p63"/>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54" name="Google Shape;698;p63"/>
          <p:cNvSpPr/>
          <p:nvPr/>
        </p:nvSpPr>
        <p:spPr>
          <a:xfrm>
            <a:off x="457200" y="4983479"/>
            <a:ext cx="4042611" cy="36577"/>
          </a:xfrm>
          <a:prstGeom prst="rect">
            <a:avLst/>
          </a:prstGeom>
          <a:solidFill>
            <a:srgbClr val="F97316"/>
          </a:solidFill>
          <a:ln w="12700">
            <a:miter lim="400000"/>
          </a:ln>
        </p:spPr>
        <p:txBody>
          <a:bodyPr lIns="0" tIns="0" rIns="0" bIns="0" anchor="ctr"/>
          <a:lstStyle/>
          <a:p>
            <a:pPr/>
          </a:p>
        </p:txBody>
      </p:sp>
      <p:sp>
        <p:nvSpPr>
          <p:cNvPr id="755" name="Google Shape;699;p63"/>
          <p:cNvSpPr txBox="1"/>
          <p:nvPr/>
        </p:nvSpPr>
        <p:spPr>
          <a:xfrm>
            <a:off x="457200" y="345440"/>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Il vero costo</a:t>
            </a:r>
          </a:p>
        </p:txBody>
      </p:sp>
      <p:sp>
        <p:nvSpPr>
          <p:cNvPr id="756" name="Google Shape;700;p63"/>
          <p:cNvSpPr txBox="1"/>
          <p:nvPr/>
        </p:nvSpPr>
        <p:spPr>
          <a:xfrm>
            <a:off x="731519" y="1231463"/>
            <a:ext cx="73152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E5E7EB"/>
                </a:solidFill>
                <a:latin typeface="Calibri Light"/>
                <a:ea typeface="Calibri Light"/>
                <a:cs typeface="Calibri Light"/>
                <a:sym typeface="Calibri Light"/>
              </a:defRPr>
            </a:pPr>
            <a:r>
              <a:t>Ogni volta che leggi codice OOP con stato mutabile,</a:t>
            </a:r>
          </a:p>
          <a:p>
            <a:pPr>
              <a:defRPr sz="1600">
                <a:solidFill>
                  <a:srgbClr val="E5E7EB"/>
                </a:solidFill>
                <a:latin typeface="Calibri Light"/>
                <a:ea typeface="Calibri Light"/>
                <a:cs typeface="Calibri Light"/>
                <a:sym typeface="Calibri Light"/>
              </a:defRPr>
            </a:pPr>
            <a:r>
              <a:t>devi tenere in testa una mappa:</a:t>
            </a:r>
          </a:p>
        </p:txBody>
      </p:sp>
      <p:sp>
        <p:nvSpPr>
          <p:cNvPr id="757" name="Google Shape;701;p63"/>
          <p:cNvSpPr txBox="1"/>
          <p:nvPr/>
        </p:nvSpPr>
        <p:spPr>
          <a:xfrm>
            <a:off x="1371600" y="2165349"/>
            <a:ext cx="3657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97316"/>
                </a:solidFill>
                <a:latin typeface="Georgia"/>
                <a:ea typeface="Georgia"/>
                <a:cs typeface="Georgia"/>
                <a:sym typeface="Georgia"/>
              </a:defRPr>
            </a:lvl1pPr>
          </a:lstStyle>
          <a:p>
            <a:pPr/>
            <a:r>
              <a:t>?</a:t>
            </a:r>
          </a:p>
        </p:txBody>
      </p:sp>
      <p:sp>
        <p:nvSpPr>
          <p:cNvPr id="758" name="Google Shape;702;p63"/>
          <p:cNvSpPr txBox="1"/>
          <p:nvPr/>
        </p:nvSpPr>
        <p:spPr>
          <a:xfrm>
            <a:off x="1828800" y="2192721"/>
            <a:ext cx="54864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Chi ha questo riferimento?</a:t>
            </a:r>
          </a:p>
        </p:txBody>
      </p:sp>
      <p:sp>
        <p:nvSpPr>
          <p:cNvPr id="759" name="Google Shape;703;p63"/>
          <p:cNvSpPr txBox="1"/>
          <p:nvPr/>
        </p:nvSpPr>
        <p:spPr>
          <a:xfrm>
            <a:off x="1371600" y="2622549"/>
            <a:ext cx="3657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97316"/>
                </a:solidFill>
                <a:latin typeface="Georgia"/>
                <a:ea typeface="Georgia"/>
                <a:cs typeface="Georgia"/>
                <a:sym typeface="Georgia"/>
              </a:defRPr>
            </a:lvl1pPr>
          </a:lstStyle>
          <a:p>
            <a:pPr/>
            <a:r>
              <a:t>?</a:t>
            </a:r>
          </a:p>
        </p:txBody>
      </p:sp>
      <p:sp>
        <p:nvSpPr>
          <p:cNvPr id="760" name="Google Shape;704;p63"/>
          <p:cNvSpPr txBox="1"/>
          <p:nvPr/>
        </p:nvSpPr>
        <p:spPr>
          <a:xfrm>
            <a:off x="1828800" y="2649921"/>
            <a:ext cx="54864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Chi potrebbe averlo modificato?</a:t>
            </a:r>
          </a:p>
        </p:txBody>
      </p:sp>
      <p:sp>
        <p:nvSpPr>
          <p:cNvPr id="761" name="Google Shape;705;p63"/>
          <p:cNvSpPr txBox="1"/>
          <p:nvPr/>
        </p:nvSpPr>
        <p:spPr>
          <a:xfrm>
            <a:off x="1371600" y="3079749"/>
            <a:ext cx="3657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97316"/>
                </a:solidFill>
                <a:latin typeface="Georgia"/>
                <a:ea typeface="Georgia"/>
                <a:cs typeface="Georgia"/>
                <a:sym typeface="Georgia"/>
              </a:defRPr>
            </a:lvl1pPr>
          </a:lstStyle>
          <a:p>
            <a:pPr/>
            <a:r>
              <a:t>?</a:t>
            </a:r>
          </a:p>
        </p:txBody>
      </p:sp>
      <p:sp>
        <p:nvSpPr>
          <p:cNvPr id="762" name="Google Shape;706;p63"/>
          <p:cNvSpPr txBox="1"/>
          <p:nvPr/>
        </p:nvSpPr>
        <p:spPr>
          <a:xfrm>
            <a:off x="1828800" y="3107121"/>
            <a:ext cx="54864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Quando?</a:t>
            </a:r>
          </a:p>
        </p:txBody>
      </p:sp>
      <p:sp>
        <p:nvSpPr>
          <p:cNvPr id="763" name="Google Shape;707;p63"/>
          <p:cNvSpPr txBox="1"/>
          <p:nvPr/>
        </p:nvSpPr>
        <p:spPr>
          <a:xfrm>
            <a:off x="1371600" y="3536949"/>
            <a:ext cx="36576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97316"/>
                </a:solidFill>
                <a:latin typeface="Georgia"/>
                <a:ea typeface="Georgia"/>
                <a:cs typeface="Georgia"/>
                <a:sym typeface="Georgia"/>
              </a:defRPr>
            </a:lvl1pPr>
          </a:lstStyle>
          <a:p>
            <a:pPr/>
            <a:r>
              <a:t>?</a:t>
            </a:r>
          </a:p>
        </p:txBody>
      </p:sp>
      <p:sp>
        <p:nvSpPr>
          <p:cNvPr id="764" name="Google Shape;708;p63"/>
          <p:cNvSpPr txBox="1"/>
          <p:nvPr/>
        </p:nvSpPr>
        <p:spPr>
          <a:xfrm>
            <a:off x="1828800" y="3564321"/>
            <a:ext cx="54864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Da dove viene questo valore?</a:t>
            </a:r>
          </a:p>
        </p:txBody>
      </p:sp>
      <p:sp>
        <p:nvSpPr>
          <p:cNvPr id="765" name="Google Shape;709;p63"/>
          <p:cNvSpPr txBox="1"/>
          <p:nvPr/>
        </p:nvSpPr>
        <p:spPr>
          <a:xfrm>
            <a:off x="1371600" y="4397178"/>
            <a:ext cx="64008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6B7280"/>
                </a:solidFill>
                <a:latin typeface="Calibri Light"/>
                <a:ea typeface="Calibri Light"/>
                <a:cs typeface="Calibri Light"/>
                <a:sym typeface="Calibri Light"/>
              </a:defRPr>
            </a:lvl1pPr>
          </a:lstStyle>
          <a:p>
            <a:pPr/>
            <a:r>
              <a:t>Overhead cognitivo costante. Non lo misuri con i profiler.</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57"/>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75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759"/>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7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5" fill="hold">
                                  <p:stCondLst>
                                    <p:cond delay="0"/>
                                  </p:stCondLst>
                                  <p:iterate type="el" backwards="0">
                                    <p:tmAbs val="0"/>
                                  </p:iterate>
                                  <p:childTnLst>
                                    <p:set>
                                      <p:cBhvr>
                                        <p:cTn id="20" fill="hold"/>
                                        <p:tgtEl>
                                          <p:spTgt spid="761"/>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6" fill="hold">
                                  <p:stCondLst>
                                    <p:cond delay="0"/>
                                  </p:stCondLst>
                                  <p:iterate type="el" backwards="0">
                                    <p:tmAbs val="0"/>
                                  </p:iterate>
                                  <p:childTnLst>
                                    <p:set>
                                      <p:cBhvr>
                                        <p:cTn id="23" fill="hold"/>
                                        <p:tgtEl>
                                          <p:spTgt spid="76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7" fill="hold">
                                  <p:stCondLst>
                                    <p:cond delay="0"/>
                                  </p:stCondLst>
                                  <p:iterate type="el" backwards="0">
                                    <p:tmAbs val="0"/>
                                  </p:iterate>
                                  <p:childTnLst>
                                    <p:set>
                                      <p:cBhvr>
                                        <p:cTn id="27" fill="hold"/>
                                        <p:tgtEl>
                                          <p:spTgt spid="763"/>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8" fill="hold">
                                  <p:stCondLst>
                                    <p:cond delay="0"/>
                                  </p:stCondLst>
                                  <p:iterate type="el" backwards="0">
                                    <p:tmAbs val="0"/>
                                  </p:iterate>
                                  <p:childTnLst>
                                    <p:set>
                                      <p:cBhvr>
                                        <p:cTn id="30" fill="hold"/>
                                        <p:tgtEl>
                                          <p:spTgt spid="7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9" fill="hold">
                                  <p:stCondLst>
                                    <p:cond delay="0"/>
                                  </p:stCondLst>
                                  <p:iterate type="el" backwards="0">
                                    <p:tmAbs val="0"/>
                                  </p:iterate>
                                  <p:childTnLst>
                                    <p:set>
                                      <p:cBhvr>
                                        <p:cTn id="34" fill="hold"/>
                                        <p:tgtEl>
                                          <p:spTgt spid="7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61" grpId="5"/>
      <p:bldP build="whole" bldLvl="1" animBg="1" rev="0" advAuto="0" spid="764" grpId="8"/>
      <p:bldP build="whole" bldLvl="1" animBg="1" rev="0" advAuto="0" spid="758" grpId="2"/>
      <p:bldP build="whole" bldLvl="1" animBg="1" rev="0" advAuto="0" spid="757" grpId="1"/>
      <p:bldP build="whole" bldLvl="1" animBg="1" rev="0" advAuto="0" spid="763" grpId="7"/>
      <p:bldP build="whole" bldLvl="1" animBg="1" rev="0" advAuto="0" spid="762" grpId="6"/>
      <p:bldP build="whole" bldLvl="1" animBg="1" rev="0" advAuto="0" spid="759" grpId="3"/>
      <p:bldP build="whole" bldLvl="1" animBg="1" rev="0" advAuto="0" spid="765" grpId="9"/>
      <p:bldP build="whole" bldLvl="1" animBg="1" rev="0" advAuto="0" spid="760" grpId="4"/>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69" name="Google Shape;715;p64"/>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70" name="Google Shape;716;p64"/>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71" name="Google Shape;717;p6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29 / 57</a:t>
            </a:r>
          </a:p>
        </p:txBody>
      </p:sp>
      <p:sp>
        <p:nvSpPr>
          <p:cNvPr id="772" name="Google Shape;718;p6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73" name="Google Shape;719;p64"/>
          <p:cNvSpPr/>
          <p:nvPr/>
        </p:nvSpPr>
        <p:spPr>
          <a:xfrm>
            <a:off x="457200" y="4983479"/>
            <a:ext cx="4186990" cy="36577"/>
          </a:xfrm>
          <a:prstGeom prst="rect">
            <a:avLst/>
          </a:prstGeom>
          <a:solidFill>
            <a:srgbClr val="F97316"/>
          </a:solidFill>
          <a:ln w="12700">
            <a:miter lim="400000"/>
          </a:ln>
        </p:spPr>
        <p:txBody>
          <a:bodyPr lIns="0" tIns="0" rIns="0" bIns="0" anchor="ctr"/>
          <a:lstStyle/>
          <a:p>
            <a:pPr/>
          </a:p>
        </p:txBody>
      </p:sp>
      <p:sp>
        <p:nvSpPr>
          <p:cNvPr id="774" name="Google Shape;720;p64"/>
          <p:cNvSpPr txBox="1"/>
          <p:nvPr/>
        </p:nvSpPr>
        <p:spPr>
          <a:xfrm>
            <a:off x="914400" y="130936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F4444"/>
                </a:solidFill>
                <a:latin typeface="Consolas"/>
                <a:ea typeface="Consolas"/>
                <a:cs typeface="Consolas"/>
                <a:sym typeface="Consolas"/>
              </a:defRPr>
            </a:lvl1pPr>
          </a:lstStyle>
          <a:p>
            <a:pPr/>
            <a:r>
              <a:t>CREPA #4</a:t>
            </a:r>
          </a:p>
        </p:txBody>
      </p:sp>
      <p:sp>
        <p:nvSpPr>
          <p:cNvPr id="775" name="Google Shape;721;p64"/>
          <p:cNvSpPr txBox="1"/>
          <p:nvPr/>
        </p:nvSpPr>
        <p:spPr>
          <a:xfrm>
            <a:off x="457200" y="2059939"/>
            <a:ext cx="822960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400">
                <a:solidFill>
                  <a:srgbClr val="FFFFFF"/>
                </a:solidFill>
                <a:latin typeface="Georgia"/>
                <a:ea typeface="Georgia"/>
                <a:cs typeface="Georgia"/>
                <a:sym typeface="Georgia"/>
              </a:defRPr>
            </a:lvl1pPr>
          </a:lstStyle>
          <a:p>
            <a:pPr/>
            <a:r>
              <a:t>Il contratto rotto</a:t>
            </a:r>
          </a:p>
        </p:txBody>
      </p:sp>
      <p:sp>
        <p:nvSpPr>
          <p:cNvPr id="776" name="Google Shape;722;p64"/>
          <p:cNvSpPr txBox="1"/>
          <p:nvPr/>
        </p:nvSpPr>
        <p:spPr>
          <a:xfrm>
            <a:off x="914400" y="3121749"/>
            <a:ext cx="731520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9CA3AF"/>
                </a:solidFill>
                <a:latin typeface="Calibri Light"/>
                <a:ea typeface="Calibri Light"/>
                <a:cs typeface="Calibri Light"/>
                <a:sym typeface="Calibri Light"/>
              </a:defRPr>
            </a:lvl1pPr>
          </a:lstStyle>
          <a:p>
            <a:pPr/>
            <a:r>
              <a:t>Le eccezioni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76" grpId="1"/>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78" name="Google Shape;728;p65"/>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79" name="Google Shape;729;p65"/>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80" name="Google Shape;730;p65"/>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30 / 57</a:t>
            </a:r>
          </a:p>
        </p:txBody>
      </p:sp>
      <p:sp>
        <p:nvSpPr>
          <p:cNvPr id="781" name="Google Shape;731;p65"/>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82" name="Google Shape;732;p65"/>
          <p:cNvSpPr/>
          <p:nvPr/>
        </p:nvSpPr>
        <p:spPr>
          <a:xfrm>
            <a:off x="457199" y="4983479"/>
            <a:ext cx="4331370" cy="36577"/>
          </a:xfrm>
          <a:prstGeom prst="rect">
            <a:avLst/>
          </a:prstGeom>
          <a:solidFill>
            <a:srgbClr val="F97316"/>
          </a:solidFill>
          <a:ln w="12700">
            <a:miter lim="400000"/>
          </a:ln>
        </p:spPr>
        <p:txBody>
          <a:bodyPr lIns="0" tIns="0" rIns="0" bIns="0" anchor="ctr"/>
          <a:lstStyle/>
          <a:p>
            <a:pPr/>
          </a:p>
        </p:txBody>
      </p:sp>
      <p:sp>
        <p:nvSpPr>
          <p:cNvPr id="783" name="Google Shape;733;p65"/>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Checked exceptions: l'idea giusta</a:t>
            </a:r>
          </a:p>
        </p:txBody>
      </p:sp>
      <p:sp>
        <p:nvSpPr>
          <p:cNvPr id="784" name="Google Shape;734;p65"/>
          <p:cNvSpPr/>
          <p:nvPr/>
        </p:nvSpPr>
        <p:spPr>
          <a:xfrm>
            <a:off x="914400" y="1188719"/>
            <a:ext cx="7315200" cy="914401"/>
          </a:xfrm>
          <a:prstGeom prst="rect">
            <a:avLst/>
          </a:prstGeom>
          <a:solidFill>
            <a:srgbClr val="12141F"/>
          </a:solidFill>
          <a:ln w="12700">
            <a:miter lim="400000"/>
          </a:ln>
        </p:spPr>
        <p:txBody>
          <a:bodyPr lIns="0" tIns="0" rIns="0" bIns="0" anchor="ctr"/>
          <a:lstStyle/>
          <a:p>
            <a:pPr/>
          </a:p>
        </p:txBody>
      </p:sp>
      <p:sp>
        <p:nvSpPr>
          <p:cNvPr id="785" name="Google Shape;735;p65"/>
          <p:cNvSpPr/>
          <p:nvPr/>
        </p:nvSpPr>
        <p:spPr>
          <a:xfrm>
            <a:off x="914400" y="1188719"/>
            <a:ext cx="7315200" cy="45721"/>
          </a:xfrm>
          <a:prstGeom prst="rect">
            <a:avLst/>
          </a:prstGeom>
          <a:solidFill>
            <a:srgbClr val="22C55E"/>
          </a:solidFill>
          <a:ln w="12700">
            <a:miter lim="400000"/>
          </a:ln>
        </p:spPr>
        <p:txBody>
          <a:bodyPr lIns="0" tIns="0" rIns="0" bIns="0" anchor="ctr"/>
          <a:lstStyle/>
          <a:p>
            <a:pPr/>
          </a:p>
        </p:txBody>
      </p:sp>
      <p:sp>
        <p:nvSpPr>
          <p:cNvPr id="786" name="Google Shape;736;p65"/>
          <p:cNvSpPr txBox="1"/>
          <p:nvPr/>
        </p:nvSpPr>
        <p:spPr>
          <a:xfrm>
            <a:off x="1188719" y="1479550"/>
            <a:ext cx="6858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22C55E"/>
                </a:solidFill>
                <a:latin typeface="Consolas"/>
                <a:ea typeface="Consolas"/>
                <a:cs typeface="Consolas"/>
                <a:sym typeface="Consolas"/>
              </a:defRPr>
            </a:lvl1pPr>
          </a:lstStyle>
          <a:p>
            <a:pPr/>
            <a:r>
              <a:t>void readFile() throws IOException</a:t>
            </a:r>
          </a:p>
        </p:txBody>
      </p:sp>
      <p:sp>
        <p:nvSpPr>
          <p:cNvPr id="787" name="Google Shape;737;p65"/>
          <p:cNvSpPr txBox="1"/>
          <p:nvPr/>
        </p:nvSpPr>
        <p:spPr>
          <a:xfrm>
            <a:off x="731519" y="2694503"/>
            <a:ext cx="73152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E5E7EB"/>
                </a:solidFill>
                <a:latin typeface="Calibri Light"/>
                <a:ea typeface="Calibri Light"/>
                <a:cs typeface="Calibri Light"/>
                <a:sym typeface="Calibri Light"/>
              </a:defRPr>
            </a:pPr>
            <a:r>
              <a:t>L'idea era sana: rendere espliciti i fallimenti possibili.</a:t>
            </a:r>
          </a:p>
          <a:p>
            <a:pPr>
              <a:defRPr sz="1600">
                <a:solidFill>
                  <a:srgbClr val="E5E7EB"/>
                </a:solidFill>
                <a:latin typeface="Calibri Light"/>
                <a:ea typeface="Calibri Light"/>
                <a:cs typeface="Calibri Light"/>
                <a:sym typeface="Calibri Light"/>
              </a:defRPr>
            </a:pPr>
            <a:r>
              <a:t>Il compilatore controlla.</a:t>
            </a:r>
          </a:p>
        </p:txBody>
      </p:sp>
      <p:sp>
        <p:nvSpPr>
          <p:cNvPr id="788" name="Google Shape;738;p65"/>
          <p:cNvSpPr txBox="1"/>
          <p:nvPr/>
        </p:nvSpPr>
        <p:spPr>
          <a:xfrm>
            <a:off x="731519" y="3569970"/>
            <a:ext cx="73152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97316"/>
                </a:solidFill>
                <a:latin typeface="Georgia"/>
                <a:ea typeface="Georgia"/>
                <a:cs typeface="Georgia"/>
                <a:sym typeface="Georgia"/>
              </a:defRPr>
            </a:lvl1pPr>
          </a:lstStyle>
          <a:p>
            <a:pPr/>
            <a:r>
              <a:t>Era la cosa giusta. Ma il mercato l'ha rifiutata.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7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88" grpId="2"/>
      <p:bldP build="whole" bldLvl="1" animBg="1" rev="0" advAuto="0" spid="787"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790" name="Google Shape;744;p6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791" name="Google Shape;745;p6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792" name="Google Shape;746;p6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31 / 57</a:t>
            </a:r>
          </a:p>
        </p:txBody>
      </p:sp>
      <p:sp>
        <p:nvSpPr>
          <p:cNvPr id="793" name="Google Shape;747;p6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794" name="Google Shape;748;p66"/>
          <p:cNvSpPr/>
          <p:nvPr/>
        </p:nvSpPr>
        <p:spPr>
          <a:xfrm>
            <a:off x="457200" y="4983479"/>
            <a:ext cx="4475747" cy="36577"/>
          </a:xfrm>
          <a:prstGeom prst="rect">
            <a:avLst/>
          </a:prstGeom>
          <a:solidFill>
            <a:srgbClr val="F97316"/>
          </a:solidFill>
          <a:ln w="12700">
            <a:miter lim="400000"/>
          </a:ln>
        </p:spPr>
        <p:txBody>
          <a:bodyPr lIns="0" tIns="0" rIns="0" bIns="0" anchor="ctr"/>
          <a:lstStyle/>
          <a:p>
            <a:pPr/>
          </a:p>
        </p:txBody>
      </p:sp>
      <p:sp>
        <p:nvSpPr>
          <p:cNvPr id="795" name="Google Shape;749;p66"/>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Perché il mercato le ha rifiutate</a:t>
            </a:r>
          </a:p>
        </p:txBody>
      </p:sp>
      <p:sp>
        <p:nvSpPr>
          <p:cNvPr id="796" name="Google Shape;750;p66"/>
          <p:cNvSpPr/>
          <p:nvPr/>
        </p:nvSpPr>
        <p:spPr>
          <a:xfrm>
            <a:off x="914400" y="1097280"/>
            <a:ext cx="7315200" cy="2011679"/>
          </a:xfrm>
          <a:prstGeom prst="rect">
            <a:avLst/>
          </a:prstGeom>
          <a:solidFill>
            <a:srgbClr val="12141F"/>
          </a:solidFill>
          <a:ln w="12700">
            <a:miter lim="400000"/>
          </a:ln>
        </p:spPr>
        <p:txBody>
          <a:bodyPr lIns="0" tIns="0" rIns="0" bIns="0" anchor="ctr"/>
          <a:lstStyle/>
          <a:p>
            <a:pPr/>
          </a:p>
        </p:txBody>
      </p:sp>
      <p:sp>
        <p:nvSpPr>
          <p:cNvPr id="797" name="Google Shape;751;p66"/>
          <p:cNvSpPr/>
          <p:nvPr/>
        </p:nvSpPr>
        <p:spPr>
          <a:xfrm>
            <a:off x="914400" y="1097280"/>
            <a:ext cx="7315200" cy="45721"/>
          </a:xfrm>
          <a:prstGeom prst="rect">
            <a:avLst/>
          </a:prstGeom>
          <a:solidFill>
            <a:srgbClr val="EF4444"/>
          </a:solidFill>
          <a:ln w="12700">
            <a:miter lim="400000"/>
          </a:ln>
        </p:spPr>
        <p:txBody>
          <a:bodyPr lIns="0" tIns="0" rIns="0" bIns="0" anchor="ctr"/>
          <a:lstStyle/>
          <a:p>
            <a:pPr/>
          </a:p>
        </p:txBody>
      </p:sp>
      <p:sp>
        <p:nvSpPr>
          <p:cNvPr id="798" name="Google Shape;752;p66"/>
          <p:cNvSpPr txBox="1"/>
          <p:nvPr/>
        </p:nvSpPr>
        <p:spPr>
          <a:xfrm>
            <a:off x="1188719" y="1531620"/>
            <a:ext cx="6858001" cy="1143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3B82F6"/>
                </a:solidFill>
                <a:latin typeface="Consolas"/>
                <a:ea typeface="Consolas"/>
                <a:cs typeface="Consolas"/>
                <a:sym typeface="Consolas"/>
              </a:defRPr>
            </a:pPr>
            <a:r>
              <a:t>try </a:t>
            </a:r>
            <a:r>
              <a:rPr>
                <a:solidFill>
                  <a:srgbClr val="E5E7EB"/>
                </a:solidFill>
              </a:rPr>
              <a:t>{</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    doSomething();</a:t>
            </a:r>
            <a:endParaRPr>
              <a:latin typeface="Calibri Light"/>
              <a:ea typeface="Calibri Light"/>
              <a:cs typeface="Calibri Light"/>
              <a:sym typeface="Calibri Light"/>
            </a:endParaRPr>
          </a:p>
          <a:p>
            <a:pPr>
              <a:defRPr sz="1500">
                <a:solidFill>
                  <a:srgbClr val="3B82F6"/>
                </a:solidFill>
                <a:latin typeface="Consolas"/>
                <a:ea typeface="Consolas"/>
                <a:cs typeface="Consolas"/>
                <a:sym typeface="Consolas"/>
              </a:defRPr>
            </a:pPr>
            <a:r>
              <a:t>} catch (IOException e) {</a:t>
            </a:r>
            <a:endParaRPr>
              <a:latin typeface="Calibri Light"/>
              <a:ea typeface="Calibri Light"/>
              <a:cs typeface="Calibri Light"/>
              <a:sym typeface="Calibri Light"/>
            </a:endParaRPr>
          </a:p>
          <a:p>
            <a:pPr>
              <a:defRPr sz="1500">
                <a:solidFill>
                  <a:srgbClr val="EF4444"/>
                </a:solidFill>
                <a:latin typeface="Consolas"/>
                <a:ea typeface="Consolas"/>
                <a:cs typeface="Consolas"/>
                <a:sym typeface="Consolas"/>
              </a:defRPr>
            </a:pPr>
            <a:r>
              <a:t>    throw new RuntimeException(e);</a:t>
            </a:r>
            <a:endParaRPr>
              <a:latin typeface="Calibri Light"/>
              <a:ea typeface="Calibri Light"/>
              <a:cs typeface="Calibri Light"/>
              <a:sym typeface="Calibri Light"/>
            </a:endParaRPr>
          </a:p>
          <a:p>
            <a:pPr>
              <a:defRPr sz="1500">
                <a:solidFill>
                  <a:srgbClr val="E5E7EB"/>
                </a:solidFill>
                <a:latin typeface="Consolas"/>
                <a:ea typeface="Consolas"/>
                <a:cs typeface="Consolas"/>
                <a:sym typeface="Consolas"/>
              </a:defRPr>
            </a:pPr>
            <a:r>
              <a:t>}</a:t>
            </a:r>
          </a:p>
        </p:txBody>
      </p:sp>
      <p:sp>
        <p:nvSpPr>
          <p:cNvPr id="799" name="Google Shape;753;p66"/>
          <p:cNvSpPr txBox="1"/>
          <p:nvPr/>
        </p:nvSpPr>
        <p:spPr>
          <a:xfrm>
            <a:off x="5169408" y="2287621"/>
            <a:ext cx="2286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6B7280"/>
                </a:solidFill>
                <a:latin typeface="Consolas"/>
                <a:ea typeface="Consolas"/>
                <a:cs typeface="Consolas"/>
                <a:sym typeface="Consolas"/>
              </a:defRPr>
            </a:lvl1pPr>
          </a:lstStyle>
          <a:p>
            <a:pPr/>
            <a:r>
              <a:t>// wrap &amp; forget</a:t>
            </a:r>
          </a:p>
        </p:txBody>
      </p:sp>
      <p:sp>
        <p:nvSpPr>
          <p:cNvPr id="800" name="Google Shape;754;p66"/>
          <p:cNvSpPr txBox="1"/>
          <p:nvPr/>
        </p:nvSpPr>
        <p:spPr>
          <a:xfrm>
            <a:off x="731519" y="3610042"/>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9CA3AF"/>
                </a:solidFill>
                <a:latin typeface="Calibri Light"/>
                <a:ea typeface="Calibri Light"/>
                <a:cs typeface="Calibri Light"/>
                <a:sym typeface="Calibri Light"/>
              </a:defRPr>
            </a:lvl1pPr>
          </a:lstStyle>
          <a:p>
            <a:pPr/>
            <a:r>
              <a:t>Il boilerplate vince. Non per pigrizia — per necessità strutturale.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00" grpId="1"/>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02" name="Google Shape;760;p6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03" name="Google Shape;761;p6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804" name="Google Shape;762;p6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32 / 57</a:t>
            </a:r>
          </a:p>
        </p:txBody>
      </p:sp>
      <p:sp>
        <p:nvSpPr>
          <p:cNvPr id="805" name="Google Shape;763;p6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06" name="Google Shape;764;p67"/>
          <p:cNvSpPr/>
          <p:nvPr/>
        </p:nvSpPr>
        <p:spPr>
          <a:xfrm>
            <a:off x="457199" y="4983479"/>
            <a:ext cx="4620128" cy="36577"/>
          </a:xfrm>
          <a:prstGeom prst="rect">
            <a:avLst/>
          </a:prstGeom>
          <a:solidFill>
            <a:srgbClr val="F97316"/>
          </a:solidFill>
          <a:ln w="12700">
            <a:miter lim="400000"/>
          </a:ln>
        </p:spPr>
        <p:txBody>
          <a:bodyPr lIns="0" tIns="0" rIns="0" bIns="0" anchor="ctr"/>
          <a:lstStyle/>
          <a:p>
            <a:pPr/>
          </a:p>
        </p:txBody>
      </p:sp>
      <p:sp>
        <p:nvSpPr>
          <p:cNvPr id="807" name="Google Shape;765;p67"/>
          <p:cNvSpPr txBox="1"/>
          <p:nvPr/>
        </p:nvSpPr>
        <p:spPr>
          <a:xfrm>
            <a:off x="457200" y="389890"/>
            <a:ext cx="822960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FFFFF"/>
                </a:solidFill>
                <a:latin typeface="Georgia"/>
                <a:ea typeface="Georgia"/>
                <a:cs typeface="Georgia"/>
                <a:sym typeface="Georgia"/>
              </a:defRPr>
            </a:lvl1pPr>
          </a:lstStyle>
          <a:p>
            <a:pPr/>
            <a:r>
              <a:t>Il tipo di ritorno mente (di nuovo)</a:t>
            </a:r>
          </a:p>
        </p:txBody>
      </p:sp>
      <p:sp>
        <p:nvSpPr>
          <p:cNvPr id="808" name="Google Shape;766;p67"/>
          <p:cNvSpPr/>
          <p:nvPr/>
        </p:nvSpPr>
        <p:spPr>
          <a:xfrm>
            <a:off x="731519" y="1188719"/>
            <a:ext cx="3657601" cy="2286001"/>
          </a:xfrm>
          <a:prstGeom prst="rect">
            <a:avLst/>
          </a:prstGeom>
          <a:solidFill>
            <a:srgbClr val="1A1D2B"/>
          </a:solidFill>
          <a:ln w="12700">
            <a:miter lim="400000"/>
          </a:ln>
        </p:spPr>
        <p:txBody>
          <a:bodyPr lIns="0" tIns="0" rIns="0" bIns="0" anchor="ctr"/>
          <a:lstStyle/>
          <a:p>
            <a:pPr/>
          </a:p>
        </p:txBody>
      </p:sp>
      <p:sp>
        <p:nvSpPr>
          <p:cNvPr id="809" name="Google Shape;767;p67"/>
          <p:cNvSpPr/>
          <p:nvPr/>
        </p:nvSpPr>
        <p:spPr>
          <a:xfrm>
            <a:off x="731519" y="1188719"/>
            <a:ext cx="3657601" cy="45721"/>
          </a:xfrm>
          <a:prstGeom prst="rect">
            <a:avLst/>
          </a:prstGeom>
          <a:solidFill>
            <a:srgbClr val="22C55E"/>
          </a:solidFill>
          <a:ln w="12700">
            <a:miter lim="400000"/>
          </a:ln>
        </p:spPr>
        <p:txBody>
          <a:bodyPr lIns="0" tIns="0" rIns="0" bIns="0" anchor="ctr"/>
          <a:lstStyle/>
          <a:p>
            <a:pPr/>
          </a:p>
        </p:txBody>
      </p:sp>
      <p:sp>
        <p:nvSpPr>
          <p:cNvPr id="810" name="Google Shape;768;p67"/>
          <p:cNvSpPr txBox="1"/>
          <p:nvPr/>
        </p:nvSpPr>
        <p:spPr>
          <a:xfrm>
            <a:off x="1005839" y="141986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La firma</a:t>
            </a:r>
          </a:p>
        </p:txBody>
      </p:sp>
      <p:sp>
        <p:nvSpPr>
          <p:cNvPr id="811" name="Google Shape;769;p67"/>
          <p:cNvSpPr txBox="1"/>
          <p:nvPr/>
        </p:nvSpPr>
        <p:spPr>
          <a:xfrm>
            <a:off x="1005839" y="1955799"/>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5E7EB"/>
                </a:solidFill>
                <a:latin typeface="Consolas"/>
                <a:ea typeface="Consolas"/>
                <a:cs typeface="Consolas"/>
                <a:sym typeface="Consolas"/>
              </a:defRPr>
            </a:lvl1pPr>
          </a:lstStyle>
          <a:p>
            <a:pPr/>
            <a:r>
              <a:t>String processPayment(Order)</a:t>
            </a:r>
          </a:p>
        </p:txBody>
      </p:sp>
      <p:sp>
        <p:nvSpPr>
          <p:cNvPr id="812" name="Google Shape;770;p67"/>
          <p:cNvSpPr/>
          <p:nvPr/>
        </p:nvSpPr>
        <p:spPr>
          <a:xfrm>
            <a:off x="4754879" y="1188719"/>
            <a:ext cx="3657601" cy="2286001"/>
          </a:xfrm>
          <a:prstGeom prst="rect">
            <a:avLst/>
          </a:prstGeom>
          <a:solidFill>
            <a:srgbClr val="1A1D2B"/>
          </a:solidFill>
          <a:ln w="12700">
            <a:miter lim="400000"/>
          </a:ln>
        </p:spPr>
        <p:txBody>
          <a:bodyPr lIns="0" tIns="0" rIns="0" bIns="0" anchor="ctr"/>
          <a:lstStyle/>
          <a:p>
            <a:pPr/>
          </a:p>
        </p:txBody>
      </p:sp>
      <p:sp>
        <p:nvSpPr>
          <p:cNvPr id="813" name="Google Shape;771;p67"/>
          <p:cNvSpPr/>
          <p:nvPr/>
        </p:nvSpPr>
        <p:spPr>
          <a:xfrm>
            <a:off x="4754879" y="1188719"/>
            <a:ext cx="3657601" cy="45721"/>
          </a:xfrm>
          <a:prstGeom prst="rect">
            <a:avLst/>
          </a:prstGeom>
          <a:solidFill>
            <a:srgbClr val="EF4444"/>
          </a:solidFill>
          <a:ln w="12700">
            <a:miter lim="400000"/>
          </a:ln>
        </p:spPr>
        <p:txBody>
          <a:bodyPr lIns="0" tIns="0" rIns="0" bIns="0" anchor="ctr"/>
          <a:lstStyle/>
          <a:p>
            <a:pPr/>
          </a:p>
        </p:txBody>
      </p:sp>
      <p:sp>
        <p:nvSpPr>
          <p:cNvPr id="814" name="Google Shape;772;p67"/>
          <p:cNvSpPr txBox="1"/>
          <p:nvPr/>
        </p:nvSpPr>
        <p:spPr>
          <a:xfrm>
            <a:off x="5029200" y="141986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F4444"/>
                </a:solidFill>
                <a:latin typeface="Consolas"/>
                <a:ea typeface="Consolas"/>
                <a:cs typeface="Consolas"/>
                <a:sym typeface="Consolas"/>
              </a:defRPr>
            </a:lvl1pPr>
          </a:lstStyle>
          <a:p>
            <a:pPr/>
            <a:r>
              <a:t>La realtà</a:t>
            </a:r>
          </a:p>
        </p:txBody>
      </p:sp>
      <p:sp>
        <p:nvSpPr>
          <p:cNvPr id="815" name="Google Shape;773;p67"/>
          <p:cNvSpPr txBox="1"/>
          <p:nvPr/>
        </p:nvSpPr>
        <p:spPr>
          <a:xfrm>
            <a:off x="5029200" y="2155874"/>
            <a:ext cx="3200400" cy="7174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E5E7EB"/>
                </a:solidFill>
                <a:latin typeface="Consolas"/>
                <a:ea typeface="Consolas"/>
                <a:cs typeface="Consolas"/>
                <a:sym typeface="Consolas"/>
              </a:defRPr>
            </a:pPr>
            <a:r>
              <a:t>→ NullPointerException</a:t>
            </a:r>
            <a:endParaRPr>
              <a:latin typeface="Calibri Light"/>
              <a:ea typeface="Calibri Light"/>
              <a:cs typeface="Calibri Light"/>
              <a:sym typeface="Calibri Light"/>
            </a:endParaRPr>
          </a:p>
          <a:p>
            <a:pPr>
              <a:defRPr sz="1200">
                <a:solidFill>
                  <a:srgbClr val="E5E7EB"/>
                </a:solidFill>
                <a:latin typeface="Consolas"/>
                <a:ea typeface="Consolas"/>
                <a:cs typeface="Consolas"/>
                <a:sym typeface="Consolas"/>
              </a:defRPr>
            </a:pPr>
            <a:r>
              <a:t>→ IllegalStateException</a:t>
            </a:r>
            <a:endParaRPr>
              <a:latin typeface="Calibri Light"/>
              <a:ea typeface="Calibri Light"/>
              <a:cs typeface="Calibri Light"/>
              <a:sym typeface="Calibri Light"/>
            </a:endParaRPr>
          </a:p>
          <a:p>
            <a:pPr>
              <a:defRPr sz="1200">
                <a:solidFill>
                  <a:srgbClr val="E5E7EB"/>
                </a:solidFill>
                <a:latin typeface="Consolas"/>
                <a:ea typeface="Consolas"/>
                <a:cs typeface="Consolas"/>
                <a:sym typeface="Consolas"/>
              </a:defRPr>
            </a:pPr>
            <a:r>
              <a:t>→ RuntimeException(IOException)</a:t>
            </a:r>
            <a:endParaRPr>
              <a:latin typeface="Calibri Light"/>
              <a:ea typeface="Calibri Light"/>
              <a:cs typeface="Calibri Light"/>
              <a:sym typeface="Calibri Light"/>
            </a:endParaRPr>
          </a:p>
          <a:p>
            <a:pPr>
              <a:defRPr sz="1200">
                <a:solidFill>
                  <a:srgbClr val="E5E7EB"/>
                </a:solidFill>
                <a:latin typeface="Consolas"/>
                <a:ea typeface="Consolas"/>
                <a:cs typeface="Consolas"/>
                <a:sym typeface="Consolas"/>
              </a:defRPr>
            </a:pPr>
            <a:r>
              <a:t>→ ...e altri 3 casi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12"/>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13"/>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814"/>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8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15" grpId="4"/>
      <p:bldP build="whole" bldLvl="1" animBg="1" rev="0" advAuto="0" spid="814" grpId="3"/>
      <p:bldP build="whole" bldLvl="1" animBg="1" rev="0" advAuto="0" spid="813" grpId="2"/>
      <p:bldP build="whole" bldLvl="1" animBg="1" rev="0" advAuto="0" spid="812"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19" name="Google Shape;779;p6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20" name="Google Shape;780;p6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821" name="Google Shape;781;p6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33 / 57</a:t>
            </a:r>
          </a:p>
        </p:txBody>
      </p:sp>
      <p:sp>
        <p:nvSpPr>
          <p:cNvPr id="822" name="Google Shape;782;p6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23" name="Google Shape;783;p68"/>
          <p:cNvSpPr/>
          <p:nvPr/>
        </p:nvSpPr>
        <p:spPr>
          <a:xfrm>
            <a:off x="457200" y="4983479"/>
            <a:ext cx="4764505" cy="36577"/>
          </a:xfrm>
          <a:prstGeom prst="rect">
            <a:avLst/>
          </a:prstGeom>
          <a:solidFill>
            <a:srgbClr val="F97316"/>
          </a:solidFill>
          <a:ln w="12700">
            <a:miter lim="400000"/>
          </a:ln>
        </p:spPr>
        <p:txBody>
          <a:bodyPr lIns="0" tIns="0" rIns="0" bIns="0" anchor="ctr"/>
          <a:lstStyle/>
          <a:p>
            <a:pPr/>
          </a:p>
        </p:txBody>
      </p:sp>
      <p:sp>
        <p:nvSpPr>
          <p:cNvPr id="824" name="Google Shape;784;p68"/>
          <p:cNvSpPr/>
          <p:nvPr/>
        </p:nvSpPr>
        <p:spPr>
          <a:xfrm>
            <a:off x="1828800" y="914400"/>
            <a:ext cx="5486400" cy="2011679"/>
          </a:xfrm>
          <a:prstGeom prst="rect">
            <a:avLst/>
          </a:prstGeom>
          <a:solidFill>
            <a:srgbClr val="12141F"/>
          </a:solidFill>
          <a:ln w="12700">
            <a:miter lim="400000"/>
          </a:ln>
        </p:spPr>
        <p:txBody>
          <a:bodyPr lIns="0" tIns="0" rIns="0" bIns="0" anchor="ctr"/>
          <a:lstStyle/>
          <a:p>
            <a:pPr/>
          </a:p>
        </p:txBody>
      </p:sp>
      <p:sp>
        <p:nvSpPr>
          <p:cNvPr id="825" name="Google Shape;785;p68"/>
          <p:cNvSpPr/>
          <p:nvPr/>
        </p:nvSpPr>
        <p:spPr>
          <a:xfrm>
            <a:off x="1828800" y="914400"/>
            <a:ext cx="5486400" cy="45721"/>
          </a:xfrm>
          <a:prstGeom prst="rect">
            <a:avLst/>
          </a:prstGeom>
          <a:solidFill>
            <a:srgbClr val="EF4444"/>
          </a:solidFill>
          <a:ln w="12700">
            <a:miter lim="400000"/>
          </a:ln>
        </p:spPr>
        <p:txBody>
          <a:bodyPr lIns="0" tIns="0" rIns="0" bIns="0" anchor="ctr"/>
          <a:lstStyle/>
          <a:p>
            <a:pPr/>
          </a:p>
        </p:txBody>
      </p:sp>
      <p:sp>
        <p:nvSpPr>
          <p:cNvPr id="826" name="Google Shape;786;p68"/>
          <p:cNvSpPr txBox="1"/>
          <p:nvPr/>
        </p:nvSpPr>
        <p:spPr>
          <a:xfrm>
            <a:off x="2286000" y="1379220"/>
            <a:ext cx="4572000" cy="990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2200">
                <a:solidFill>
                  <a:srgbClr val="3B82F6"/>
                </a:solidFill>
                <a:latin typeface="Consolas"/>
                <a:ea typeface="Consolas"/>
                <a:cs typeface="Consolas"/>
                <a:sym typeface="Consolas"/>
              </a:defRPr>
            </a:pPr>
            <a:r>
              <a:t>catch </a:t>
            </a:r>
            <a:r>
              <a:rPr>
                <a:solidFill>
                  <a:srgbClr val="E5E7EB"/>
                </a:solidFill>
              </a:rPr>
              <a:t>(Exception e) {</a:t>
            </a:r>
            <a:endParaRPr>
              <a:latin typeface="Calibri Light"/>
              <a:ea typeface="Calibri Light"/>
              <a:cs typeface="Calibri Light"/>
              <a:sym typeface="Calibri Light"/>
            </a:endParaRPr>
          </a:p>
          <a:p>
            <a:pPr>
              <a:defRPr sz="2200">
                <a:solidFill>
                  <a:srgbClr val="6B7280"/>
                </a:solidFill>
                <a:latin typeface="Consolas"/>
                <a:ea typeface="Consolas"/>
                <a:cs typeface="Consolas"/>
                <a:sym typeface="Consolas"/>
              </a:defRPr>
            </a:pPr>
            <a:r>
              <a:t>    // TODO</a:t>
            </a:r>
            <a:endParaRPr>
              <a:latin typeface="Calibri Light"/>
              <a:ea typeface="Calibri Light"/>
              <a:cs typeface="Calibri Light"/>
              <a:sym typeface="Calibri Light"/>
            </a:endParaRPr>
          </a:p>
          <a:p>
            <a:pPr>
              <a:defRPr sz="2200">
                <a:solidFill>
                  <a:srgbClr val="E5E7EB"/>
                </a:solidFill>
                <a:latin typeface="Consolas"/>
                <a:ea typeface="Consolas"/>
                <a:cs typeface="Consolas"/>
                <a:sym typeface="Consolas"/>
              </a:defRPr>
            </a:pPr>
            <a:r>
              <a:t>}</a:t>
            </a:r>
          </a:p>
        </p:txBody>
      </p:sp>
      <p:sp>
        <p:nvSpPr>
          <p:cNvPr id="827" name="Google Shape;787;p68"/>
          <p:cNvSpPr txBox="1"/>
          <p:nvPr/>
        </p:nvSpPr>
        <p:spPr>
          <a:xfrm>
            <a:off x="914400" y="3602072"/>
            <a:ext cx="7315200"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9CA3AF"/>
                </a:solidFill>
                <a:latin typeface="Calibri Light"/>
                <a:ea typeface="Calibri Light"/>
                <a:cs typeface="Calibri Light"/>
                <a:sym typeface="Calibri Light"/>
              </a:defRPr>
            </a:lvl1pPr>
          </a:lstStyle>
          <a:p>
            <a:pPr/>
            <a:r>
              <a:t>Tutti l'abbiamo scritto.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27"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29" name="Google Shape;793;p6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30" name="Google Shape;794;p6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2</a:t>
            </a:r>
          </a:p>
        </p:txBody>
      </p:sp>
      <p:sp>
        <p:nvSpPr>
          <p:cNvPr id="831" name="Google Shape;795;p6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34 / 57</a:t>
            </a:r>
          </a:p>
        </p:txBody>
      </p:sp>
      <p:sp>
        <p:nvSpPr>
          <p:cNvPr id="832" name="Google Shape;796;p6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33" name="Google Shape;797;p69"/>
          <p:cNvSpPr/>
          <p:nvPr/>
        </p:nvSpPr>
        <p:spPr>
          <a:xfrm>
            <a:off x="457199" y="4983479"/>
            <a:ext cx="4908886" cy="36577"/>
          </a:xfrm>
          <a:prstGeom prst="rect">
            <a:avLst/>
          </a:prstGeom>
          <a:solidFill>
            <a:srgbClr val="F97316"/>
          </a:solidFill>
          <a:ln w="12700">
            <a:miter lim="400000"/>
          </a:ln>
        </p:spPr>
        <p:txBody>
          <a:bodyPr lIns="0" tIns="0" rIns="0" bIns="0" anchor="ctr"/>
          <a:lstStyle/>
          <a:p>
            <a:pPr/>
          </a:p>
        </p:txBody>
      </p:sp>
      <p:sp>
        <p:nvSpPr>
          <p:cNvPr id="834" name="Google Shape;798;p69"/>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Il control flow invisibile</a:t>
            </a:r>
          </a:p>
        </p:txBody>
      </p:sp>
      <p:sp>
        <p:nvSpPr>
          <p:cNvPr id="835" name="Google Shape;799;p69"/>
          <p:cNvSpPr/>
          <p:nvPr/>
        </p:nvSpPr>
        <p:spPr>
          <a:xfrm>
            <a:off x="519050" y="2084775"/>
            <a:ext cx="3331500" cy="822900"/>
          </a:xfrm>
          <a:prstGeom prst="rect">
            <a:avLst/>
          </a:prstGeom>
          <a:solidFill>
            <a:srgbClr val="1A1D2B"/>
          </a:solidFill>
          <a:ln w="12700">
            <a:miter lim="400000"/>
          </a:ln>
        </p:spPr>
        <p:txBody>
          <a:bodyPr lIns="0" tIns="0" rIns="0" bIns="0" anchor="ctr"/>
          <a:lstStyle/>
          <a:p>
            <a:pPr/>
          </a:p>
        </p:txBody>
      </p:sp>
      <p:sp>
        <p:nvSpPr>
          <p:cNvPr id="836" name="Google Shape;800;p69"/>
          <p:cNvSpPr/>
          <p:nvPr/>
        </p:nvSpPr>
        <p:spPr>
          <a:xfrm>
            <a:off x="365750" y="2039199"/>
            <a:ext cx="54900" cy="822900"/>
          </a:xfrm>
          <a:prstGeom prst="rect">
            <a:avLst/>
          </a:prstGeom>
          <a:solidFill>
            <a:srgbClr val="EF4444"/>
          </a:solidFill>
          <a:ln w="12700">
            <a:miter lim="400000"/>
          </a:ln>
        </p:spPr>
        <p:txBody>
          <a:bodyPr lIns="0" tIns="0" rIns="0" bIns="0" anchor="ctr"/>
          <a:lstStyle/>
          <a:p>
            <a:pPr/>
          </a:p>
        </p:txBody>
      </p:sp>
      <p:sp>
        <p:nvSpPr>
          <p:cNvPr id="837" name="Google Shape;801;p69"/>
          <p:cNvSpPr txBox="1"/>
          <p:nvPr/>
        </p:nvSpPr>
        <p:spPr>
          <a:xfrm>
            <a:off x="519049" y="2127370"/>
            <a:ext cx="327570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E5E7EB"/>
                </a:solidFill>
                <a:latin typeface="Calibri Light"/>
                <a:ea typeface="Calibri Light"/>
                <a:cs typeface="Calibri Light"/>
                <a:sym typeface="Calibri Light"/>
              </a:defRPr>
            </a:pPr>
            <a:r>
              <a:t>Il codice che leggi non ti dice come si comporta il sistema.</a:t>
            </a:r>
          </a:p>
          <a:p>
            <a:pPr>
              <a:defRPr>
                <a:solidFill>
                  <a:srgbClr val="E5E7EB"/>
                </a:solidFill>
                <a:latin typeface="Calibri Light"/>
                <a:ea typeface="Calibri Light"/>
                <a:cs typeface="Calibri Light"/>
                <a:sym typeface="Calibri Light"/>
              </a:defRPr>
            </a:pPr>
            <a:r>
              <a:t>Ti dice come si comporta nel caso ottimale.</a:t>
            </a:r>
          </a:p>
        </p:txBody>
      </p:sp>
      <p:pic>
        <p:nvPicPr>
          <p:cNvPr id="838" name="Google Shape;802;p69" descr="Google Shape;802;p69"/>
          <p:cNvPicPr>
            <a:picLocks noChangeAspect="1"/>
          </p:cNvPicPr>
          <p:nvPr/>
        </p:nvPicPr>
        <p:blipFill>
          <a:blip r:embed="rId3">
            <a:extLst/>
          </a:blip>
          <a:stretch>
            <a:fillRect/>
          </a:stretch>
        </p:blipFill>
        <p:spPr>
          <a:xfrm>
            <a:off x="3074924" y="-12801"/>
            <a:ext cx="6841876" cy="49269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3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36"/>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37" grpId="3"/>
      <p:bldP build="whole" bldLvl="1" animBg="1" rev="0" advAuto="0" spid="835" grpId="1"/>
      <p:bldP build="whole" bldLvl="1" animBg="1" rev="0" advAuto="0" spid="836" grpId="2"/>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42" name="Google Shape;808;p7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43" name="Google Shape;809;p7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MANIFESTO</a:t>
            </a:r>
          </a:p>
        </p:txBody>
      </p:sp>
      <p:sp>
        <p:nvSpPr>
          <p:cNvPr id="844" name="Google Shape;810;p7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35 / 57</a:t>
            </a:r>
          </a:p>
        </p:txBody>
      </p:sp>
      <p:sp>
        <p:nvSpPr>
          <p:cNvPr id="845" name="Google Shape;811;p7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46" name="Google Shape;812;p70"/>
          <p:cNvSpPr/>
          <p:nvPr/>
        </p:nvSpPr>
        <p:spPr>
          <a:xfrm>
            <a:off x="457199" y="4983479"/>
            <a:ext cx="5053265" cy="36577"/>
          </a:xfrm>
          <a:prstGeom prst="rect">
            <a:avLst/>
          </a:prstGeom>
          <a:solidFill>
            <a:srgbClr val="F97316"/>
          </a:solidFill>
          <a:ln w="12700">
            <a:miter lim="400000"/>
          </a:ln>
        </p:spPr>
        <p:txBody>
          <a:bodyPr lIns="0" tIns="0" rIns="0" bIns="0" anchor="ctr"/>
          <a:lstStyle/>
          <a:p>
            <a:pPr/>
          </a:p>
        </p:txBody>
      </p:sp>
      <p:sp>
        <p:nvSpPr>
          <p:cNvPr id="847" name="Google Shape;813;p70"/>
          <p:cNvSpPr txBox="1"/>
          <p:nvPr/>
        </p:nvSpPr>
        <p:spPr>
          <a:xfrm>
            <a:off x="914400" y="706821"/>
            <a:ext cx="73152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5E7EB"/>
                </a:solidFill>
                <a:latin typeface="Calibri Light"/>
                <a:ea typeface="Calibri Light"/>
                <a:cs typeface="Calibri Light"/>
                <a:sym typeface="Calibri Light"/>
              </a:defRPr>
            </a:lvl1pPr>
          </a:lstStyle>
          <a:p>
            <a:pPr/>
            <a:r>
              <a:t>L'OOP ci ha insegnato a modellare il mondo.</a:t>
            </a:r>
          </a:p>
        </p:txBody>
      </p:sp>
      <p:sp>
        <p:nvSpPr>
          <p:cNvPr id="848" name="Google Shape;814;p70"/>
          <p:cNvSpPr txBox="1"/>
          <p:nvPr/>
        </p:nvSpPr>
        <p:spPr>
          <a:xfrm>
            <a:off x="914400" y="110362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97316"/>
                </a:solidFill>
                <a:latin typeface="Georgia"/>
                <a:ea typeface="Georgia"/>
                <a:cs typeface="Georgia"/>
                <a:sym typeface="Georgia"/>
              </a:defRPr>
            </a:lvl1pPr>
          </a:lstStyle>
          <a:p>
            <a:pPr/>
            <a:r>
              <a:t>Non ci ha insegnato a dire quando il modello è sbagliato.</a:t>
            </a:r>
          </a:p>
        </p:txBody>
      </p:sp>
      <p:sp>
        <p:nvSpPr>
          <p:cNvPr id="849" name="Google Shape;815;p70"/>
          <p:cNvSpPr txBox="1"/>
          <p:nvPr/>
        </p:nvSpPr>
        <p:spPr>
          <a:xfrm>
            <a:off x="914400" y="1758382"/>
            <a:ext cx="73152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5E7EB"/>
                </a:solidFill>
                <a:latin typeface="Calibri Light"/>
                <a:ea typeface="Calibri Light"/>
                <a:cs typeface="Calibri Light"/>
                <a:sym typeface="Calibri Light"/>
              </a:defRPr>
            </a:lvl1pPr>
          </a:lstStyle>
          <a:p>
            <a:pPr/>
            <a:r>
              <a:t>Ci ha dato l'encapsulation.</a:t>
            </a:r>
          </a:p>
        </p:txBody>
      </p:sp>
      <p:sp>
        <p:nvSpPr>
          <p:cNvPr id="850" name="Google Shape;816;p70"/>
          <p:cNvSpPr txBox="1"/>
          <p:nvPr/>
        </p:nvSpPr>
        <p:spPr>
          <a:xfrm>
            <a:off x="914400" y="215518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97316"/>
                </a:solidFill>
                <a:latin typeface="Georgia"/>
                <a:ea typeface="Georgia"/>
                <a:cs typeface="Georgia"/>
                <a:sym typeface="Georgia"/>
              </a:defRPr>
            </a:lvl1pPr>
          </a:lstStyle>
          <a:p>
            <a:pPr/>
            <a:r>
              <a:t>Poi ha nascosto i bug dentro.</a:t>
            </a:r>
          </a:p>
        </p:txBody>
      </p:sp>
      <p:sp>
        <p:nvSpPr>
          <p:cNvPr id="851" name="Google Shape;817;p70"/>
          <p:cNvSpPr txBox="1"/>
          <p:nvPr/>
        </p:nvSpPr>
        <p:spPr>
          <a:xfrm>
            <a:off x="914400" y="2809942"/>
            <a:ext cx="73152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5E7EB"/>
                </a:solidFill>
                <a:latin typeface="Calibri Light"/>
                <a:ea typeface="Calibri Light"/>
                <a:cs typeface="Calibri Light"/>
                <a:sym typeface="Calibri Light"/>
              </a:defRPr>
            </a:lvl1pPr>
          </a:lstStyle>
          <a:p>
            <a:pPr/>
            <a:r>
              <a:t>Ci ha dato l'inheritance.</a:t>
            </a:r>
          </a:p>
        </p:txBody>
      </p:sp>
      <p:sp>
        <p:nvSpPr>
          <p:cNvPr id="852" name="Google Shape;818;p70"/>
          <p:cNvSpPr txBox="1"/>
          <p:nvPr/>
        </p:nvSpPr>
        <p:spPr>
          <a:xfrm>
            <a:off x="914400" y="3206749"/>
            <a:ext cx="73152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97316"/>
                </a:solidFill>
                <a:latin typeface="Georgia"/>
                <a:ea typeface="Georgia"/>
                <a:cs typeface="Georgia"/>
                <a:sym typeface="Georgia"/>
              </a:defRPr>
            </a:lvl1pPr>
          </a:lstStyle>
          <a:p>
            <a:pPr/>
            <a:r>
              <a:t>Poi ci ha reso prigionieri delle scelte di chi è venuto prima.</a:t>
            </a:r>
          </a:p>
        </p:txBody>
      </p:sp>
      <p:sp>
        <p:nvSpPr>
          <p:cNvPr id="853" name="Google Shape;819;p70"/>
          <p:cNvSpPr txBox="1"/>
          <p:nvPr/>
        </p:nvSpPr>
        <p:spPr>
          <a:xfrm>
            <a:off x="914400" y="3861501"/>
            <a:ext cx="73152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E5E7EB"/>
                </a:solidFill>
                <a:latin typeface="Calibri Light"/>
                <a:ea typeface="Calibri Light"/>
                <a:cs typeface="Calibri Light"/>
                <a:sym typeface="Calibri Light"/>
              </a:defRPr>
            </a:lvl1pPr>
          </a:lstStyle>
          <a:p>
            <a:pPr/>
            <a:r>
              <a:t>Ci ha dato i pattern.</a:t>
            </a:r>
          </a:p>
        </p:txBody>
      </p:sp>
      <p:sp>
        <p:nvSpPr>
          <p:cNvPr id="854" name="Google Shape;820;p70"/>
          <p:cNvSpPr txBox="1"/>
          <p:nvPr/>
        </p:nvSpPr>
        <p:spPr>
          <a:xfrm>
            <a:off x="914400" y="4150359"/>
            <a:ext cx="7315200"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F97316"/>
                </a:solidFill>
                <a:latin typeface="Georgia"/>
                <a:ea typeface="Georgia"/>
                <a:cs typeface="Georgia"/>
                <a:sym typeface="Georgia"/>
              </a:defRPr>
            </a:pPr>
            <a:r>
              <a:t>E ci ha convinto che la loro esistenza fosse eleganza —</a:t>
            </a:r>
            <a:endParaRPr>
              <a:latin typeface="Calibri Light"/>
              <a:ea typeface="Calibri Light"/>
              <a:cs typeface="Calibri Light"/>
              <a:sym typeface="Calibri Light"/>
            </a:endParaRPr>
          </a:p>
          <a:p>
            <a:pPr algn="ctr">
              <a:defRPr sz="1500">
                <a:solidFill>
                  <a:srgbClr val="F97316"/>
                </a:solidFill>
                <a:latin typeface="Georgia"/>
                <a:ea typeface="Georgia"/>
                <a:cs typeface="Georgia"/>
                <a:sym typeface="Georgia"/>
              </a:defRPr>
            </a:pPr>
            <a:r>
              <a:t>non un segnale d'allarme.</a:t>
            </a:r>
          </a:p>
        </p:txBody>
      </p:sp>
      <p:sp>
        <p:nvSpPr>
          <p:cNvPr id="855" name="Google Shape;821;p70"/>
          <p:cNvSpPr/>
          <p:nvPr/>
        </p:nvSpPr>
        <p:spPr>
          <a:xfrm>
            <a:off x="3840479" y="4572000"/>
            <a:ext cx="1463041" cy="27432"/>
          </a:xfrm>
          <a:prstGeom prst="rect">
            <a:avLst/>
          </a:prstGeom>
          <a:solidFill>
            <a:srgbClr val="F97316"/>
          </a:solidFill>
          <a:ln w="12700">
            <a:miter lim="400000"/>
          </a:ln>
        </p:spPr>
        <p:txBody>
          <a:bodyPr lIns="0" tIns="0" rIns="0" bIns="0" anchor="ct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8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8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8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5" fill="hold">
                                  <p:stCondLst>
                                    <p:cond delay="0"/>
                                  </p:stCondLst>
                                  <p:iterate type="el" backwards="0">
                                    <p:tmAbs val="0"/>
                                  </p:iterate>
                                  <p:childTnLst>
                                    <p:set>
                                      <p:cBhvr>
                                        <p:cTn id="22" fill="hold"/>
                                        <p:tgtEl>
                                          <p:spTgt spid="8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6" fill="hold">
                                  <p:stCondLst>
                                    <p:cond delay="0"/>
                                  </p:stCondLst>
                                  <p:iterate type="el" backwards="0">
                                    <p:tmAbs val="0"/>
                                  </p:iterate>
                                  <p:childTnLst>
                                    <p:set>
                                      <p:cBhvr>
                                        <p:cTn id="26" fill="hold"/>
                                        <p:tgtEl>
                                          <p:spTgt spid="8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 grpId="7" fill="hold">
                                  <p:stCondLst>
                                    <p:cond delay="0"/>
                                  </p:stCondLst>
                                  <p:iterate type="el" backwards="0">
                                    <p:tmAbs val="0"/>
                                  </p:iterate>
                                  <p:childTnLst>
                                    <p:set>
                                      <p:cBhvr>
                                        <p:cTn id="30" fill="hold"/>
                                        <p:tgtEl>
                                          <p:spTgt spid="8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8" fill="hold">
                                  <p:stCondLst>
                                    <p:cond delay="0"/>
                                  </p:stCondLst>
                                  <p:iterate type="el" backwards="0">
                                    <p:tmAbs val="0"/>
                                  </p:iterate>
                                  <p:childTnLst>
                                    <p:set>
                                      <p:cBhvr>
                                        <p:cTn id="34" fill="hold"/>
                                        <p:tgtEl>
                                          <p:spTgt spid="8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53" grpId="4"/>
      <p:bldP build="whole" bldLvl="1" animBg="1" rev="0" advAuto="0" spid="852" grpId="7"/>
      <p:bldP build="whole" bldLvl="1" animBg="1" rev="0" advAuto="0" spid="847" grpId="1"/>
      <p:bldP build="whole" bldLvl="1" animBg="1" rev="0" advAuto="0" spid="848" grpId="5"/>
      <p:bldP build="whole" bldLvl="1" animBg="1" rev="0" advAuto="0" spid="851" grpId="3"/>
      <p:bldP build="whole" bldLvl="1" animBg="1" rev="0" advAuto="0" spid="850" grpId="6"/>
      <p:bldP build="whole" bldLvl="1" animBg="1" rev="0" advAuto="0" spid="849" grpId="2"/>
      <p:bldP build="whole" bldLvl="1" animBg="1" rev="0" advAuto="0" spid="854" grpId="8"/>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59" name="Google Shape;827;p7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60" name="Google Shape;828;p7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MANIFESTO</a:t>
            </a:r>
          </a:p>
        </p:txBody>
      </p:sp>
      <p:sp>
        <p:nvSpPr>
          <p:cNvPr id="861" name="Google Shape;829;p7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36 / 57</a:t>
            </a:r>
          </a:p>
        </p:txBody>
      </p:sp>
      <p:sp>
        <p:nvSpPr>
          <p:cNvPr id="862" name="Google Shape;830;p7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63" name="Google Shape;831;p71"/>
          <p:cNvSpPr/>
          <p:nvPr/>
        </p:nvSpPr>
        <p:spPr>
          <a:xfrm>
            <a:off x="457200" y="4983479"/>
            <a:ext cx="5197643" cy="36577"/>
          </a:xfrm>
          <a:prstGeom prst="rect">
            <a:avLst/>
          </a:prstGeom>
          <a:solidFill>
            <a:srgbClr val="F97316"/>
          </a:solidFill>
          <a:ln w="12700">
            <a:miter lim="400000"/>
          </a:ln>
        </p:spPr>
        <p:txBody>
          <a:bodyPr lIns="0" tIns="0" rIns="0" bIns="0" anchor="ctr"/>
          <a:lstStyle/>
          <a:p>
            <a:pPr/>
          </a:p>
        </p:txBody>
      </p:sp>
      <p:sp>
        <p:nvSpPr>
          <p:cNvPr id="864" name="Google Shape;832;p71"/>
          <p:cNvSpPr txBox="1"/>
          <p:nvPr/>
        </p:nvSpPr>
        <p:spPr>
          <a:xfrm>
            <a:off x="1828800" y="328930"/>
            <a:ext cx="548640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B7280"/>
                </a:solidFill>
                <a:latin typeface="Consolas"/>
                <a:ea typeface="Consolas"/>
                <a:cs typeface="Consolas"/>
                <a:sym typeface="Consolas"/>
              </a:defRPr>
            </a:lvl1pPr>
          </a:lstStyle>
          <a:p>
            <a:pPr/>
            <a:r>
              <a:t>Fred Brooks, 1986 — "No Silver Bullet"</a:t>
            </a:r>
          </a:p>
        </p:txBody>
      </p:sp>
      <p:sp>
        <p:nvSpPr>
          <p:cNvPr id="865" name="Google Shape;833;p71"/>
          <p:cNvSpPr txBox="1"/>
          <p:nvPr/>
        </p:nvSpPr>
        <p:spPr>
          <a:xfrm>
            <a:off x="457200" y="72390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La complessità accidentale</a:t>
            </a:r>
          </a:p>
        </p:txBody>
      </p:sp>
      <p:sp>
        <p:nvSpPr>
          <p:cNvPr id="866" name="Google Shape;834;p71"/>
          <p:cNvSpPr/>
          <p:nvPr/>
        </p:nvSpPr>
        <p:spPr>
          <a:xfrm>
            <a:off x="731519" y="1463039"/>
            <a:ext cx="3657601" cy="2011680"/>
          </a:xfrm>
          <a:prstGeom prst="rect">
            <a:avLst/>
          </a:prstGeom>
          <a:solidFill>
            <a:srgbClr val="1A1D2B"/>
          </a:solidFill>
          <a:ln w="12700">
            <a:miter lim="400000"/>
          </a:ln>
        </p:spPr>
        <p:txBody>
          <a:bodyPr lIns="0" tIns="0" rIns="0" bIns="0" anchor="ctr"/>
          <a:lstStyle/>
          <a:p>
            <a:pPr/>
          </a:p>
        </p:txBody>
      </p:sp>
      <p:sp>
        <p:nvSpPr>
          <p:cNvPr id="867" name="Google Shape;835;p71"/>
          <p:cNvSpPr/>
          <p:nvPr/>
        </p:nvSpPr>
        <p:spPr>
          <a:xfrm>
            <a:off x="731519" y="1463039"/>
            <a:ext cx="3657601" cy="45721"/>
          </a:xfrm>
          <a:prstGeom prst="rect">
            <a:avLst/>
          </a:prstGeom>
          <a:solidFill>
            <a:srgbClr val="3B82F6"/>
          </a:solidFill>
          <a:ln w="12700">
            <a:miter lim="400000"/>
          </a:ln>
        </p:spPr>
        <p:txBody>
          <a:bodyPr lIns="0" tIns="0" rIns="0" bIns="0" anchor="ctr"/>
          <a:lstStyle/>
          <a:p>
            <a:pPr/>
          </a:p>
        </p:txBody>
      </p:sp>
      <p:sp>
        <p:nvSpPr>
          <p:cNvPr id="868" name="Google Shape;836;p71"/>
          <p:cNvSpPr txBox="1"/>
          <p:nvPr/>
        </p:nvSpPr>
        <p:spPr>
          <a:xfrm>
            <a:off x="1005839" y="1741169"/>
            <a:ext cx="3200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3B82F6"/>
                </a:solidFill>
                <a:latin typeface="Georgia"/>
                <a:ea typeface="Georgia"/>
                <a:cs typeface="Georgia"/>
                <a:sym typeface="Georgia"/>
              </a:defRPr>
            </a:lvl1pPr>
          </a:lstStyle>
          <a:p>
            <a:pPr/>
            <a:r>
              <a:t>Essenziale</a:t>
            </a:r>
          </a:p>
        </p:txBody>
      </p:sp>
      <p:sp>
        <p:nvSpPr>
          <p:cNvPr id="869" name="Google Shape;837;p71"/>
          <p:cNvSpPr txBox="1"/>
          <p:nvPr/>
        </p:nvSpPr>
        <p:spPr>
          <a:xfrm>
            <a:off x="1005839" y="2351340"/>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9CA3AF"/>
                </a:solidFill>
                <a:latin typeface="Calibri Light"/>
                <a:ea typeface="Calibri Light"/>
                <a:cs typeface="Calibri Light"/>
                <a:sym typeface="Calibri Light"/>
              </a:defRPr>
            </a:pPr>
            <a:r>
              <a:t>Viene dal problema stesso.</a:t>
            </a:r>
          </a:p>
          <a:p>
            <a:pPr>
              <a:defRPr>
                <a:solidFill>
                  <a:srgbClr val="9CA3AF"/>
                </a:solidFill>
                <a:latin typeface="Calibri Light"/>
                <a:ea typeface="Calibri Light"/>
                <a:cs typeface="Calibri Light"/>
                <a:sym typeface="Calibri Light"/>
              </a:defRPr>
            </a:pPr>
            <a:r>
              <a:t>Non puoi eliminarla.</a:t>
            </a:r>
          </a:p>
        </p:txBody>
      </p:sp>
      <p:sp>
        <p:nvSpPr>
          <p:cNvPr id="870" name="Google Shape;838;p71"/>
          <p:cNvSpPr/>
          <p:nvPr/>
        </p:nvSpPr>
        <p:spPr>
          <a:xfrm>
            <a:off x="4754879" y="1463039"/>
            <a:ext cx="3657601" cy="2011680"/>
          </a:xfrm>
          <a:prstGeom prst="rect">
            <a:avLst/>
          </a:prstGeom>
          <a:solidFill>
            <a:srgbClr val="1A1D2B"/>
          </a:solidFill>
          <a:ln w="12700">
            <a:miter lim="400000"/>
          </a:ln>
        </p:spPr>
        <p:txBody>
          <a:bodyPr lIns="0" tIns="0" rIns="0" bIns="0" anchor="ctr"/>
          <a:lstStyle/>
          <a:p>
            <a:pPr/>
          </a:p>
        </p:txBody>
      </p:sp>
      <p:sp>
        <p:nvSpPr>
          <p:cNvPr id="871" name="Google Shape;839;p71"/>
          <p:cNvSpPr/>
          <p:nvPr/>
        </p:nvSpPr>
        <p:spPr>
          <a:xfrm>
            <a:off x="4754879" y="1463039"/>
            <a:ext cx="3657601" cy="45721"/>
          </a:xfrm>
          <a:prstGeom prst="rect">
            <a:avLst/>
          </a:prstGeom>
          <a:solidFill>
            <a:srgbClr val="EF4444"/>
          </a:solidFill>
          <a:ln w="12700">
            <a:miter lim="400000"/>
          </a:ln>
        </p:spPr>
        <p:txBody>
          <a:bodyPr lIns="0" tIns="0" rIns="0" bIns="0" anchor="ctr"/>
          <a:lstStyle/>
          <a:p>
            <a:pPr/>
          </a:p>
        </p:txBody>
      </p:sp>
      <p:sp>
        <p:nvSpPr>
          <p:cNvPr id="872" name="Google Shape;840;p71"/>
          <p:cNvSpPr txBox="1"/>
          <p:nvPr/>
        </p:nvSpPr>
        <p:spPr>
          <a:xfrm>
            <a:off x="5029200" y="1741169"/>
            <a:ext cx="32004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EF4444"/>
                </a:solidFill>
                <a:latin typeface="Georgia"/>
                <a:ea typeface="Georgia"/>
                <a:cs typeface="Georgia"/>
                <a:sym typeface="Georgia"/>
              </a:defRPr>
            </a:lvl1pPr>
          </a:lstStyle>
          <a:p>
            <a:pPr/>
            <a:r>
              <a:t>Accidentale</a:t>
            </a:r>
          </a:p>
        </p:txBody>
      </p:sp>
      <p:sp>
        <p:nvSpPr>
          <p:cNvPr id="873" name="Google Shape;841;p71"/>
          <p:cNvSpPr txBox="1"/>
          <p:nvPr/>
        </p:nvSpPr>
        <p:spPr>
          <a:xfrm>
            <a:off x="5029200" y="2351340"/>
            <a:ext cx="3200400"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9CA3AF"/>
                </a:solidFill>
                <a:latin typeface="Calibri Light"/>
                <a:ea typeface="Calibri Light"/>
                <a:cs typeface="Calibri Light"/>
                <a:sym typeface="Calibri Light"/>
              </a:defRPr>
            </a:pPr>
            <a:r>
              <a:t>La aggiungiamo noi. Con le scelte</a:t>
            </a:r>
          </a:p>
          <a:p>
            <a:pPr>
              <a:defRPr>
                <a:solidFill>
                  <a:srgbClr val="9CA3AF"/>
                </a:solidFill>
                <a:latin typeface="Calibri Light"/>
                <a:ea typeface="Calibri Light"/>
                <a:cs typeface="Calibri Light"/>
                <a:sym typeface="Calibri Light"/>
              </a:defRPr>
            </a:pPr>
            <a:r>
              <a:t>di design, astrazioni, paradigmi.</a:t>
            </a:r>
          </a:p>
        </p:txBody>
      </p:sp>
      <p:sp>
        <p:nvSpPr>
          <p:cNvPr id="874" name="Google Shape;842;p71"/>
          <p:cNvSpPr txBox="1"/>
          <p:nvPr/>
        </p:nvSpPr>
        <p:spPr>
          <a:xfrm>
            <a:off x="914400" y="3948429"/>
            <a:ext cx="73152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F97316"/>
                </a:solidFill>
                <a:latin typeface="Georgia"/>
                <a:ea typeface="Georgia"/>
                <a:cs typeface="Georgia"/>
                <a:sym typeface="Georgia"/>
              </a:defRPr>
            </a:lvl1pPr>
          </a:lstStyle>
          <a:p>
            <a:pPr/>
            <a:r>
              <a:t>La cosa più pericolosa è quando smetti di riconoscerla come tale.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66"/>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67"/>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868"/>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86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5" fill="hold">
                                  <p:stCondLst>
                                    <p:cond delay="0"/>
                                  </p:stCondLst>
                                  <p:iterate type="el" backwards="0">
                                    <p:tmAbs val="0"/>
                                  </p:iterate>
                                  <p:childTnLst>
                                    <p:set>
                                      <p:cBhvr>
                                        <p:cTn id="19" fill="hold"/>
                                        <p:tgtEl>
                                          <p:spTgt spid="870"/>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871"/>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872"/>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87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9" fill="hold">
                                  <p:stCondLst>
                                    <p:cond delay="0"/>
                                  </p:stCondLst>
                                  <p:iterate type="el" backwards="0">
                                    <p:tmAbs val="0"/>
                                  </p:iterate>
                                  <p:childTnLst>
                                    <p:set>
                                      <p:cBhvr>
                                        <p:cTn id="32" fill="hold"/>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70" grpId="5"/>
      <p:bldP build="whole" bldLvl="1" animBg="1" rev="0" advAuto="0" spid="868" grpId="3"/>
      <p:bldP build="whole" bldLvl="1" animBg="1" rev="0" advAuto="0" spid="872" grpId="7"/>
      <p:bldP build="whole" bldLvl="1" animBg="1" rev="0" advAuto="0" spid="873" grpId="8"/>
      <p:bldP build="whole" bldLvl="1" animBg="1" rev="0" advAuto="0" spid="869" grpId="4"/>
      <p:bldP build="whole" bldLvl="1" animBg="1" rev="0" advAuto="0" spid="871" grpId="6"/>
      <p:bldP build="whole" bldLvl="1" animBg="1" rev="0" advAuto="0" spid="874" grpId="9"/>
      <p:bldP build="whole" bldLvl="1" animBg="1" rev="0" advAuto="0" spid="867" grpId="2"/>
      <p:bldP build="whole" bldLvl="1" animBg="1" rev="0" advAuto="0" spid="866" grpId="1"/>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78" name="Google Shape;848;p72"/>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79" name="Google Shape;849;p72"/>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MANIFESTO</a:t>
            </a:r>
          </a:p>
        </p:txBody>
      </p:sp>
      <p:sp>
        <p:nvSpPr>
          <p:cNvPr id="880" name="Google Shape;850;p72"/>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37 / 57</a:t>
            </a:r>
          </a:p>
        </p:txBody>
      </p:sp>
      <p:sp>
        <p:nvSpPr>
          <p:cNvPr id="881" name="Google Shape;851;p72"/>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82" name="Google Shape;852;p72"/>
          <p:cNvSpPr/>
          <p:nvPr/>
        </p:nvSpPr>
        <p:spPr>
          <a:xfrm>
            <a:off x="457200" y="4983479"/>
            <a:ext cx="5342021" cy="36577"/>
          </a:xfrm>
          <a:prstGeom prst="rect">
            <a:avLst/>
          </a:prstGeom>
          <a:solidFill>
            <a:srgbClr val="F97316"/>
          </a:solidFill>
          <a:ln w="12700">
            <a:miter lim="400000"/>
          </a:ln>
        </p:spPr>
        <p:txBody>
          <a:bodyPr lIns="0" tIns="0" rIns="0" bIns="0" anchor="ctr"/>
          <a:lstStyle/>
          <a:p>
            <a:pPr/>
          </a:p>
        </p:txBody>
      </p:sp>
      <p:sp>
        <p:nvSpPr>
          <p:cNvPr id="883" name="Google Shape;853;p72"/>
          <p:cNvSpPr txBox="1"/>
          <p:nvPr/>
        </p:nvSpPr>
        <p:spPr>
          <a:xfrm>
            <a:off x="457200" y="868680"/>
            <a:ext cx="822960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200">
                <a:solidFill>
                  <a:srgbClr val="FFFFFF"/>
                </a:solidFill>
                <a:latin typeface="Georgia"/>
                <a:ea typeface="Georgia"/>
                <a:cs typeface="Georgia"/>
                <a:sym typeface="Georgia"/>
              </a:defRPr>
            </a:lvl1pPr>
          </a:lstStyle>
          <a:p>
            <a:pPr/>
            <a:r>
              <a:t>Non eravamo stupidi</a:t>
            </a:r>
          </a:p>
        </p:txBody>
      </p:sp>
      <p:sp>
        <p:nvSpPr>
          <p:cNvPr id="884" name="Google Shape;854;p72"/>
          <p:cNvSpPr txBox="1"/>
          <p:nvPr/>
        </p:nvSpPr>
        <p:spPr>
          <a:xfrm>
            <a:off x="914400" y="2054423"/>
            <a:ext cx="731520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600">
                <a:solidFill>
                  <a:srgbClr val="E5E7EB"/>
                </a:solidFill>
                <a:latin typeface="Calibri Light"/>
                <a:ea typeface="Calibri Light"/>
                <a:cs typeface="Calibri Light"/>
                <a:sym typeface="Calibri Light"/>
              </a:defRPr>
            </a:pPr>
            <a:r>
              <a:t>L'OOP ha risolto problemi reali. Ha reso il codice più organizzato.</a:t>
            </a:r>
          </a:p>
          <a:p>
            <a:pPr algn="ctr">
              <a:defRPr sz="1600">
                <a:solidFill>
                  <a:srgbClr val="E5E7EB"/>
                </a:solidFill>
                <a:latin typeface="Calibri Light"/>
                <a:ea typeface="Calibri Light"/>
                <a:cs typeface="Calibri Light"/>
                <a:sym typeface="Calibri Light"/>
              </a:defRPr>
            </a:pPr>
            <a:r>
              <a:t>Ha permesso di costruire sistemi enormi con team enormi.</a:t>
            </a:r>
          </a:p>
        </p:txBody>
      </p:sp>
      <p:sp>
        <p:nvSpPr>
          <p:cNvPr id="885" name="Google Shape;855;p72"/>
          <p:cNvSpPr/>
          <p:nvPr/>
        </p:nvSpPr>
        <p:spPr>
          <a:xfrm>
            <a:off x="1371600" y="3017520"/>
            <a:ext cx="6400800" cy="914401"/>
          </a:xfrm>
          <a:prstGeom prst="rect">
            <a:avLst/>
          </a:prstGeom>
          <a:solidFill>
            <a:srgbClr val="1A1D2B"/>
          </a:solidFill>
          <a:ln w="12700">
            <a:miter lim="400000"/>
          </a:ln>
        </p:spPr>
        <p:txBody>
          <a:bodyPr lIns="0" tIns="0" rIns="0" bIns="0" anchor="ctr"/>
          <a:lstStyle/>
          <a:p>
            <a:pPr/>
          </a:p>
        </p:txBody>
      </p:sp>
      <p:sp>
        <p:nvSpPr>
          <p:cNvPr id="886" name="Google Shape;856;p72"/>
          <p:cNvSpPr/>
          <p:nvPr/>
        </p:nvSpPr>
        <p:spPr>
          <a:xfrm>
            <a:off x="1371600" y="3017520"/>
            <a:ext cx="54864" cy="914401"/>
          </a:xfrm>
          <a:prstGeom prst="rect">
            <a:avLst/>
          </a:prstGeom>
          <a:solidFill>
            <a:srgbClr val="F97316"/>
          </a:solidFill>
          <a:ln w="12700">
            <a:miter lim="400000"/>
          </a:ln>
        </p:spPr>
        <p:txBody>
          <a:bodyPr lIns="0" tIns="0" rIns="0" bIns="0" anchor="ctr"/>
          <a:lstStyle/>
          <a:p>
            <a:pPr/>
          </a:p>
        </p:txBody>
      </p:sp>
      <p:sp>
        <p:nvSpPr>
          <p:cNvPr id="887" name="Google Shape;857;p72"/>
          <p:cNvSpPr txBox="1"/>
          <p:nvPr/>
        </p:nvSpPr>
        <p:spPr>
          <a:xfrm>
            <a:off x="1645920" y="3243143"/>
            <a:ext cx="594360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F97316"/>
                </a:solidFill>
                <a:latin typeface="Calibri Light"/>
                <a:ea typeface="Calibri Light"/>
                <a:cs typeface="Calibri Light"/>
                <a:sym typeface="Calibri Light"/>
              </a:defRPr>
            </a:pPr>
            <a:r>
              <a:t>Il problema non è l'OOP.</a:t>
            </a:r>
          </a:p>
          <a:p>
            <a:pPr>
              <a:defRPr sz="1600">
                <a:solidFill>
                  <a:srgbClr val="F97316"/>
                </a:solidFill>
                <a:latin typeface="Calibri Light"/>
                <a:ea typeface="Calibri Light"/>
                <a:cs typeface="Calibri Light"/>
                <a:sym typeface="Calibri Light"/>
              </a:defRPr>
            </a:pPr>
            <a:r>
              <a:t>Il problema è che abbiamo smesso di farci domande.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8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86"/>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8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85" grpId="1"/>
      <p:bldP build="whole" bldLvl="1" animBg="1" rev="0" advAuto="0" spid="886" grpId="2"/>
      <p:bldP build="whole" bldLvl="1" animBg="1" rev="0" advAuto="0" spid="887" grpId="3"/>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891" name="Google Shape;863;p73"/>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892" name="Google Shape;864;p73"/>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893" name="Google Shape;865;p73"/>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38 / 57</a:t>
            </a:r>
          </a:p>
        </p:txBody>
      </p:sp>
      <p:sp>
        <p:nvSpPr>
          <p:cNvPr id="894" name="Google Shape;866;p73"/>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895" name="Google Shape;867;p73"/>
          <p:cNvSpPr/>
          <p:nvPr/>
        </p:nvSpPr>
        <p:spPr>
          <a:xfrm>
            <a:off x="457200" y="4983479"/>
            <a:ext cx="5486400" cy="36577"/>
          </a:xfrm>
          <a:prstGeom prst="rect">
            <a:avLst/>
          </a:prstGeom>
          <a:solidFill>
            <a:srgbClr val="F97316"/>
          </a:solidFill>
          <a:ln w="12700">
            <a:miter lim="400000"/>
          </a:ln>
        </p:spPr>
        <p:txBody>
          <a:bodyPr lIns="0" tIns="0" rIns="0" bIns="0" anchor="ctr"/>
          <a:lstStyle/>
          <a:p>
            <a:pPr/>
          </a:p>
        </p:txBody>
      </p:sp>
      <p:sp>
        <p:nvSpPr>
          <p:cNvPr id="896" name="Google Shape;868;p73"/>
          <p:cNvSpPr txBox="1"/>
          <p:nvPr/>
        </p:nvSpPr>
        <p:spPr>
          <a:xfrm>
            <a:off x="457200" y="1536699"/>
            <a:ext cx="822960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000">
                <a:solidFill>
                  <a:srgbClr val="FFFFFF"/>
                </a:solidFill>
                <a:latin typeface="Georgia"/>
                <a:ea typeface="Georgia"/>
                <a:cs typeface="Georgia"/>
                <a:sym typeface="Georgia"/>
              </a:defRPr>
            </a:lvl1pPr>
          </a:lstStyle>
          <a:p>
            <a:pPr/>
            <a:r>
              <a:t>I pattern come sintomo</a:t>
            </a:r>
          </a:p>
        </p:txBody>
      </p:sp>
      <p:sp>
        <p:nvSpPr>
          <p:cNvPr id="897" name="Google Shape;869;p73"/>
          <p:cNvSpPr txBox="1"/>
          <p:nvPr/>
        </p:nvSpPr>
        <p:spPr>
          <a:xfrm>
            <a:off x="914400" y="2750646"/>
            <a:ext cx="7315200"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800">
                <a:solidFill>
                  <a:srgbClr val="EAB308"/>
                </a:solidFill>
                <a:latin typeface="Calibri Light"/>
                <a:ea typeface="Calibri Light"/>
                <a:cs typeface="Calibri Light"/>
                <a:sym typeface="Calibri Light"/>
              </a:defRPr>
            </a:pPr>
            <a:r>
              <a:t>I pattern non sono la prova della potenza dell'OOP.</a:t>
            </a:r>
          </a:p>
          <a:p>
            <a:pPr algn="ctr">
              <a:defRPr sz="1800">
                <a:solidFill>
                  <a:srgbClr val="EAB308"/>
                </a:solidFill>
                <a:latin typeface="Calibri Light"/>
                <a:ea typeface="Calibri Light"/>
                <a:cs typeface="Calibri Light"/>
                <a:sym typeface="Calibri Light"/>
              </a:defRPr>
            </a:pPr>
            <a:r>
              <a:t>Sono la prova dei suoi limiti.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97" grpId="1"/>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01" name="Google Shape;875;p74"/>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02" name="Google Shape;876;p74"/>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903" name="Google Shape;877;p7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39 / 57</a:t>
            </a:r>
          </a:p>
        </p:txBody>
      </p:sp>
      <p:sp>
        <p:nvSpPr>
          <p:cNvPr id="904" name="Google Shape;878;p7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05" name="Google Shape;879;p74"/>
          <p:cNvSpPr/>
          <p:nvPr/>
        </p:nvSpPr>
        <p:spPr>
          <a:xfrm>
            <a:off x="457199" y="4983479"/>
            <a:ext cx="5630781" cy="36577"/>
          </a:xfrm>
          <a:prstGeom prst="rect">
            <a:avLst/>
          </a:prstGeom>
          <a:solidFill>
            <a:srgbClr val="F97316"/>
          </a:solidFill>
          <a:ln w="12700">
            <a:miter lim="400000"/>
          </a:ln>
        </p:spPr>
        <p:txBody>
          <a:bodyPr lIns="0" tIns="0" rIns="0" bIns="0" anchor="ctr"/>
          <a:lstStyle/>
          <a:p>
            <a:pPr/>
          </a:p>
        </p:txBody>
      </p:sp>
      <p:sp>
        <p:nvSpPr>
          <p:cNvPr id="906" name="Google Shape;880;p74"/>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Strategy Pattern</a:t>
            </a:r>
          </a:p>
        </p:txBody>
      </p:sp>
      <p:sp>
        <p:nvSpPr>
          <p:cNvPr id="907" name="Google Shape;881;p74"/>
          <p:cNvSpPr/>
          <p:nvPr/>
        </p:nvSpPr>
        <p:spPr>
          <a:xfrm>
            <a:off x="731519" y="1188719"/>
            <a:ext cx="3657601" cy="2560322"/>
          </a:xfrm>
          <a:prstGeom prst="rect">
            <a:avLst/>
          </a:prstGeom>
          <a:solidFill>
            <a:srgbClr val="1A1D2B"/>
          </a:solidFill>
          <a:ln w="12700">
            <a:miter lim="400000"/>
          </a:ln>
        </p:spPr>
        <p:txBody>
          <a:bodyPr lIns="0" tIns="0" rIns="0" bIns="0" anchor="ctr"/>
          <a:lstStyle/>
          <a:p>
            <a:pPr/>
          </a:p>
        </p:txBody>
      </p:sp>
      <p:sp>
        <p:nvSpPr>
          <p:cNvPr id="908" name="Google Shape;882;p74"/>
          <p:cNvSpPr txBox="1"/>
          <p:nvPr/>
        </p:nvSpPr>
        <p:spPr>
          <a:xfrm>
            <a:off x="1005839" y="141986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AB308"/>
                </a:solidFill>
                <a:latin typeface="Consolas"/>
                <a:ea typeface="Consolas"/>
                <a:cs typeface="Consolas"/>
                <a:sym typeface="Consolas"/>
              </a:defRPr>
            </a:lvl1pPr>
          </a:lstStyle>
          <a:p>
            <a:pPr/>
            <a:r>
              <a:t>Java classico</a:t>
            </a:r>
          </a:p>
        </p:txBody>
      </p:sp>
      <p:sp>
        <p:nvSpPr>
          <p:cNvPr id="909" name="Google Shape;883;p74"/>
          <p:cNvSpPr txBox="1"/>
          <p:nvPr/>
        </p:nvSpPr>
        <p:spPr>
          <a:xfrm>
            <a:off x="1005839" y="1985580"/>
            <a:ext cx="320040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9CA3AF"/>
                </a:solidFill>
                <a:latin typeface="Calibri Light"/>
                <a:ea typeface="Calibri Light"/>
                <a:cs typeface="Calibri Light"/>
                <a:sym typeface="Calibri Light"/>
              </a:defRPr>
            </a:pPr>
            <a:r>
              <a:t>Interfaccia + implementazione</a:t>
            </a:r>
          </a:p>
          <a:p>
            <a:pPr>
              <a:defRPr>
                <a:solidFill>
                  <a:srgbClr val="9CA3AF"/>
                </a:solidFill>
                <a:latin typeface="Calibri Light"/>
                <a:ea typeface="Calibri Light"/>
                <a:cs typeface="Calibri Light"/>
                <a:sym typeface="Calibri Light"/>
              </a:defRPr>
            </a:pPr>
            <a:r>
              <a:t>+ injection = ~30 righe</a:t>
            </a:r>
          </a:p>
        </p:txBody>
      </p:sp>
      <p:sp>
        <p:nvSpPr>
          <p:cNvPr id="910" name="Google Shape;884;p74"/>
          <p:cNvSpPr/>
          <p:nvPr/>
        </p:nvSpPr>
        <p:spPr>
          <a:xfrm>
            <a:off x="4754879" y="1188719"/>
            <a:ext cx="3657601" cy="2560322"/>
          </a:xfrm>
          <a:prstGeom prst="rect">
            <a:avLst/>
          </a:prstGeom>
          <a:solidFill>
            <a:srgbClr val="1A1D2B"/>
          </a:solidFill>
          <a:ln w="12700">
            <a:miter lim="400000"/>
          </a:ln>
        </p:spPr>
        <p:txBody>
          <a:bodyPr lIns="0" tIns="0" rIns="0" bIns="0" anchor="ctr"/>
          <a:lstStyle/>
          <a:p>
            <a:pPr/>
          </a:p>
        </p:txBody>
      </p:sp>
      <p:sp>
        <p:nvSpPr>
          <p:cNvPr id="911" name="Google Shape;885;p74"/>
          <p:cNvSpPr/>
          <p:nvPr/>
        </p:nvSpPr>
        <p:spPr>
          <a:xfrm>
            <a:off x="4754879" y="1188719"/>
            <a:ext cx="3657601" cy="45721"/>
          </a:xfrm>
          <a:prstGeom prst="rect">
            <a:avLst/>
          </a:prstGeom>
          <a:solidFill>
            <a:srgbClr val="22C55E"/>
          </a:solidFill>
          <a:ln w="12700">
            <a:miter lim="400000"/>
          </a:ln>
        </p:spPr>
        <p:txBody>
          <a:bodyPr lIns="0" tIns="0" rIns="0" bIns="0" anchor="ctr"/>
          <a:lstStyle/>
          <a:p>
            <a:pPr/>
          </a:p>
        </p:txBody>
      </p:sp>
      <p:sp>
        <p:nvSpPr>
          <p:cNvPr id="912" name="Google Shape;886;p74"/>
          <p:cNvSpPr txBox="1"/>
          <p:nvPr/>
        </p:nvSpPr>
        <p:spPr>
          <a:xfrm>
            <a:off x="5029200" y="141986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JS / Kotlin / Rust</a:t>
            </a:r>
          </a:p>
        </p:txBody>
      </p:sp>
      <p:sp>
        <p:nvSpPr>
          <p:cNvPr id="913" name="Google Shape;887;p74"/>
          <p:cNvSpPr txBox="1"/>
          <p:nvPr/>
        </p:nvSpPr>
        <p:spPr>
          <a:xfrm>
            <a:off x="5029200" y="1949450"/>
            <a:ext cx="32004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E5E7EB"/>
                </a:solidFill>
                <a:latin typeface="Consolas"/>
                <a:ea typeface="Consolas"/>
                <a:cs typeface="Consolas"/>
                <a:sym typeface="Consolas"/>
              </a:defRPr>
            </a:lvl1pPr>
          </a:lstStyle>
          <a:p>
            <a:pPr/>
            <a:r>
              <a:t>fn(strategy: fn(x) → y)</a:t>
            </a:r>
          </a:p>
        </p:txBody>
      </p:sp>
      <p:sp>
        <p:nvSpPr>
          <p:cNvPr id="914" name="Google Shape;888;p74"/>
          <p:cNvSpPr txBox="1"/>
          <p:nvPr/>
        </p:nvSpPr>
        <p:spPr>
          <a:xfrm>
            <a:off x="5029200" y="2481887"/>
            <a:ext cx="32004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6B7280"/>
                </a:solidFill>
                <a:latin typeface="Calibri Light"/>
                <a:ea typeface="Calibri Light"/>
                <a:cs typeface="Calibri Light"/>
                <a:sym typeface="Calibri Light"/>
              </a:defRPr>
            </a:lvl1pPr>
          </a:lstStyle>
          <a:p>
            <a:pPr/>
            <a:r>
              <a:t>Una riga. Funzione di prima classe.</a:t>
            </a:r>
          </a:p>
        </p:txBody>
      </p:sp>
      <p:sp>
        <p:nvSpPr>
          <p:cNvPr id="915" name="Google Shape;889;p74"/>
          <p:cNvSpPr txBox="1"/>
          <p:nvPr/>
        </p:nvSpPr>
        <p:spPr>
          <a:xfrm>
            <a:off x="731519" y="4203000"/>
            <a:ext cx="7315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Ogni Strategy in Java è una funzione di prima classe scritta a mano.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1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91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912"/>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913"/>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9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9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12" grpId="3"/>
      <p:bldP build="whole" bldLvl="1" animBg="1" rev="0" advAuto="0" spid="913" grpId="4"/>
      <p:bldP build="whole" bldLvl="1" animBg="1" rev="0" advAuto="0" spid="915" grpId="6"/>
      <p:bldP build="whole" bldLvl="1" animBg="1" rev="0" advAuto="0" spid="911" grpId="2"/>
      <p:bldP build="whole" bldLvl="1" animBg="1" rev="0" advAuto="0" spid="914" grpId="5"/>
      <p:bldP build="whole" bldLvl="1" animBg="1" rev="0" advAuto="0" spid="910" grpId="1"/>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19" name="Google Shape;895;p75"/>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20" name="Google Shape;896;p75"/>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921" name="Google Shape;897;p75"/>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40 / 57</a:t>
            </a:r>
          </a:p>
        </p:txBody>
      </p:sp>
      <p:sp>
        <p:nvSpPr>
          <p:cNvPr id="922" name="Google Shape;898;p75"/>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23" name="Google Shape;899;p75"/>
          <p:cNvSpPr/>
          <p:nvPr/>
        </p:nvSpPr>
        <p:spPr>
          <a:xfrm>
            <a:off x="457200" y="4983479"/>
            <a:ext cx="5775158" cy="36577"/>
          </a:xfrm>
          <a:prstGeom prst="rect">
            <a:avLst/>
          </a:prstGeom>
          <a:solidFill>
            <a:srgbClr val="F97316"/>
          </a:solidFill>
          <a:ln w="12700">
            <a:miter lim="400000"/>
          </a:ln>
        </p:spPr>
        <p:txBody>
          <a:bodyPr lIns="0" tIns="0" rIns="0" bIns="0" anchor="ctr"/>
          <a:lstStyle/>
          <a:p>
            <a:pPr/>
          </a:p>
        </p:txBody>
      </p:sp>
      <p:sp>
        <p:nvSpPr>
          <p:cNvPr id="924" name="Google Shape;900;p75"/>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Builder Pattern</a:t>
            </a:r>
          </a:p>
        </p:txBody>
      </p:sp>
      <p:sp>
        <p:nvSpPr>
          <p:cNvPr id="925" name="Google Shape;901;p75"/>
          <p:cNvSpPr/>
          <p:nvPr/>
        </p:nvSpPr>
        <p:spPr>
          <a:xfrm>
            <a:off x="731519" y="1188719"/>
            <a:ext cx="3657601" cy="2560322"/>
          </a:xfrm>
          <a:prstGeom prst="rect">
            <a:avLst/>
          </a:prstGeom>
          <a:solidFill>
            <a:srgbClr val="1A1D2B"/>
          </a:solidFill>
          <a:ln w="12700">
            <a:miter lim="400000"/>
          </a:ln>
        </p:spPr>
        <p:txBody>
          <a:bodyPr lIns="0" tIns="0" rIns="0" bIns="0" anchor="ctr"/>
          <a:lstStyle/>
          <a:p>
            <a:pPr/>
          </a:p>
        </p:txBody>
      </p:sp>
      <p:sp>
        <p:nvSpPr>
          <p:cNvPr id="926" name="Google Shape;902;p75"/>
          <p:cNvSpPr txBox="1"/>
          <p:nvPr/>
        </p:nvSpPr>
        <p:spPr>
          <a:xfrm>
            <a:off x="1005839" y="141986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AB308"/>
                </a:solidFill>
                <a:latin typeface="Consolas"/>
                <a:ea typeface="Consolas"/>
                <a:cs typeface="Consolas"/>
                <a:sym typeface="Consolas"/>
              </a:defRPr>
            </a:lvl1pPr>
          </a:lstStyle>
          <a:p>
            <a:pPr/>
            <a:r>
              <a:t>Java</a:t>
            </a:r>
          </a:p>
        </p:txBody>
      </p:sp>
      <p:sp>
        <p:nvSpPr>
          <p:cNvPr id="927" name="Google Shape;903;p75"/>
          <p:cNvSpPr txBox="1"/>
          <p:nvPr/>
        </p:nvSpPr>
        <p:spPr>
          <a:xfrm>
            <a:off x="1005839" y="1971039"/>
            <a:ext cx="3200401"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9CA3AF"/>
                </a:solidFill>
                <a:latin typeface="Consolas"/>
                <a:ea typeface="Consolas"/>
                <a:cs typeface="Consolas"/>
                <a:sym typeface="Consolas"/>
              </a:defRPr>
            </a:pPr>
            <a:r>
              <a:t>User.builder()</a:t>
            </a:r>
            <a:endParaRPr>
              <a:latin typeface="Calibri Light"/>
              <a:ea typeface="Calibri Light"/>
              <a:cs typeface="Calibri Light"/>
              <a:sym typeface="Calibri Light"/>
            </a:endParaRPr>
          </a:p>
          <a:p>
            <a:pPr>
              <a:defRPr sz="1300">
                <a:solidFill>
                  <a:srgbClr val="9CA3AF"/>
                </a:solidFill>
                <a:latin typeface="Consolas"/>
                <a:ea typeface="Consolas"/>
                <a:cs typeface="Consolas"/>
                <a:sym typeface="Consolas"/>
              </a:defRPr>
            </a:pPr>
            <a:r>
              <a:t>  .name("Alice")</a:t>
            </a:r>
            <a:endParaRPr>
              <a:latin typeface="Calibri Light"/>
              <a:ea typeface="Calibri Light"/>
              <a:cs typeface="Calibri Light"/>
              <a:sym typeface="Calibri Light"/>
            </a:endParaRPr>
          </a:p>
          <a:p>
            <a:pPr>
              <a:defRPr sz="1300">
                <a:solidFill>
                  <a:srgbClr val="9CA3AF"/>
                </a:solidFill>
                <a:latin typeface="Consolas"/>
                <a:ea typeface="Consolas"/>
                <a:cs typeface="Consolas"/>
                <a:sym typeface="Consolas"/>
              </a:defRPr>
            </a:pPr>
            <a:r>
              <a:t>  .age(30)</a:t>
            </a:r>
            <a:endParaRPr>
              <a:latin typeface="Calibri Light"/>
              <a:ea typeface="Calibri Light"/>
              <a:cs typeface="Calibri Light"/>
              <a:sym typeface="Calibri Light"/>
            </a:endParaRPr>
          </a:p>
          <a:p>
            <a:pPr>
              <a:defRPr sz="1300">
                <a:solidFill>
                  <a:srgbClr val="9CA3AF"/>
                </a:solidFill>
                <a:latin typeface="Consolas"/>
                <a:ea typeface="Consolas"/>
                <a:cs typeface="Consolas"/>
                <a:sym typeface="Consolas"/>
              </a:defRPr>
            </a:pPr>
            <a:r>
              <a:t>  .build()</a:t>
            </a:r>
          </a:p>
        </p:txBody>
      </p:sp>
      <p:sp>
        <p:nvSpPr>
          <p:cNvPr id="928" name="Google Shape;904;p75"/>
          <p:cNvSpPr/>
          <p:nvPr/>
        </p:nvSpPr>
        <p:spPr>
          <a:xfrm>
            <a:off x="4754879" y="1188719"/>
            <a:ext cx="3657601" cy="2560322"/>
          </a:xfrm>
          <a:prstGeom prst="rect">
            <a:avLst/>
          </a:prstGeom>
          <a:solidFill>
            <a:srgbClr val="1A1D2B"/>
          </a:solidFill>
          <a:ln w="12700">
            <a:miter lim="400000"/>
          </a:ln>
        </p:spPr>
        <p:txBody>
          <a:bodyPr lIns="0" tIns="0" rIns="0" bIns="0" anchor="ctr"/>
          <a:lstStyle/>
          <a:p>
            <a:pPr/>
          </a:p>
        </p:txBody>
      </p:sp>
      <p:sp>
        <p:nvSpPr>
          <p:cNvPr id="929" name="Google Shape;905;p75"/>
          <p:cNvSpPr/>
          <p:nvPr/>
        </p:nvSpPr>
        <p:spPr>
          <a:xfrm>
            <a:off x="4754879" y="1188719"/>
            <a:ext cx="3657601" cy="45721"/>
          </a:xfrm>
          <a:prstGeom prst="rect">
            <a:avLst/>
          </a:prstGeom>
          <a:solidFill>
            <a:srgbClr val="22C55E"/>
          </a:solidFill>
          <a:ln w="12700">
            <a:miter lim="400000"/>
          </a:ln>
        </p:spPr>
        <p:txBody>
          <a:bodyPr lIns="0" tIns="0" rIns="0" bIns="0" anchor="ctr"/>
          <a:lstStyle/>
          <a:p>
            <a:pPr/>
          </a:p>
        </p:txBody>
      </p:sp>
      <p:sp>
        <p:nvSpPr>
          <p:cNvPr id="930" name="Google Shape;906;p75"/>
          <p:cNvSpPr txBox="1"/>
          <p:nvPr/>
        </p:nvSpPr>
        <p:spPr>
          <a:xfrm>
            <a:off x="5029200" y="141986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Kotlin / Swift / Python</a:t>
            </a:r>
          </a:p>
        </p:txBody>
      </p:sp>
      <p:sp>
        <p:nvSpPr>
          <p:cNvPr id="931" name="Google Shape;907;p75"/>
          <p:cNvSpPr txBox="1"/>
          <p:nvPr/>
        </p:nvSpPr>
        <p:spPr>
          <a:xfrm>
            <a:off x="5029200" y="1955799"/>
            <a:ext cx="32004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5E7EB"/>
                </a:solidFill>
                <a:latin typeface="Consolas"/>
                <a:ea typeface="Consolas"/>
                <a:cs typeface="Consolas"/>
                <a:sym typeface="Consolas"/>
              </a:defRPr>
            </a:lvl1pPr>
          </a:lstStyle>
          <a:p>
            <a:pPr/>
            <a:r>
              <a:t>User(name: "Alice", age: 30)</a:t>
            </a:r>
          </a:p>
        </p:txBody>
      </p:sp>
      <p:sp>
        <p:nvSpPr>
          <p:cNvPr id="932" name="Google Shape;908;p75"/>
          <p:cNvSpPr txBox="1"/>
          <p:nvPr/>
        </p:nvSpPr>
        <p:spPr>
          <a:xfrm>
            <a:off x="5029200" y="2481887"/>
            <a:ext cx="32004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6B7280"/>
                </a:solidFill>
                <a:latin typeface="Calibri Light"/>
                <a:ea typeface="Calibri Light"/>
                <a:cs typeface="Calibri Light"/>
                <a:sym typeface="Calibri Light"/>
              </a:defRPr>
            </a:lvl1pPr>
          </a:lstStyle>
          <a:p>
            <a:pPr/>
            <a:r>
              <a:t>Named parameters + defaults.</a:t>
            </a:r>
          </a:p>
        </p:txBody>
      </p:sp>
      <p:sp>
        <p:nvSpPr>
          <p:cNvPr id="933" name="Google Shape;909;p75"/>
          <p:cNvSpPr txBox="1"/>
          <p:nvPr/>
        </p:nvSpPr>
        <p:spPr>
          <a:xfrm>
            <a:off x="731519" y="4203000"/>
            <a:ext cx="7315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Builder risolve l'assenza di named parameters nel linguaggio.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28"/>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929"/>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930"/>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931"/>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9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28" grpId="1"/>
      <p:bldP build="whole" bldLvl="1" animBg="1" rev="0" advAuto="0" spid="933" grpId="6"/>
      <p:bldP build="whole" bldLvl="1" animBg="1" rev="0" advAuto="0" spid="929" grpId="2"/>
      <p:bldP build="whole" bldLvl="1" animBg="1" rev="0" advAuto="0" spid="931" grpId="4"/>
      <p:bldP build="whole" bldLvl="1" animBg="1" rev="0" advAuto="0" spid="930" grpId="3"/>
      <p:bldP build="whole" bldLvl="1" animBg="1" rev="0" advAuto="0" spid="932" grpId="5"/>
    </p:bld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35" name="Google Shape;915;p7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36" name="Google Shape;916;p7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937" name="Google Shape;917;p7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41 / 57</a:t>
            </a:r>
          </a:p>
        </p:txBody>
      </p:sp>
      <p:sp>
        <p:nvSpPr>
          <p:cNvPr id="938" name="Google Shape;918;p7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39" name="Google Shape;919;p76"/>
          <p:cNvSpPr/>
          <p:nvPr/>
        </p:nvSpPr>
        <p:spPr>
          <a:xfrm>
            <a:off x="457199" y="4983479"/>
            <a:ext cx="5919539" cy="36577"/>
          </a:xfrm>
          <a:prstGeom prst="rect">
            <a:avLst/>
          </a:prstGeom>
          <a:solidFill>
            <a:srgbClr val="F97316"/>
          </a:solidFill>
          <a:ln w="12700">
            <a:miter lim="400000"/>
          </a:ln>
        </p:spPr>
        <p:txBody>
          <a:bodyPr lIns="0" tIns="0" rIns="0" bIns="0" anchor="ctr"/>
          <a:lstStyle/>
          <a:p>
            <a:pPr/>
          </a:p>
        </p:txBody>
      </p:sp>
      <p:sp>
        <p:nvSpPr>
          <p:cNvPr id="940" name="Google Shape;920;p76"/>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Adapter Pattern</a:t>
            </a:r>
          </a:p>
        </p:txBody>
      </p:sp>
      <p:sp>
        <p:nvSpPr>
          <p:cNvPr id="941" name="Google Shape;921;p76"/>
          <p:cNvSpPr txBox="1"/>
          <p:nvPr/>
        </p:nvSpPr>
        <p:spPr>
          <a:xfrm>
            <a:off x="914400" y="4305739"/>
            <a:ext cx="73152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6B7280"/>
                </a:solidFill>
                <a:latin typeface="Calibri Light"/>
                <a:ea typeface="Calibri Light"/>
                <a:cs typeface="Calibri Light"/>
                <a:sym typeface="Calibri Light"/>
              </a:defRPr>
            </a:lvl1pPr>
          </a:lstStyle>
          <a:p>
            <a:pPr/>
            <a:r>
              <a:t>In Rust — il problema che Adapter risolve non esiste.</a:t>
            </a:r>
          </a:p>
        </p:txBody>
      </p:sp>
      <p:pic>
        <p:nvPicPr>
          <p:cNvPr id="942" name="Google Shape;922;p76" descr="Google Shape;922;p76"/>
          <p:cNvPicPr>
            <a:picLocks noChangeAspect="1"/>
          </p:cNvPicPr>
          <p:nvPr/>
        </p:nvPicPr>
        <p:blipFill>
          <a:blip r:embed="rId3">
            <a:extLst/>
          </a:blip>
          <a:stretch>
            <a:fillRect/>
          </a:stretch>
        </p:blipFill>
        <p:spPr>
          <a:xfrm>
            <a:off x="1188725" y="944884"/>
            <a:ext cx="6965451" cy="307848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1" grpId="1"/>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46" name="Google Shape;928;p7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47" name="Google Shape;929;p7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948" name="Google Shape;930;p7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42 / 57</a:t>
            </a:r>
          </a:p>
        </p:txBody>
      </p:sp>
      <p:sp>
        <p:nvSpPr>
          <p:cNvPr id="949" name="Google Shape;931;p7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50" name="Google Shape;932;p77"/>
          <p:cNvSpPr/>
          <p:nvPr/>
        </p:nvSpPr>
        <p:spPr>
          <a:xfrm>
            <a:off x="457200" y="4983479"/>
            <a:ext cx="6063916" cy="36577"/>
          </a:xfrm>
          <a:prstGeom prst="rect">
            <a:avLst/>
          </a:prstGeom>
          <a:solidFill>
            <a:srgbClr val="F97316"/>
          </a:solidFill>
          <a:ln w="12700">
            <a:miter lim="400000"/>
          </a:ln>
        </p:spPr>
        <p:txBody>
          <a:bodyPr lIns="0" tIns="0" rIns="0" bIns="0" anchor="ctr"/>
          <a:lstStyle/>
          <a:p>
            <a:pPr/>
          </a:p>
        </p:txBody>
      </p:sp>
      <p:sp>
        <p:nvSpPr>
          <p:cNvPr id="951" name="Google Shape;933;p77"/>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Quanti pattern per "creare oggetti"?</a:t>
            </a:r>
          </a:p>
        </p:txBody>
      </p:sp>
      <p:sp>
        <p:nvSpPr>
          <p:cNvPr id="952" name="Google Shape;934;p77"/>
          <p:cNvSpPr/>
          <p:nvPr/>
        </p:nvSpPr>
        <p:spPr>
          <a:xfrm>
            <a:off x="731519" y="1371600"/>
            <a:ext cx="1463041" cy="548641"/>
          </a:xfrm>
          <a:prstGeom prst="rect">
            <a:avLst/>
          </a:prstGeom>
          <a:solidFill>
            <a:srgbClr val="2A1A08"/>
          </a:solidFill>
          <a:ln w="12700">
            <a:miter lim="400000"/>
          </a:ln>
        </p:spPr>
        <p:txBody>
          <a:bodyPr lIns="0" tIns="0" rIns="0" bIns="0" anchor="ctr"/>
          <a:lstStyle/>
          <a:p>
            <a:pPr/>
          </a:p>
        </p:txBody>
      </p:sp>
      <p:sp>
        <p:nvSpPr>
          <p:cNvPr id="953" name="Google Shape;935;p77"/>
          <p:cNvSpPr txBox="1"/>
          <p:nvPr/>
        </p:nvSpPr>
        <p:spPr>
          <a:xfrm>
            <a:off x="731519" y="1563370"/>
            <a:ext cx="1463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AB308"/>
                </a:solidFill>
                <a:latin typeface="Consolas"/>
                <a:ea typeface="Consolas"/>
                <a:cs typeface="Consolas"/>
                <a:sym typeface="Consolas"/>
              </a:defRPr>
            </a:lvl1pPr>
          </a:lstStyle>
          <a:p>
            <a:pPr/>
            <a:r>
              <a:t>Factory</a:t>
            </a:r>
          </a:p>
        </p:txBody>
      </p:sp>
      <p:sp>
        <p:nvSpPr>
          <p:cNvPr id="954" name="Google Shape;936;p77"/>
          <p:cNvSpPr/>
          <p:nvPr/>
        </p:nvSpPr>
        <p:spPr>
          <a:xfrm>
            <a:off x="2377439" y="1371600"/>
            <a:ext cx="1463042" cy="548641"/>
          </a:xfrm>
          <a:prstGeom prst="rect">
            <a:avLst/>
          </a:prstGeom>
          <a:solidFill>
            <a:srgbClr val="2A1A08"/>
          </a:solidFill>
          <a:ln w="12700">
            <a:miter lim="400000"/>
          </a:ln>
        </p:spPr>
        <p:txBody>
          <a:bodyPr lIns="0" tIns="0" rIns="0" bIns="0" anchor="ctr"/>
          <a:lstStyle/>
          <a:p>
            <a:pPr/>
          </a:p>
        </p:txBody>
      </p:sp>
      <p:sp>
        <p:nvSpPr>
          <p:cNvPr id="955" name="Google Shape;937;p77"/>
          <p:cNvSpPr txBox="1"/>
          <p:nvPr/>
        </p:nvSpPr>
        <p:spPr>
          <a:xfrm>
            <a:off x="2377439" y="1563370"/>
            <a:ext cx="146304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AB308"/>
                </a:solidFill>
                <a:latin typeface="Consolas"/>
                <a:ea typeface="Consolas"/>
                <a:cs typeface="Consolas"/>
                <a:sym typeface="Consolas"/>
              </a:defRPr>
            </a:lvl1pPr>
          </a:lstStyle>
          <a:p>
            <a:pPr/>
            <a:r>
              <a:t>Abstract Factory</a:t>
            </a:r>
          </a:p>
        </p:txBody>
      </p:sp>
      <p:sp>
        <p:nvSpPr>
          <p:cNvPr id="956" name="Google Shape;938;p77"/>
          <p:cNvSpPr/>
          <p:nvPr/>
        </p:nvSpPr>
        <p:spPr>
          <a:xfrm>
            <a:off x="4023359" y="1371600"/>
            <a:ext cx="1463041" cy="548641"/>
          </a:xfrm>
          <a:prstGeom prst="rect">
            <a:avLst/>
          </a:prstGeom>
          <a:solidFill>
            <a:srgbClr val="2A1A08"/>
          </a:solidFill>
          <a:ln w="12700">
            <a:miter lim="400000"/>
          </a:ln>
        </p:spPr>
        <p:txBody>
          <a:bodyPr lIns="0" tIns="0" rIns="0" bIns="0" anchor="ctr"/>
          <a:lstStyle/>
          <a:p>
            <a:pPr/>
          </a:p>
        </p:txBody>
      </p:sp>
      <p:sp>
        <p:nvSpPr>
          <p:cNvPr id="957" name="Google Shape;939;p77"/>
          <p:cNvSpPr txBox="1"/>
          <p:nvPr/>
        </p:nvSpPr>
        <p:spPr>
          <a:xfrm>
            <a:off x="4023359" y="1563370"/>
            <a:ext cx="1463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AB308"/>
                </a:solidFill>
                <a:latin typeface="Consolas"/>
                <a:ea typeface="Consolas"/>
                <a:cs typeface="Consolas"/>
                <a:sym typeface="Consolas"/>
              </a:defRPr>
            </a:lvl1pPr>
          </a:lstStyle>
          <a:p>
            <a:pPr/>
            <a:r>
              <a:t>Prototype</a:t>
            </a:r>
          </a:p>
        </p:txBody>
      </p:sp>
      <p:sp>
        <p:nvSpPr>
          <p:cNvPr id="958" name="Google Shape;940;p77"/>
          <p:cNvSpPr/>
          <p:nvPr/>
        </p:nvSpPr>
        <p:spPr>
          <a:xfrm>
            <a:off x="5669279" y="1371600"/>
            <a:ext cx="1463041" cy="548641"/>
          </a:xfrm>
          <a:prstGeom prst="rect">
            <a:avLst/>
          </a:prstGeom>
          <a:solidFill>
            <a:srgbClr val="2A1A08"/>
          </a:solidFill>
          <a:ln w="12700">
            <a:miter lim="400000"/>
          </a:ln>
        </p:spPr>
        <p:txBody>
          <a:bodyPr lIns="0" tIns="0" rIns="0" bIns="0" anchor="ctr"/>
          <a:lstStyle/>
          <a:p>
            <a:pPr/>
          </a:p>
        </p:txBody>
      </p:sp>
      <p:sp>
        <p:nvSpPr>
          <p:cNvPr id="959" name="Google Shape;941;p77"/>
          <p:cNvSpPr txBox="1"/>
          <p:nvPr/>
        </p:nvSpPr>
        <p:spPr>
          <a:xfrm>
            <a:off x="5669279" y="1563370"/>
            <a:ext cx="1463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AB308"/>
                </a:solidFill>
                <a:latin typeface="Consolas"/>
                <a:ea typeface="Consolas"/>
                <a:cs typeface="Consolas"/>
                <a:sym typeface="Consolas"/>
              </a:defRPr>
            </a:lvl1pPr>
          </a:lstStyle>
          <a:p>
            <a:pPr/>
            <a:r>
              <a:t>Builder</a:t>
            </a:r>
          </a:p>
        </p:txBody>
      </p:sp>
      <p:sp>
        <p:nvSpPr>
          <p:cNvPr id="960" name="Google Shape;942;p77"/>
          <p:cNvSpPr/>
          <p:nvPr/>
        </p:nvSpPr>
        <p:spPr>
          <a:xfrm>
            <a:off x="7315200" y="1371600"/>
            <a:ext cx="1463041" cy="548641"/>
          </a:xfrm>
          <a:prstGeom prst="rect">
            <a:avLst/>
          </a:prstGeom>
          <a:solidFill>
            <a:srgbClr val="2A1A08"/>
          </a:solidFill>
          <a:ln w="12700">
            <a:miter lim="400000"/>
          </a:ln>
        </p:spPr>
        <p:txBody>
          <a:bodyPr lIns="0" tIns="0" rIns="0" bIns="0" anchor="ctr"/>
          <a:lstStyle/>
          <a:p>
            <a:pPr/>
          </a:p>
        </p:txBody>
      </p:sp>
      <p:sp>
        <p:nvSpPr>
          <p:cNvPr id="961" name="Google Shape;943;p77"/>
          <p:cNvSpPr txBox="1"/>
          <p:nvPr/>
        </p:nvSpPr>
        <p:spPr>
          <a:xfrm>
            <a:off x="7315200" y="1563370"/>
            <a:ext cx="1463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EAB308"/>
                </a:solidFill>
                <a:latin typeface="Consolas"/>
                <a:ea typeface="Consolas"/>
                <a:cs typeface="Consolas"/>
                <a:sym typeface="Consolas"/>
              </a:defRPr>
            </a:lvl1pPr>
          </a:lstStyle>
          <a:p>
            <a:pPr/>
            <a:r>
              <a:t>Object Pool</a:t>
            </a:r>
          </a:p>
        </p:txBody>
      </p:sp>
      <p:sp>
        <p:nvSpPr>
          <p:cNvPr id="962" name="Google Shape;944;p77"/>
          <p:cNvSpPr txBox="1"/>
          <p:nvPr/>
        </p:nvSpPr>
        <p:spPr>
          <a:xfrm>
            <a:off x="914400" y="2684343"/>
            <a:ext cx="7315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9CA3AF"/>
                </a:solidFill>
                <a:latin typeface="Calibri Light"/>
                <a:ea typeface="Calibri Light"/>
                <a:cs typeface="Calibri Light"/>
                <a:sym typeface="Calibri Light"/>
              </a:defRPr>
            </a:lvl1pPr>
          </a:lstStyle>
          <a:p>
            <a:pPr/>
            <a:r>
              <a:t>23 pattern. Molti sono workaround.</a:t>
            </a:r>
          </a:p>
        </p:txBody>
      </p:sp>
      <p:sp>
        <p:nvSpPr>
          <p:cNvPr id="963" name="Google Shape;945;p77"/>
          <p:cNvSpPr txBox="1"/>
          <p:nvPr/>
        </p:nvSpPr>
        <p:spPr>
          <a:xfrm>
            <a:off x="914400" y="3204209"/>
            <a:ext cx="73152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800">
                <a:solidFill>
                  <a:srgbClr val="F97316"/>
                </a:solidFill>
                <a:latin typeface="Georgia"/>
                <a:ea typeface="Georgia"/>
                <a:cs typeface="Georgia"/>
                <a:sym typeface="Georgia"/>
              </a:defRPr>
            </a:lvl1pPr>
          </a:lstStyle>
          <a:p>
            <a:pPr/>
            <a:r>
              <a:t>La densità è un segnale.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63" grpId="2"/>
      <p:bldP build="whole" bldLvl="1" animBg="1" rev="0" advAuto="0" spid="962" grpId="1"/>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67" name="Google Shape;951;p7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68" name="Google Shape;952;p7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3</a:t>
            </a:r>
          </a:p>
        </p:txBody>
      </p:sp>
      <p:sp>
        <p:nvSpPr>
          <p:cNvPr id="969" name="Google Shape;953;p7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43 / 57</a:t>
            </a:r>
          </a:p>
        </p:txBody>
      </p:sp>
      <p:sp>
        <p:nvSpPr>
          <p:cNvPr id="970" name="Google Shape;954;p7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71" name="Google Shape;955;p78"/>
          <p:cNvSpPr/>
          <p:nvPr/>
        </p:nvSpPr>
        <p:spPr>
          <a:xfrm>
            <a:off x="457199" y="4983479"/>
            <a:ext cx="6208297" cy="36577"/>
          </a:xfrm>
          <a:prstGeom prst="rect">
            <a:avLst/>
          </a:prstGeom>
          <a:solidFill>
            <a:srgbClr val="F97316"/>
          </a:solidFill>
          <a:ln w="12700">
            <a:miter lim="400000"/>
          </a:ln>
        </p:spPr>
        <p:txBody>
          <a:bodyPr lIns="0" tIns="0" rIns="0" bIns="0" anchor="ctr"/>
          <a:lstStyle/>
          <a:p>
            <a:pPr/>
          </a:p>
        </p:txBody>
      </p:sp>
      <p:sp>
        <p:nvSpPr>
          <p:cNvPr id="972" name="Google Shape;956;p78"/>
          <p:cNvSpPr txBox="1"/>
          <p:nvPr/>
        </p:nvSpPr>
        <p:spPr>
          <a:xfrm>
            <a:off x="457200" y="345440"/>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Il punto</a:t>
            </a:r>
          </a:p>
        </p:txBody>
      </p:sp>
      <p:sp>
        <p:nvSpPr>
          <p:cNvPr id="973" name="Google Shape;957;p78"/>
          <p:cNvSpPr txBox="1"/>
          <p:nvPr/>
        </p:nvSpPr>
        <p:spPr>
          <a:xfrm>
            <a:off x="914400" y="1361134"/>
            <a:ext cx="7315200" cy="7524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700">
                <a:solidFill>
                  <a:srgbClr val="E5E7EB"/>
                </a:solidFill>
                <a:latin typeface="Calibri Light"/>
                <a:ea typeface="Calibri Light"/>
                <a:cs typeface="Calibri Light"/>
                <a:sym typeface="Calibri Light"/>
              </a:defRPr>
            </a:pPr>
            <a:r>
              <a:t>Un linguaggio maturo dovrebbe risolvere questi problemi</a:t>
            </a:r>
          </a:p>
          <a:p>
            <a:pPr algn="ctr">
              <a:defRPr sz="1700">
                <a:solidFill>
                  <a:srgbClr val="E5E7EB"/>
                </a:solidFill>
                <a:latin typeface="Calibri Light"/>
                <a:ea typeface="Calibri Light"/>
                <a:cs typeface="Calibri Light"/>
                <a:sym typeface="Calibri Light"/>
              </a:defRPr>
            </a:pPr>
            <a:r>
              <a:t>nel sistema dei tipi — non nella cultura.</a:t>
            </a:r>
          </a:p>
          <a:p>
            <a:pPr algn="ctr">
              <a:defRPr sz="1700">
                <a:solidFill>
                  <a:srgbClr val="E5E7EB"/>
                </a:solidFill>
                <a:latin typeface="Calibri Light"/>
                <a:ea typeface="Calibri Light"/>
                <a:cs typeface="Calibri Light"/>
                <a:sym typeface="Calibri Light"/>
              </a:defRPr>
            </a:pPr>
            <a:r>
              <a:t>Non in un libro di ricette.</a:t>
            </a:r>
          </a:p>
        </p:txBody>
      </p:sp>
      <p:sp>
        <p:nvSpPr>
          <p:cNvPr id="974" name="Google Shape;958;p78"/>
          <p:cNvSpPr/>
          <p:nvPr/>
        </p:nvSpPr>
        <p:spPr>
          <a:xfrm>
            <a:off x="1097279" y="2743200"/>
            <a:ext cx="6949442" cy="1097281"/>
          </a:xfrm>
          <a:prstGeom prst="rect">
            <a:avLst/>
          </a:prstGeom>
          <a:solidFill>
            <a:srgbClr val="1A1D2B"/>
          </a:solidFill>
          <a:ln w="12700">
            <a:miter lim="400000"/>
          </a:ln>
        </p:spPr>
        <p:txBody>
          <a:bodyPr lIns="0" tIns="0" rIns="0" bIns="0" anchor="ctr"/>
          <a:lstStyle/>
          <a:p>
            <a:pPr/>
          </a:p>
        </p:txBody>
      </p:sp>
      <p:sp>
        <p:nvSpPr>
          <p:cNvPr id="975" name="Google Shape;959;p78"/>
          <p:cNvSpPr/>
          <p:nvPr/>
        </p:nvSpPr>
        <p:spPr>
          <a:xfrm>
            <a:off x="1097280" y="2743200"/>
            <a:ext cx="54865" cy="1097281"/>
          </a:xfrm>
          <a:prstGeom prst="rect">
            <a:avLst/>
          </a:prstGeom>
          <a:solidFill>
            <a:srgbClr val="F97316"/>
          </a:solidFill>
          <a:ln w="12700">
            <a:miter lim="400000"/>
          </a:ln>
        </p:spPr>
        <p:txBody>
          <a:bodyPr lIns="0" tIns="0" rIns="0" bIns="0" anchor="ctr"/>
          <a:lstStyle/>
          <a:p>
            <a:pPr/>
          </a:p>
        </p:txBody>
      </p:sp>
      <p:sp>
        <p:nvSpPr>
          <p:cNvPr id="976" name="Google Shape;960;p78"/>
          <p:cNvSpPr txBox="1"/>
          <p:nvPr/>
        </p:nvSpPr>
        <p:spPr>
          <a:xfrm>
            <a:off x="1371600" y="3050540"/>
            <a:ext cx="640080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F97316"/>
                </a:solidFill>
                <a:latin typeface="Georgia"/>
                <a:ea typeface="Georgia"/>
                <a:cs typeface="Georgia"/>
                <a:sym typeface="Georgia"/>
              </a:defRPr>
            </a:pPr>
            <a:r>
              <a:t>I pattern sono soluzioni a problemi reali.</a:t>
            </a:r>
            <a:endParaRPr>
              <a:latin typeface="Calibri Light"/>
              <a:ea typeface="Calibri Light"/>
              <a:cs typeface="Calibri Light"/>
              <a:sym typeface="Calibri Light"/>
            </a:endParaRPr>
          </a:p>
          <a:p>
            <a:pPr>
              <a:defRPr sz="1600">
                <a:solidFill>
                  <a:srgbClr val="F97316"/>
                </a:solidFill>
                <a:latin typeface="Georgia"/>
                <a:ea typeface="Georgia"/>
                <a:cs typeface="Georgia"/>
                <a:sym typeface="Georgia"/>
              </a:defRPr>
            </a:pPr>
            <a:r>
              <a:t>Ma alcuni di quei problemi sono stati creati dal paradigma stesso.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7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975"/>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9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75" grpId="2"/>
      <p:bldP build="whole" bldLvl="1" animBg="1" rev="0" advAuto="0" spid="974" grpId="1"/>
      <p:bldP build="whole" bldLvl="1" animBg="1" rev="0" advAuto="0" spid="976" grpId="3"/>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80" name="Google Shape;966;p7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81" name="Google Shape;967;p7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982" name="Google Shape;968;p7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44 / 57</a:t>
            </a:r>
          </a:p>
        </p:txBody>
      </p:sp>
      <p:sp>
        <p:nvSpPr>
          <p:cNvPr id="983" name="Google Shape;969;p7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84" name="Google Shape;970;p79"/>
          <p:cNvSpPr/>
          <p:nvPr/>
        </p:nvSpPr>
        <p:spPr>
          <a:xfrm>
            <a:off x="457199" y="4983479"/>
            <a:ext cx="6352676" cy="36577"/>
          </a:xfrm>
          <a:prstGeom prst="rect">
            <a:avLst/>
          </a:prstGeom>
          <a:solidFill>
            <a:srgbClr val="F97316"/>
          </a:solidFill>
          <a:ln w="12700">
            <a:miter lim="400000"/>
          </a:ln>
        </p:spPr>
        <p:txBody>
          <a:bodyPr lIns="0" tIns="0" rIns="0" bIns="0" anchor="ctr"/>
          <a:lstStyle/>
          <a:p>
            <a:pPr/>
          </a:p>
        </p:txBody>
      </p:sp>
      <p:sp>
        <p:nvSpPr>
          <p:cNvPr id="985" name="Google Shape;971;p79"/>
          <p:cNvSpPr txBox="1"/>
          <p:nvPr/>
        </p:nvSpPr>
        <p:spPr>
          <a:xfrm>
            <a:off x="457200" y="1374139"/>
            <a:ext cx="8229600"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3800">
                <a:solidFill>
                  <a:srgbClr val="FFFFFF"/>
                </a:solidFill>
                <a:latin typeface="Georgia"/>
                <a:ea typeface="Georgia"/>
                <a:cs typeface="Georgia"/>
                <a:sym typeface="Georgia"/>
              </a:defRPr>
            </a:pPr>
            <a:r>
              <a:t>Cosa hanno fatto</a:t>
            </a:r>
            <a:endParaRPr b="0">
              <a:latin typeface="Calibri Light"/>
              <a:ea typeface="Calibri Light"/>
              <a:cs typeface="Calibri Light"/>
              <a:sym typeface="Calibri Light"/>
            </a:endParaRPr>
          </a:p>
          <a:p>
            <a:pPr algn="ctr">
              <a:defRPr b="1" sz="3800">
                <a:solidFill>
                  <a:srgbClr val="FFFFFF"/>
                </a:solidFill>
                <a:latin typeface="Georgia"/>
                <a:ea typeface="Georgia"/>
                <a:cs typeface="Georgia"/>
                <a:sym typeface="Georgia"/>
              </a:defRPr>
            </a:pPr>
            <a:r>
              <a:t>i linguaggi moderni</a:t>
            </a:r>
          </a:p>
        </p:txBody>
      </p:sp>
      <p:sp>
        <p:nvSpPr>
          <p:cNvPr id="986" name="Google Shape;972;p79"/>
          <p:cNvSpPr txBox="1"/>
          <p:nvPr/>
        </p:nvSpPr>
        <p:spPr>
          <a:xfrm>
            <a:off x="914400" y="3030309"/>
            <a:ext cx="731520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22C55E"/>
                </a:solidFill>
                <a:latin typeface="Calibri Light"/>
                <a:ea typeface="Calibri Light"/>
                <a:cs typeface="Calibri Light"/>
                <a:sym typeface="Calibri Light"/>
              </a:defRPr>
            </a:lvl1pPr>
          </a:lstStyle>
          <a:p>
            <a:pPr/>
            <a:r>
              <a:t>Le idee sono portabili.</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990" name="Google Shape;978;p8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991" name="Google Shape;979;p8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992" name="Google Shape;980;p8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45 / 57</a:t>
            </a:r>
          </a:p>
        </p:txBody>
      </p:sp>
      <p:sp>
        <p:nvSpPr>
          <p:cNvPr id="993" name="Google Shape;981;p8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994" name="Google Shape;982;p80"/>
          <p:cNvSpPr/>
          <p:nvPr/>
        </p:nvSpPr>
        <p:spPr>
          <a:xfrm>
            <a:off x="457200" y="4983479"/>
            <a:ext cx="6497054" cy="36577"/>
          </a:xfrm>
          <a:prstGeom prst="rect">
            <a:avLst/>
          </a:prstGeom>
          <a:solidFill>
            <a:srgbClr val="F97316"/>
          </a:solidFill>
          <a:ln w="12700">
            <a:miter lim="400000"/>
          </a:ln>
        </p:spPr>
        <p:txBody>
          <a:bodyPr lIns="0" tIns="0" rIns="0" bIns="0" anchor="ctr"/>
          <a:lstStyle/>
          <a:p>
            <a:pPr/>
          </a:p>
        </p:txBody>
      </p:sp>
      <p:sp>
        <p:nvSpPr>
          <p:cNvPr id="995" name="Google Shape;983;p80"/>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Option&lt;T&gt;: null è un tipo</a:t>
            </a:r>
          </a:p>
        </p:txBody>
      </p:sp>
      <p:sp>
        <p:nvSpPr>
          <p:cNvPr id="996" name="Google Shape;984;p80"/>
          <p:cNvSpPr/>
          <p:nvPr/>
        </p:nvSpPr>
        <p:spPr>
          <a:xfrm>
            <a:off x="731519" y="1097280"/>
            <a:ext cx="3657601" cy="2286001"/>
          </a:xfrm>
          <a:prstGeom prst="rect">
            <a:avLst/>
          </a:prstGeom>
          <a:solidFill>
            <a:srgbClr val="1A1D2B"/>
          </a:solidFill>
          <a:ln w="12700">
            <a:miter lim="400000"/>
          </a:ln>
        </p:spPr>
        <p:txBody>
          <a:bodyPr lIns="0" tIns="0" rIns="0" bIns="0" anchor="ctr"/>
          <a:lstStyle/>
          <a:p>
            <a:pPr/>
          </a:p>
        </p:txBody>
      </p:sp>
      <p:sp>
        <p:nvSpPr>
          <p:cNvPr id="997" name="Google Shape;985;p80"/>
          <p:cNvSpPr/>
          <p:nvPr/>
        </p:nvSpPr>
        <p:spPr>
          <a:xfrm>
            <a:off x="731519" y="1097280"/>
            <a:ext cx="3657601" cy="45721"/>
          </a:xfrm>
          <a:prstGeom prst="rect">
            <a:avLst/>
          </a:prstGeom>
          <a:solidFill>
            <a:srgbClr val="EF4444"/>
          </a:solidFill>
          <a:ln w="12700">
            <a:miter lim="400000"/>
          </a:ln>
        </p:spPr>
        <p:txBody>
          <a:bodyPr lIns="0" tIns="0" rIns="0" bIns="0" anchor="ctr"/>
          <a:lstStyle/>
          <a:p>
            <a:pPr/>
          </a:p>
        </p:txBody>
      </p:sp>
      <p:sp>
        <p:nvSpPr>
          <p:cNvPr id="998" name="Google Shape;986;p80"/>
          <p:cNvSpPr txBox="1"/>
          <p:nvPr/>
        </p:nvSpPr>
        <p:spPr>
          <a:xfrm>
            <a:off x="1005839" y="132842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F4444"/>
                </a:solidFill>
                <a:latin typeface="Consolas"/>
                <a:ea typeface="Consolas"/>
                <a:cs typeface="Consolas"/>
                <a:sym typeface="Consolas"/>
              </a:defRPr>
            </a:lvl1pPr>
          </a:lstStyle>
          <a:p>
            <a:pPr/>
            <a:r>
              <a:t>Java</a:t>
            </a:r>
          </a:p>
        </p:txBody>
      </p:sp>
      <p:sp>
        <p:nvSpPr>
          <p:cNvPr id="999" name="Google Shape;987;p80"/>
          <p:cNvSpPr txBox="1"/>
          <p:nvPr/>
        </p:nvSpPr>
        <p:spPr>
          <a:xfrm>
            <a:off x="1005839" y="1864360"/>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5E7EB"/>
                </a:solidFill>
                <a:latin typeface="Consolas"/>
                <a:ea typeface="Consolas"/>
                <a:cs typeface="Consolas"/>
                <a:sym typeface="Consolas"/>
              </a:defRPr>
            </a:lvl1pPr>
          </a:lstStyle>
          <a:p>
            <a:pPr/>
            <a:r>
              <a:t>User getUser(String id)</a:t>
            </a:r>
          </a:p>
        </p:txBody>
      </p:sp>
      <p:sp>
        <p:nvSpPr>
          <p:cNvPr id="1000" name="Google Shape;988;p80"/>
          <p:cNvSpPr txBox="1"/>
          <p:nvPr/>
        </p:nvSpPr>
        <p:spPr>
          <a:xfrm>
            <a:off x="1005839" y="2386637"/>
            <a:ext cx="320040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6B7280"/>
                </a:solidFill>
                <a:latin typeface="Calibri Light"/>
                <a:ea typeface="Calibri Light"/>
                <a:cs typeface="Calibri Light"/>
                <a:sym typeface="Calibri Light"/>
              </a:defRPr>
            </a:pPr>
            <a:r>
              <a:t>Può restituire null.</a:t>
            </a:r>
          </a:p>
          <a:p>
            <a:pPr>
              <a:defRPr sz="1200">
                <a:solidFill>
                  <a:srgbClr val="6B7280"/>
                </a:solidFill>
                <a:latin typeface="Calibri Light"/>
                <a:ea typeface="Calibri Light"/>
                <a:cs typeface="Calibri Light"/>
                <a:sym typeface="Calibri Light"/>
              </a:defRPr>
            </a:pPr>
            <a:r>
              <a:t>Il tipo non lo dice.</a:t>
            </a:r>
          </a:p>
        </p:txBody>
      </p:sp>
      <p:sp>
        <p:nvSpPr>
          <p:cNvPr id="1001" name="Google Shape;989;p80"/>
          <p:cNvSpPr/>
          <p:nvPr/>
        </p:nvSpPr>
        <p:spPr>
          <a:xfrm>
            <a:off x="4754879" y="1097280"/>
            <a:ext cx="3657601" cy="2286001"/>
          </a:xfrm>
          <a:prstGeom prst="rect">
            <a:avLst/>
          </a:prstGeom>
          <a:solidFill>
            <a:srgbClr val="1A1D2B"/>
          </a:solidFill>
          <a:ln w="12700">
            <a:miter lim="400000"/>
          </a:ln>
        </p:spPr>
        <p:txBody>
          <a:bodyPr lIns="0" tIns="0" rIns="0" bIns="0" anchor="ctr"/>
          <a:lstStyle/>
          <a:p>
            <a:pPr/>
          </a:p>
        </p:txBody>
      </p:sp>
      <p:sp>
        <p:nvSpPr>
          <p:cNvPr id="1002" name="Google Shape;990;p80"/>
          <p:cNvSpPr/>
          <p:nvPr/>
        </p:nvSpPr>
        <p:spPr>
          <a:xfrm>
            <a:off x="4754879" y="1097280"/>
            <a:ext cx="3657601" cy="45721"/>
          </a:xfrm>
          <a:prstGeom prst="rect">
            <a:avLst/>
          </a:prstGeom>
          <a:solidFill>
            <a:srgbClr val="22C55E"/>
          </a:solidFill>
          <a:ln w="12700">
            <a:miter lim="400000"/>
          </a:ln>
        </p:spPr>
        <p:txBody>
          <a:bodyPr lIns="0" tIns="0" rIns="0" bIns="0" anchor="ctr"/>
          <a:lstStyle/>
          <a:p>
            <a:pPr/>
          </a:p>
        </p:txBody>
      </p:sp>
      <p:sp>
        <p:nvSpPr>
          <p:cNvPr id="1003" name="Google Shape;991;p80"/>
          <p:cNvSpPr txBox="1"/>
          <p:nvPr/>
        </p:nvSpPr>
        <p:spPr>
          <a:xfrm>
            <a:off x="5029200" y="132842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Rust</a:t>
            </a:r>
          </a:p>
        </p:txBody>
      </p:sp>
      <p:sp>
        <p:nvSpPr>
          <p:cNvPr id="1004" name="Google Shape;992;p80"/>
          <p:cNvSpPr txBox="1"/>
          <p:nvPr/>
        </p:nvSpPr>
        <p:spPr>
          <a:xfrm>
            <a:off x="5029200" y="1864360"/>
            <a:ext cx="32004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5E7EB"/>
                </a:solidFill>
                <a:latin typeface="Consolas"/>
                <a:ea typeface="Consolas"/>
                <a:cs typeface="Consolas"/>
                <a:sym typeface="Consolas"/>
              </a:defRPr>
            </a:lvl1pPr>
          </a:lstStyle>
          <a:p>
            <a:pPr/>
            <a:r>
              <a:t>fn get_user() -&gt; Option&lt;User&gt;</a:t>
            </a:r>
          </a:p>
        </p:txBody>
      </p:sp>
      <p:sp>
        <p:nvSpPr>
          <p:cNvPr id="1005" name="Google Shape;993;p80"/>
          <p:cNvSpPr txBox="1"/>
          <p:nvPr/>
        </p:nvSpPr>
        <p:spPr>
          <a:xfrm>
            <a:off x="5029200" y="2386637"/>
            <a:ext cx="320040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6B7280"/>
                </a:solidFill>
                <a:latin typeface="Calibri Light"/>
                <a:ea typeface="Calibri Light"/>
                <a:cs typeface="Calibri Light"/>
                <a:sym typeface="Calibri Light"/>
              </a:defRPr>
            </a:pPr>
            <a:r>
              <a:t>L'assenza è nel tipo.</a:t>
            </a:r>
          </a:p>
          <a:p>
            <a:pPr>
              <a:defRPr sz="1200">
                <a:solidFill>
                  <a:srgbClr val="6B7280"/>
                </a:solidFill>
                <a:latin typeface="Calibri Light"/>
                <a:ea typeface="Calibri Light"/>
                <a:cs typeface="Calibri Light"/>
                <a:sym typeface="Calibri Light"/>
              </a:defRPr>
            </a:pPr>
            <a:r>
              <a:t>Il compilatore controlla.</a:t>
            </a:r>
          </a:p>
        </p:txBody>
      </p:sp>
      <p:sp>
        <p:nvSpPr>
          <p:cNvPr id="1006" name="Google Shape;994;p80"/>
          <p:cNvSpPr txBox="1"/>
          <p:nvPr/>
        </p:nvSpPr>
        <p:spPr>
          <a:xfrm>
            <a:off x="731519" y="397580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22C55E"/>
                </a:solidFill>
                <a:latin typeface="Calibri Light"/>
                <a:ea typeface="Calibri Light"/>
                <a:cs typeface="Calibri Light"/>
                <a:sym typeface="Calibri Light"/>
              </a:defRPr>
            </a:lvl1pPr>
          </a:lstStyle>
          <a:p>
            <a:pPr/>
            <a:r>
              <a:t>Non puoi ignorare il caso "non c'è". Non per disciplina — per costruzione.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01"/>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002"/>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003"/>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004"/>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10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1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02" grpId="2"/>
      <p:bldP build="whole" bldLvl="1" animBg="1" rev="0" advAuto="0" spid="1006" grpId="6"/>
      <p:bldP build="whole" bldLvl="1" animBg="1" rev="0" advAuto="0" spid="1003" grpId="3"/>
      <p:bldP build="whole" bldLvl="1" animBg="1" rev="0" advAuto="0" spid="1001" grpId="1"/>
      <p:bldP build="whole" bldLvl="1" animBg="1" rev="0" advAuto="0" spid="1004" grpId="4"/>
      <p:bldP build="whole" bldLvl="1" animBg="1" rev="0" advAuto="0" spid="1005" grpId="5"/>
    </p:bld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10" name="Google Shape;1000;p8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11" name="Google Shape;1001;p8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12" name="Google Shape;1002;p8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46 / 57</a:t>
            </a:r>
          </a:p>
        </p:txBody>
      </p:sp>
      <p:sp>
        <p:nvSpPr>
          <p:cNvPr id="1013" name="Google Shape;1003;p8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014" name="Google Shape;1004;p81"/>
          <p:cNvSpPr/>
          <p:nvPr/>
        </p:nvSpPr>
        <p:spPr>
          <a:xfrm>
            <a:off x="457200" y="4983479"/>
            <a:ext cx="6641432" cy="36577"/>
          </a:xfrm>
          <a:prstGeom prst="rect">
            <a:avLst/>
          </a:prstGeom>
          <a:solidFill>
            <a:srgbClr val="F97316"/>
          </a:solidFill>
          <a:ln w="12700">
            <a:miter lim="400000"/>
          </a:ln>
        </p:spPr>
        <p:txBody>
          <a:bodyPr lIns="0" tIns="0" rIns="0" bIns="0" anchor="ctr"/>
          <a:lstStyle/>
          <a:p>
            <a:pPr/>
          </a:p>
        </p:txBody>
      </p:sp>
      <p:sp>
        <p:nvSpPr>
          <p:cNvPr id="1015" name="Google Shape;1005;p81"/>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Result&lt;T, E&gt;: gli errori sono valori</a:t>
            </a:r>
          </a:p>
        </p:txBody>
      </p:sp>
      <p:sp>
        <p:nvSpPr>
          <p:cNvPr id="1016" name="Google Shape;1006;p81"/>
          <p:cNvSpPr/>
          <p:nvPr/>
        </p:nvSpPr>
        <p:spPr>
          <a:xfrm>
            <a:off x="731519" y="1097280"/>
            <a:ext cx="3657601" cy="2286001"/>
          </a:xfrm>
          <a:prstGeom prst="rect">
            <a:avLst/>
          </a:prstGeom>
          <a:solidFill>
            <a:srgbClr val="1A1D2B"/>
          </a:solidFill>
          <a:ln w="12700">
            <a:miter lim="400000"/>
          </a:ln>
        </p:spPr>
        <p:txBody>
          <a:bodyPr lIns="0" tIns="0" rIns="0" bIns="0" anchor="ctr"/>
          <a:lstStyle/>
          <a:p>
            <a:pPr/>
          </a:p>
        </p:txBody>
      </p:sp>
      <p:sp>
        <p:nvSpPr>
          <p:cNvPr id="1017" name="Google Shape;1007;p81"/>
          <p:cNvSpPr/>
          <p:nvPr/>
        </p:nvSpPr>
        <p:spPr>
          <a:xfrm>
            <a:off x="731519" y="1097280"/>
            <a:ext cx="3657601" cy="45721"/>
          </a:xfrm>
          <a:prstGeom prst="rect">
            <a:avLst/>
          </a:prstGeom>
          <a:solidFill>
            <a:srgbClr val="EF4444"/>
          </a:solidFill>
          <a:ln w="12700">
            <a:miter lim="400000"/>
          </a:ln>
        </p:spPr>
        <p:txBody>
          <a:bodyPr lIns="0" tIns="0" rIns="0" bIns="0" anchor="ctr"/>
          <a:lstStyle/>
          <a:p>
            <a:pPr/>
          </a:p>
        </p:txBody>
      </p:sp>
      <p:sp>
        <p:nvSpPr>
          <p:cNvPr id="1018" name="Google Shape;1008;p81"/>
          <p:cNvSpPr txBox="1"/>
          <p:nvPr/>
        </p:nvSpPr>
        <p:spPr>
          <a:xfrm>
            <a:off x="1005839" y="132842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F4444"/>
                </a:solidFill>
                <a:latin typeface="Consolas"/>
                <a:ea typeface="Consolas"/>
                <a:cs typeface="Consolas"/>
                <a:sym typeface="Consolas"/>
              </a:defRPr>
            </a:lvl1pPr>
          </a:lstStyle>
          <a:p>
            <a:pPr/>
            <a:r>
              <a:t>Java</a:t>
            </a:r>
          </a:p>
        </p:txBody>
      </p:sp>
      <p:sp>
        <p:nvSpPr>
          <p:cNvPr id="1019" name="Google Shape;1009;p81"/>
          <p:cNvSpPr txBox="1"/>
          <p:nvPr/>
        </p:nvSpPr>
        <p:spPr>
          <a:xfrm>
            <a:off x="1005839" y="1862259"/>
            <a:ext cx="320040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9CA3AF"/>
                </a:solidFill>
                <a:latin typeface="Calibri Light"/>
                <a:ea typeface="Calibri Light"/>
                <a:cs typeface="Calibri Light"/>
                <a:sym typeface="Calibri Light"/>
              </a:defRPr>
            </a:pPr>
            <a:r>
              <a:t>Lancia eccezioni.</a:t>
            </a:r>
          </a:p>
          <a:p>
            <a:pPr>
              <a:defRPr sz="1300">
                <a:solidFill>
                  <a:srgbClr val="9CA3AF"/>
                </a:solidFill>
                <a:latin typeface="Calibri Light"/>
                <a:ea typeface="Calibri Light"/>
                <a:cs typeface="Calibri Light"/>
                <a:sym typeface="Calibri Light"/>
              </a:defRPr>
            </a:pPr>
            <a:r>
              <a:t>O restituisce null.</a:t>
            </a:r>
          </a:p>
          <a:p>
            <a:pPr>
              <a:defRPr sz="1300">
                <a:solidFill>
                  <a:srgbClr val="9CA3AF"/>
                </a:solidFill>
                <a:latin typeface="Calibri Light"/>
                <a:ea typeface="Calibri Light"/>
                <a:cs typeface="Calibri Light"/>
                <a:sym typeface="Calibri Light"/>
              </a:defRPr>
            </a:pPr>
            <a:r>
              <a:t>O parametro di output.</a:t>
            </a:r>
          </a:p>
        </p:txBody>
      </p:sp>
      <p:sp>
        <p:nvSpPr>
          <p:cNvPr id="1020" name="Google Shape;1010;p81"/>
          <p:cNvSpPr/>
          <p:nvPr/>
        </p:nvSpPr>
        <p:spPr>
          <a:xfrm>
            <a:off x="4754879" y="1097280"/>
            <a:ext cx="3657601" cy="2286001"/>
          </a:xfrm>
          <a:prstGeom prst="rect">
            <a:avLst/>
          </a:prstGeom>
          <a:solidFill>
            <a:srgbClr val="1A1D2B"/>
          </a:solidFill>
          <a:ln w="12700">
            <a:miter lim="400000"/>
          </a:ln>
        </p:spPr>
        <p:txBody>
          <a:bodyPr lIns="0" tIns="0" rIns="0" bIns="0" anchor="ctr"/>
          <a:lstStyle/>
          <a:p>
            <a:pPr/>
          </a:p>
        </p:txBody>
      </p:sp>
      <p:sp>
        <p:nvSpPr>
          <p:cNvPr id="1021" name="Google Shape;1011;p81"/>
          <p:cNvSpPr/>
          <p:nvPr/>
        </p:nvSpPr>
        <p:spPr>
          <a:xfrm>
            <a:off x="4754879" y="1097280"/>
            <a:ext cx="3657601" cy="45721"/>
          </a:xfrm>
          <a:prstGeom prst="rect">
            <a:avLst/>
          </a:prstGeom>
          <a:solidFill>
            <a:srgbClr val="22C55E"/>
          </a:solidFill>
          <a:ln w="12700">
            <a:miter lim="400000"/>
          </a:ln>
        </p:spPr>
        <p:txBody>
          <a:bodyPr lIns="0" tIns="0" rIns="0" bIns="0" anchor="ctr"/>
          <a:lstStyle/>
          <a:p>
            <a:pPr/>
          </a:p>
        </p:txBody>
      </p:sp>
      <p:sp>
        <p:nvSpPr>
          <p:cNvPr id="1022" name="Google Shape;1012;p81"/>
          <p:cNvSpPr txBox="1"/>
          <p:nvPr/>
        </p:nvSpPr>
        <p:spPr>
          <a:xfrm>
            <a:off x="5029200" y="132842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Rust</a:t>
            </a:r>
          </a:p>
        </p:txBody>
      </p:sp>
      <p:sp>
        <p:nvSpPr>
          <p:cNvPr id="1023" name="Google Shape;1013;p81"/>
          <p:cNvSpPr txBox="1"/>
          <p:nvPr/>
        </p:nvSpPr>
        <p:spPr>
          <a:xfrm>
            <a:off x="5029200" y="187706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5E7EB"/>
                </a:solidFill>
                <a:latin typeface="Consolas"/>
                <a:ea typeface="Consolas"/>
                <a:cs typeface="Consolas"/>
                <a:sym typeface="Consolas"/>
              </a:defRPr>
            </a:lvl1pPr>
          </a:lstStyle>
          <a:p>
            <a:pPr/>
            <a:r>
              <a:t>Result&lt;Receipt, PaymentError&gt;</a:t>
            </a:r>
          </a:p>
        </p:txBody>
      </p:sp>
      <p:sp>
        <p:nvSpPr>
          <p:cNvPr id="1024" name="Google Shape;1014;p81"/>
          <p:cNvSpPr txBox="1"/>
          <p:nvPr/>
        </p:nvSpPr>
        <p:spPr>
          <a:xfrm>
            <a:off x="5029200" y="2386637"/>
            <a:ext cx="320040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6B7280"/>
                </a:solidFill>
                <a:latin typeface="Calibri Light"/>
                <a:ea typeface="Calibri Light"/>
                <a:cs typeface="Calibri Light"/>
                <a:sym typeface="Calibri Light"/>
              </a:defRPr>
            </a:pPr>
            <a:r>
              <a:t>Successo o fallimento.</a:t>
            </a:r>
          </a:p>
          <a:p>
            <a:pPr>
              <a:defRPr sz="1200">
                <a:solidFill>
                  <a:srgbClr val="6B7280"/>
                </a:solidFill>
                <a:latin typeface="Calibri Light"/>
                <a:ea typeface="Calibri Light"/>
                <a:cs typeface="Calibri Light"/>
                <a:sym typeface="Calibri Light"/>
              </a:defRPr>
            </a:pPr>
            <a:r>
              <a:t>Nel tipo. Obbligatorio.</a:t>
            </a:r>
          </a:p>
        </p:txBody>
      </p:sp>
      <p:sp>
        <p:nvSpPr>
          <p:cNvPr id="1025" name="Google Shape;1015;p81"/>
          <p:cNvSpPr/>
          <p:nvPr/>
        </p:nvSpPr>
        <p:spPr>
          <a:xfrm>
            <a:off x="914400" y="3657600"/>
            <a:ext cx="7315200" cy="822961"/>
          </a:xfrm>
          <a:prstGeom prst="rect">
            <a:avLst/>
          </a:prstGeom>
          <a:solidFill>
            <a:srgbClr val="1A1D2B"/>
          </a:solidFill>
          <a:ln w="12700">
            <a:miter lim="400000"/>
          </a:ln>
        </p:spPr>
        <p:txBody>
          <a:bodyPr lIns="0" tIns="0" rIns="0" bIns="0" anchor="ctr"/>
          <a:lstStyle/>
          <a:p>
            <a:pPr/>
          </a:p>
        </p:txBody>
      </p:sp>
      <p:sp>
        <p:nvSpPr>
          <p:cNvPr id="1026" name="Google Shape;1016;p81"/>
          <p:cNvSpPr/>
          <p:nvPr/>
        </p:nvSpPr>
        <p:spPr>
          <a:xfrm>
            <a:off x="914400" y="3657600"/>
            <a:ext cx="54864" cy="822961"/>
          </a:xfrm>
          <a:prstGeom prst="rect">
            <a:avLst/>
          </a:prstGeom>
          <a:solidFill>
            <a:srgbClr val="22C55E"/>
          </a:solidFill>
          <a:ln w="12700">
            <a:miter lim="400000"/>
          </a:ln>
        </p:spPr>
        <p:txBody>
          <a:bodyPr lIns="0" tIns="0" rIns="0" bIns="0" anchor="ctr"/>
          <a:lstStyle/>
          <a:p>
            <a:pPr/>
          </a:p>
        </p:txBody>
      </p:sp>
      <p:sp>
        <p:nvSpPr>
          <p:cNvPr id="1027" name="Google Shape;1017;p81"/>
          <p:cNvSpPr txBox="1"/>
          <p:nvPr/>
        </p:nvSpPr>
        <p:spPr>
          <a:xfrm>
            <a:off x="1188719" y="3930081"/>
            <a:ext cx="6858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2C55E"/>
                </a:solidFill>
                <a:latin typeface="Calibri Light"/>
                <a:ea typeface="Calibri Light"/>
                <a:cs typeface="Calibri Light"/>
                <a:sym typeface="Calibri Light"/>
              </a:defRPr>
            </a:lvl1pPr>
          </a:lstStyle>
          <a:p>
            <a:pPr/>
            <a:r>
              <a:t>Gli errori sono valori. Non salti invisibili nel control flow.</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2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02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022"/>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023"/>
                                        </p:tgtEl>
                                        <p:attrNameLst>
                                          <p:attrName>style.visibility</p:attrName>
                                        </p:attrNameLst>
                                      </p:cBhvr>
                                      <p:to>
                                        <p:strVal val="visible"/>
                                      </p:to>
                                    </p:set>
                                  </p:childTnLst>
                                </p:cTn>
                              </p:par>
                            </p:childTnLst>
                          </p:cTn>
                        </p:par>
                        <p:par>
                          <p:cTn id="16" fill="hold">
                            <p:stCondLst>
                              <p:cond delay="0"/>
                            </p:stCondLst>
                            <p:childTnLst>
                              <p:par>
                                <p:cTn id="17" presetClass="entr" nodeType="afterEffect" presetSubtype="0" presetID="1" grpId="5" fill="hold">
                                  <p:stCondLst>
                                    <p:cond delay="0"/>
                                  </p:stCondLst>
                                  <p:iterate type="el" backwards="0">
                                    <p:tmAbs val="0"/>
                                  </p:iterate>
                                  <p:childTnLst>
                                    <p:set>
                                      <p:cBhvr>
                                        <p:cTn id="18" fill="hold"/>
                                        <p:tgtEl>
                                          <p:spTgt spid="10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1025"/>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1026"/>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10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21" grpId="2"/>
      <p:bldP build="whole" bldLvl="1" animBg="1" rev="0" advAuto="0" spid="1026" grpId="7"/>
      <p:bldP build="whole" bldLvl="1" animBg="1" rev="0" advAuto="0" spid="1023" grpId="4"/>
      <p:bldP build="whole" bldLvl="1" animBg="1" rev="0" advAuto="0" spid="1022" grpId="3"/>
      <p:bldP build="whole" bldLvl="1" animBg="1" rev="0" advAuto="0" spid="1027" grpId="8"/>
      <p:bldP build="whole" bldLvl="1" animBg="1" rev="0" advAuto="0" spid="1025" grpId="6"/>
      <p:bldP build="whole" bldLvl="1" animBg="1" rev="0" advAuto="0" spid="1020" grpId="1"/>
      <p:bldP build="whole" bldLvl="1" animBg="1" rev="0" advAuto="0" spid="1024" grpId="5"/>
    </p:bldLst>
  </p:timing>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29" name="Google Shape;1023;p82"/>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30" name="Google Shape;1024;p82"/>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31" name="Google Shape;1025;p82"/>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47 / 57</a:t>
            </a:r>
          </a:p>
        </p:txBody>
      </p:sp>
      <p:sp>
        <p:nvSpPr>
          <p:cNvPr id="1032" name="Google Shape;1026;p82"/>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033" name="Google Shape;1027;p82"/>
          <p:cNvSpPr/>
          <p:nvPr/>
        </p:nvSpPr>
        <p:spPr>
          <a:xfrm>
            <a:off x="457199" y="4983479"/>
            <a:ext cx="6785813" cy="36577"/>
          </a:xfrm>
          <a:prstGeom prst="rect">
            <a:avLst/>
          </a:prstGeom>
          <a:solidFill>
            <a:srgbClr val="F97316"/>
          </a:solidFill>
          <a:ln w="12700">
            <a:miter lim="400000"/>
          </a:ln>
        </p:spPr>
        <p:txBody>
          <a:bodyPr lIns="0" tIns="0" rIns="0" bIns="0" anchor="ctr"/>
          <a:lstStyle/>
          <a:p>
            <a:pPr/>
          </a:p>
        </p:txBody>
      </p:sp>
      <p:sp>
        <p:nvSpPr>
          <p:cNvPr id="1034" name="Google Shape;1028;p82"/>
          <p:cNvSpPr txBox="1"/>
          <p:nvPr/>
        </p:nvSpPr>
        <p:spPr>
          <a:xfrm>
            <a:off x="457200" y="389890"/>
            <a:ext cx="822960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FFFFF"/>
                </a:solidFill>
                <a:latin typeface="Georgia"/>
                <a:ea typeface="Georgia"/>
                <a:cs typeface="Georgia"/>
                <a:sym typeface="Georgia"/>
              </a:defRPr>
            </a:lvl1pPr>
          </a:lstStyle>
          <a:p>
            <a:pPr/>
            <a:r>
              <a:t>Ownership: chi possiede cosa è nel tipo</a:t>
            </a:r>
          </a:p>
        </p:txBody>
      </p:sp>
      <p:sp>
        <p:nvSpPr>
          <p:cNvPr id="1035" name="Google Shape;1029;p82"/>
          <p:cNvSpPr/>
          <p:nvPr/>
        </p:nvSpPr>
        <p:spPr>
          <a:xfrm>
            <a:off x="914400" y="1097280"/>
            <a:ext cx="7315200" cy="1828801"/>
          </a:xfrm>
          <a:prstGeom prst="rect">
            <a:avLst/>
          </a:prstGeom>
          <a:solidFill>
            <a:srgbClr val="12141F"/>
          </a:solidFill>
          <a:ln w="12700">
            <a:miter lim="400000"/>
          </a:ln>
        </p:spPr>
        <p:txBody>
          <a:bodyPr lIns="0" tIns="0" rIns="0" bIns="0" anchor="ctr"/>
          <a:lstStyle/>
          <a:p>
            <a:pPr/>
          </a:p>
        </p:txBody>
      </p:sp>
      <p:sp>
        <p:nvSpPr>
          <p:cNvPr id="1036" name="Google Shape;1030;p82"/>
          <p:cNvSpPr/>
          <p:nvPr/>
        </p:nvSpPr>
        <p:spPr>
          <a:xfrm>
            <a:off x="914400" y="1097280"/>
            <a:ext cx="7315200" cy="45721"/>
          </a:xfrm>
          <a:prstGeom prst="rect">
            <a:avLst/>
          </a:prstGeom>
          <a:solidFill>
            <a:srgbClr val="22C55E"/>
          </a:solidFill>
          <a:ln w="12700">
            <a:miter lim="400000"/>
          </a:ln>
        </p:spPr>
        <p:txBody>
          <a:bodyPr lIns="0" tIns="0" rIns="0" bIns="0" anchor="ctr"/>
          <a:lstStyle/>
          <a:p>
            <a:pPr/>
          </a:p>
        </p:txBody>
      </p:sp>
      <p:sp>
        <p:nvSpPr>
          <p:cNvPr id="1037" name="Google Shape;1031;p82"/>
          <p:cNvSpPr txBox="1"/>
          <p:nvPr/>
        </p:nvSpPr>
        <p:spPr>
          <a:xfrm>
            <a:off x="1188719" y="1623060"/>
            <a:ext cx="6858001"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3B82F6"/>
                </a:solidFill>
                <a:latin typeface="Consolas"/>
                <a:ea typeface="Consolas"/>
                <a:cs typeface="Consolas"/>
                <a:sym typeface="Consolas"/>
              </a:defRPr>
            </a:pPr>
            <a:r>
              <a:t>let </a:t>
            </a:r>
            <a:r>
              <a:rPr>
                <a:solidFill>
                  <a:srgbClr val="E5E7EB"/>
                </a:solidFill>
              </a:rPr>
              <a:t>user = User::new();</a:t>
            </a:r>
            <a:endParaRPr>
              <a:latin typeface="Calibri Light"/>
              <a:ea typeface="Calibri Light"/>
              <a:cs typeface="Calibri Light"/>
              <a:sym typeface="Calibri Light"/>
            </a:endParaRPr>
          </a:p>
          <a:p>
            <a:pPr>
              <a:defRPr sz="1500">
                <a:solidFill>
                  <a:srgbClr val="22C55E"/>
                </a:solidFill>
                <a:latin typeface="Consolas"/>
                <a:ea typeface="Consolas"/>
                <a:cs typeface="Consolas"/>
                <a:sym typeface="Consolas"/>
              </a:defRPr>
            </a:pPr>
            <a:r>
              <a:t>process(user);       </a:t>
            </a:r>
            <a:r>
              <a:rPr>
                <a:solidFill>
                  <a:srgbClr val="6B7280"/>
                </a:solidFill>
              </a:rPr>
              <a:t>// ownership trasferito</a:t>
            </a:r>
            <a:endParaRPr>
              <a:latin typeface="Calibri Light"/>
              <a:ea typeface="Calibri Light"/>
              <a:cs typeface="Calibri Light"/>
              <a:sym typeface="Calibri Light"/>
            </a:endParaRPr>
          </a:p>
          <a:p>
            <a:pPr>
              <a:defRPr sz="1500">
                <a:solidFill>
                  <a:srgbClr val="EF4444"/>
                </a:solidFill>
                <a:latin typeface="Consolas"/>
                <a:ea typeface="Consolas"/>
                <a:cs typeface="Consolas"/>
                <a:sym typeface="Consolas"/>
              </a:defRPr>
            </a:pPr>
            <a:r>
              <a:t>println!("{}", user); // errore di compilazione!</a:t>
            </a:r>
          </a:p>
        </p:txBody>
      </p:sp>
      <p:sp>
        <p:nvSpPr>
          <p:cNvPr id="1038" name="Google Shape;1032;p82"/>
          <p:cNvSpPr txBox="1"/>
          <p:nvPr/>
        </p:nvSpPr>
        <p:spPr>
          <a:xfrm>
            <a:off x="731519" y="3632901"/>
            <a:ext cx="731520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500">
                <a:solidFill>
                  <a:srgbClr val="22C55E"/>
                </a:solidFill>
                <a:latin typeface="Calibri Light"/>
                <a:ea typeface="Calibri Light"/>
                <a:cs typeface="Calibri Light"/>
                <a:sym typeface="Calibri Light"/>
              </a:defRPr>
            </a:pPr>
            <a:r>
              <a:t>Non ci sono alias impliciti. Non ci sono modifiche a sorpresa.</a:t>
            </a:r>
          </a:p>
          <a:p>
            <a:pPr algn="ctr">
              <a:defRPr sz="1500">
                <a:solidFill>
                  <a:srgbClr val="22C55E"/>
                </a:solidFill>
                <a:latin typeface="Calibri Light"/>
                <a:ea typeface="Calibri Light"/>
                <a:cs typeface="Calibri Light"/>
                <a:sym typeface="Calibri Light"/>
              </a:defRPr>
            </a:pPr>
            <a:r>
              <a:t>Non per disciplina — per garanzia del compilatore.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38" grpId="1"/>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40" name="Google Shape;1038;p83"/>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41" name="Google Shape;1039;p83"/>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42" name="Google Shape;1040;p83"/>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48 / 57</a:t>
            </a:r>
          </a:p>
        </p:txBody>
      </p:sp>
      <p:sp>
        <p:nvSpPr>
          <p:cNvPr id="1043" name="Google Shape;1041;p83"/>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044" name="Google Shape;1042;p83"/>
          <p:cNvSpPr/>
          <p:nvPr/>
        </p:nvSpPr>
        <p:spPr>
          <a:xfrm>
            <a:off x="457200" y="4983479"/>
            <a:ext cx="6930188" cy="36577"/>
          </a:xfrm>
          <a:prstGeom prst="rect">
            <a:avLst/>
          </a:prstGeom>
          <a:solidFill>
            <a:srgbClr val="F97316"/>
          </a:solidFill>
          <a:ln w="12700">
            <a:miter lim="400000"/>
          </a:ln>
        </p:spPr>
        <p:txBody>
          <a:bodyPr lIns="0" tIns="0" rIns="0" bIns="0" anchor="ctr"/>
          <a:lstStyle/>
          <a:p>
            <a:pPr/>
          </a:p>
        </p:txBody>
      </p:sp>
      <p:sp>
        <p:nvSpPr>
          <p:cNvPr id="1045" name="Google Shape;1043;p83"/>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Traits vs Inheritance</a:t>
            </a:r>
          </a:p>
        </p:txBody>
      </p:sp>
      <p:sp>
        <p:nvSpPr>
          <p:cNvPr id="1046" name="Google Shape;1044;p83"/>
          <p:cNvSpPr/>
          <p:nvPr/>
        </p:nvSpPr>
        <p:spPr>
          <a:xfrm>
            <a:off x="1371600" y="1097280"/>
            <a:ext cx="6400800" cy="2011679"/>
          </a:xfrm>
          <a:prstGeom prst="rect">
            <a:avLst/>
          </a:prstGeom>
          <a:solidFill>
            <a:srgbClr val="12141F"/>
          </a:solidFill>
          <a:ln w="12700">
            <a:miter lim="400000"/>
          </a:ln>
        </p:spPr>
        <p:txBody>
          <a:bodyPr lIns="0" tIns="0" rIns="0" bIns="0" anchor="ctr"/>
          <a:lstStyle/>
          <a:p>
            <a:pPr/>
          </a:p>
        </p:txBody>
      </p:sp>
      <p:sp>
        <p:nvSpPr>
          <p:cNvPr id="1047" name="Google Shape;1045;p83"/>
          <p:cNvSpPr/>
          <p:nvPr/>
        </p:nvSpPr>
        <p:spPr>
          <a:xfrm>
            <a:off x="1371600" y="1097280"/>
            <a:ext cx="6400800" cy="45721"/>
          </a:xfrm>
          <a:prstGeom prst="rect">
            <a:avLst/>
          </a:prstGeom>
          <a:solidFill>
            <a:srgbClr val="22C55E"/>
          </a:solidFill>
          <a:ln w="12700">
            <a:miter lim="400000"/>
          </a:ln>
        </p:spPr>
        <p:txBody>
          <a:bodyPr lIns="0" tIns="0" rIns="0" bIns="0" anchor="ctr"/>
          <a:lstStyle/>
          <a:p>
            <a:pPr/>
          </a:p>
        </p:txBody>
      </p:sp>
      <p:sp>
        <p:nvSpPr>
          <p:cNvPr id="1048" name="Google Shape;1046;p83"/>
          <p:cNvSpPr txBox="1"/>
          <p:nvPr/>
        </p:nvSpPr>
        <p:spPr>
          <a:xfrm>
            <a:off x="1645920" y="1695449"/>
            <a:ext cx="5943601"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3B82F6"/>
                </a:solidFill>
                <a:latin typeface="Consolas"/>
                <a:ea typeface="Consolas"/>
                <a:cs typeface="Consolas"/>
                <a:sym typeface="Consolas"/>
              </a:defRPr>
            </a:pPr>
            <a:r>
              <a:t>impl </a:t>
            </a:r>
            <a:r>
              <a:rPr>
                <a:solidFill>
                  <a:srgbClr val="F97316"/>
                </a:solidFill>
              </a:rPr>
              <a:t>Display </a:t>
            </a:r>
            <a:r>
              <a:t>for </a:t>
            </a:r>
            <a:r>
              <a:rPr>
                <a:solidFill>
                  <a:srgbClr val="E5E7EB"/>
                </a:solidFill>
              </a:rPr>
              <a:t>User { ... }</a:t>
            </a:r>
            <a:endParaRPr>
              <a:latin typeface="Calibri Light"/>
              <a:ea typeface="Calibri Light"/>
              <a:cs typeface="Calibri Light"/>
              <a:sym typeface="Calibri Light"/>
            </a:endParaRPr>
          </a:p>
          <a:p>
            <a:pPr>
              <a:defRPr sz="1600">
                <a:solidFill>
                  <a:srgbClr val="3B82F6"/>
                </a:solidFill>
                <a:latin typeface="Consolas"/>
                <a:ea typeface="Consolas"/>
                <a:cs typeface="Consolas"/>
                <a:sym typeface="Consolas"/>
              </a:defRPr>
            </a:pPr>
            <a:r>
              <a:t>impl </a:t>
            </a:r>
            <a:r>
              <a:rPr>
                <a:solidFill>
                  <a:srgbClr val="F97316"/>
                </a:solidFill>
              </a:rPr>
              <a:t>Serialize </a:t>
            </a:r>
            <a:r>
              <a:t>for </a:t>
            </a:r>
            <a:r>
              <a:rPr>
                <a:solidFill>
                  <a:srgbClr val="E5E7EB"/>
                </a:solidFill>
              </a:rPr>
              <a:t>User { ... }</a:t>
            </a:r>
            <a:endParaRPr>
              <a:latin typeface="Calibri Light"/>
              <a:ea typeface="Calibri Light"/>
              <a:cs typeface="Calibri Light"/>
              <a:sym typeface="Calibri Light"/>
            </a:endParaRPr>
          </a:p>
          <a:p>
            <a:pPr>
              <a:defRPr sz="1600">
                <a:solidFill>
                  <a:srgbClr val="3B82F6"/>
                </a:solidFill>
                <a:latin typeface="Consolas"/>
                <a:ea typeface="Consolas"/>
                <a:cs typeface="Consolas"/>
                <a:sym typeface="Consolas"/>
              </a:defRPr>
            </a:pPr>
            <a:r>
              <a:t>impl </a:t>
            </a:r>
            <a:r>
              <a:rPr>
                <a:solidFill>
                  <a:srgbClr val="F97316"/>
                </a:solidFill>
              </a:rPr>
              <a:t>Validate </a:t>
            </a:r>
            <a:r>
              <a:t>for </a:t>
            </a:r>
            <a:r>
              <a:rPr>
                <a:solidFill>
                  <a:srgbClr val="E5E7EB"/>
                </a:solidFill>
              </a:rPr>
              <a:t>User { ... }</a:t>
            </a:r>
          </a:p>
        </p:txBody>
      </p:sp>
      <p:sp>
        <p:nvSpPr>
          <p:cNvPr id="1049" name="Google Shape;1047;p83"/>
          <p:cNvSpPr txBox="1"/>
          <p:nvPr/>
        </p:nvSpPr>
        <p:spPr>
          <a:xfrm>
            <a:off x="914400" y="3517463"/>
            <a:ext cx="731520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600">
                <a:solidFill>
                  <a:srgbClr val="F97316"/>
                </a:solidFill>
                <a:latin typeface="Calibri Light"/>
                <a:ea typeface="Calibri Light"/>
                <a:cs typeface="Calibri Light"/>
                <a:sym typeface="Calibri Light"/>
              </a:defRPr>
            </a:pPr>
            <a:r>
              <a:t>20 trait. Nessuna gerarchia. Niente Fragile Base Class.</a:t>
            </a:r>
          </a:p>
          <a:p>
            <a:pPr algn="ctr">
              <a:defRPr sz="1600">
                <a:solidFill>
                  <a:srgbClr val="F97316"/>
                </a:solidFill>
                <a:latin typeface="Calibri Light"/>
                <a:ea typeface="Calibri Light"/>
                <a:cs typeface="Calibri Light"/>
                <a:sym typeface="Calibri Light"/>
              </a:defRPr>
            </a:pPr>
            <a:r>
              <a:t>Polimorfismo senza ereditarietà.</a:t>
            </a:r>
          </a:p>
        </p:txBody>
      </p:sp>
      <p:sp>
        <p:nvSpPr>
          <p:cNvPr id="1050" name="Google Shape;1048;p83"/>
          <p:cNvSpPr txBox="1"/>
          <p:nvPr/>
        </p:nvSpPr>
        <p:spPr>
          <a:xfrm>
            <a:off x="914400" y="4397178"/>
            <a:ext cx="73152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6B7280"/>
                </a:solidFill>
                <a:latin typeface="Calibri Light"/>
                <a:ea typeface="Calibri Light"/>
                <a:cs typeface="Calibri Light"/>
                <a:sym typeface="Calibri Light"/>
              </a:defRPr>
            </a:lvl1pPr>
          </a:lstStyle>
          <a:p>
            <a:pPr/>
            <a:r>
              <a:t>Il consiglio del 1994, implementato a livello di linguaggio.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49" grpId="1"/>
      <p:bldP build="whole" bldLvl="1" animBg="1" rev="0" advAuto="0" spid="1050" grpId="2"/>
    </p:bld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54" name="Google Shape;1054;p84"/>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55" name="Google Shape;1055;p84"/>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56" name="Google Shape;1056;p84"/>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49 / 57</a:t>
            </a:r>
          </a:p>
        </p:txBody>
      </p:sp>
      <p:sp>
        <p:nvSpPr>
          <p:cNvPr id="1057" name="Google Shape;1057;p84"/>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058" name="Google Shape;1058;p84"/>
          <p:cNvSpPr/>
          <p:nvPr/>
        </p:nvSpPr>
        <p:spPr>
          <a:xfrm>
            <a:off x="457199" y="4983479"/>
            <a:ext cx="7074570" cy="36577"/>
          </a:xfrm>
          <a:prstGeom prst="rect">
            <a:avLst/>
          </a:prstGeom>
          <a:solidFill>
            <a:srgbClr val="F97316"/>
          </a:solidFill>
          <a:ln w="12700">
            <a:miter lim="400000"/>
          </a:ln>
        </p:spPr>
        <p:txBody>
          <a:bodyPr lIns="0" tIns="0" rIns="0" bIns="0" anchor="ctr"/>
          <a:lstStyle/>
          <a:p>
            <a:pPr/>
          </a:p>
        </p:txBody>
      </p:sp>
      <p:sp>
        <p:nvSpPr>
          <p:cNvPr id="1059" name="Google Shape;1059;p84"/>
          <p:cNvSpPr txBox="1"/>
          <p:nvPr/>
        </p:nvSpPr>
        <p:spPr>
          <a:xfrm>
            <a:off x="457200" y="345440"/>
            <a:ext cx="82296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Non solo Rust</a:t>
            </a:r>
          </a:p>
        </p:txBody>
      </p:sp>
      <p:sp>
        <p:nvSpPr>
          <p:cNvPr id="1060" name="Google Shape;1060;p84"/>
          <p:cNvSpPr/>
          <p:nvPr/>
        </p:nvSpPr>
        <p:spPr>
          <a:xfrm>
            <a:off x="731519" y="1097280"/>
            <a:ext cx="3749042" cy="1371601"/>
          </a:xfrm>
          <a:prstGeom prst="rect">
            <a:avLst/>
          </a:prstGeom>
          <a:solidFill>
            <a:srgbClr val="1A1D2B"/>
          </a:solidFill>
          <a:ln w="12700">
            <a:miter lim="400000"/>
          </a:ln>
        </p:spPr>
        <p:txBody>
          <a:bodyPr lIns="0" tIns="0" rIns="0" bIns="0" anchor="ctr"/>
          <a:lstStyle/>
          <a:p>
            <a:pPr/>
          </a:p>
        </p:txBody>
      </p:sp>
      <p:sp>
        <p:nvSpPr>
          <p:cNvPr id="1061" name="Google Shape;1061;p84"/>
          <p:cNvSpPr/>
          <p:nvPr/>
        </p:nvSpPr>
        <p:spPr>
          <a:xfrm>
            <a:off x="731519" y="1097280"/>
            <a:ext cx="54865" cy="1371601"/>
          </a:xfrm>
          <a:prstGeom prst="rect">
            <a:avLst/>
          </a:prstGeom>
          <a:solidFill>
            <a:srgbClr val="F97316"/>
          </a:solidFill>
          <a:ln w="12700">
            <a:miter lim="400000"/>
          </a:ln>
        </p:spPr>
        <p:txBody>
          <a:bodyPr lIns="0" tIns="0" rIns="0" bIns="0" anchor="ctr"/>
          <a:lstStyle/>
          <a:p>
            <a:pPr/>
          </a:p>
        </p:txBody>
      </p:sp>
      <p:sp>
        <p:nvSpPr>
          <p:cNvPr id="1062" name="Google Shape;1062;p84"/>
          <p:cNvSpPr txBox="1"/>
          <p:nvPr/>
        </p:nvSpPr>
        <p:spPr>
          <a:xfrm>
            <a:off x="960119" y="1329690"/>
            <a:ext cx="3200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97316"/>
                </a:solidFill>
                <a:latin typeface="Georgia"/>
                <a:ea typeface="Georgia"/>
                <a:cs typeface="Georgia"/>
                <a:sym typeface="Georgia"/>
              </a:defRPr>
            </a:lvl1pPr>
          </a:lstStyle>
          <a:p>
            <a:pPr/>
            <a:r>
              <a:t>Kotlin</a:t>
            </a:r>
          </a:p>
        </p:txBody>
      </p:sp>
      <p:sp>
        <p:nvSpPr>
          <p:cNvPr id="1063" name="Google Shape;1063;p84"/>
          <p:cNvSpPr txBox="1"/>
          <p:nvPr/>
        </p:nvSpPr>
        <p:spPr>
          <a:xfrm>
            <a:off x="960119" y="1887527"/>
            <a:ext cx="3200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String vs String?, Result, sealed class</a:t>
            </a:r>
          </a:p>
        </p:txBody>
      </p:sp>
      <p:sp>
        <p:nvSpPr>
          <p:cNvPr id="1064" name="Google Shape;1064;p84"/>
          <p:cNvSpPr/>
          <p:nvPr/>
        </p:nvSpPr>
        <p:spPr>
          <a:xfrm>
            <a:off x="4846320" y="1097280"/>
            <a:ext cx="3749041" cy="1371601"/>
          </a:xfrm>
          <a:prstGeom prst="rect">
            <a:avLst/>
          </a:prstGeom>
          <a:solidFill>
            <a:srgbClr val="1A1D2B"/>
          </a:solidFill>
          <a:ln w="12700">
            <a:miter lim="400000"/>
          </a:ln>
        </p:spPr>
        <p:txBody>
          <a:bodyPr lIns="0" tIns="0" rIns="0" bIns="0" anchor="ctr"/>
          <a:lstStyle/>
          <a:p>
            <a:pPr/>
          </a:p>
        </p:txBody>
      </p:sp>
      <p:sp>
        <p:nvSpPr>
          <p:cNvPr id="1065" name="Google Shape;1065;p84"/>
          <p:cNvSpPr/>
          <p:nvPr/>
        </p:nvSpPr>
        <p:spPr>
          <a:xfrm>
            <a:off x="4846320" y="1097280"/>
            <a:ext cx="54865" cy="1371601"/>
          </a:xfrm>
          <a:prstGeom prst="rect">
            <a:avLst/>
          </a:prstGeom>
          <a:solidFill>
            <a:srgbClr val="F97316"/>
          </a:solidFill>
          <a:ln w="12700">
            <a:miter lim="400000"/>
          </a:ln>
        </p:spPr>
        <p:txBody>
          <a:bodyPr lIns="0" tIns="0" rIns="0" bIns="0" anchor="ctr"/>
          <a:lstStyle/>
          <a:p>
            <a:pPr/>
          </a:p>
        </p:txBody>
      </p:sp>
      <p:sp>
        <p:nvSpPr>
          <p:cNvPr id="1066" name="Google Shape;1066;p84"/>
          <p:cNvSpPr txBox="1"/>
          <p:nvPr/>
        </p:nvSpPr>
        <p:spPr>
          <a:xfrm>
            <a:off x="5074920" y="1329690"/>
            <a:ext cx="3200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97316"/>
                </a:solidFill>
                <a:latin typeface="Georgia"/>
                <a:ea typeface="Georgia"/>
                <a:cs typeface="Georgia"/>
                <a:sym typeface="Georgia"/>
              </a:defRPr>
            </a:lvl1pPr>
          </a:lstStyle>
          <a:p>
            <a:pPr/>
            <a:r>
              <a:t>Swift</a:t>
            </a:r>
          </a:p>
        </p:txBody>
      </p:sp>
      <p:sp>
        <p:nvSpPr>
          <p:cNvPr id="1067" name="Google Shape;1067;p84"/>
          <p:cNvSpPr txBox="1"/>
          <p:nvPr/>
        </p:nvSpPr>
        <p:spPr>
          <a:xfrm>
            <a:off x="5074920" y="1887527"/>
            <a:ext cx="3200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Optional built-in, pattern matching, Result</a:t>
            </a:r>
          </a:p>
        </p:txBody>
      </p:sp>
      <p:sp>
        <p:nvSpPr>
          <p:cNvPr id="1068" name="Google Shape;1068;p84"/>
          <p:cNvSpPr/>
          <p:nvPr/>
        </p:nvSpPr>
        <p:spPr>
          <a:xfrm>
            <a:off x="731519" y="2743200"/>
            <a:ext cx="3749042" cy="1371600"/>
          </a:xfrm>
          <a:prstGeom prst="rect">
            <a:avLst/>
          </a:prstGeom>
          <a:solidFill>
            <a:srgbClr val="1A1D2B"/>
          </a:solidFill>
          <a:ln w="12700">
            <a:miter lim="400000"/>
          </a:ln>
        </p:spPr>
        <p:txBody>
          <a:bodyPr lIns="0" tIns="0" rIns="0" bIns="0" anchor="ctr"/>
          <a:lstStyle/>
          <a:p>
            <a:pPr/>
          </a:p>
        </p:txBody>
      </p:sp>
      <p:sp>
        <p:nvSpPr>
          <p:cNvPr id="1069" name="Google Shape;1069;p84"/>
          <p:cNvSpPr/>
          <p:nvPr/>
        </p:nvSpPr>
        <p:spPr>
          <a:xfrm>
            <a:off x="731519" y="2743200"/>
            <a:ext cx="54865" cy="1371600"/>
          </a:xfrm>
          <a:prstGeom prst="rect">
            <a:avLst/>
          </a:prstGeom>
          <a:solidFill>
            <a:srgbClr val="F97316"/>
          </a:solidFill>
          <a:ln w="12700">
            <a:miter lim="400000"/>
          </a:ln>
        </p:spPr>
        <p:txBody>
          <a:bodyPr lIns="0" tIns="0" rIns="0" bIns="0" anchor="ctr"/>
          <a:lstStyle/>
          <a:p>
            <a:pPr/>
          </a:p>
        </p:txBody>
      </p:sp>
      <p:sp>
        <p:nvSpPr>
          <p:cNvPr id="1070" name="Google Shape;1070;p84"/>
          <p:cNvSpPr txBox="1"/>
          <p:nvPr/>
        </p:nvSpPr>
        <p:spPr>
          <a:xfrm>
            <a:off x="960119" y="2975609"/>
            <a:ext cx="3200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97316"/>
                </a:solidFill>
                <a:latin typeface="Georgia"/>
                <a:ea typeface="Georgia"/>
                <a:cs typeface="Georgia"/>
                <a:sym typeface="Georgia"/>
              </a:defRPr>
            </a:lvl1pPr>
          </a:lstStyle>
          <a:p>
            <a:pPr/>
            <a:r>
              <a:t>TypeScript</a:t>
            </a:r>
          </a:p>
        </p:txBody>
      </p:sp>
      <p:sp>
        <p:nvSpPr>
          <p:cNvPr id="1071" name="Google Shape;1071;p84"/>
          <p:cNvSpPr txBox="1"/>
          <p:nvPr/>
        </p:nvSpPr>
        <p:spPr>
          <a:xfrm>
            <a:off x="960119" y="3533447"/>
            <a:ext cx="3200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Union types, never, literal types</a:t>
            </a:r>
          </a:p>
        </p:txBody>
      </p:sp>
      <p:sp>
        <p:nvSpPr>
          <p:cNvPr id="1072" name="Google Shape;1072;p84"/>
          <p:cNvSpPr/>
          <p:nvPr/>
        </p:nvSpPr>
        <p:spPr>
          <a:xfrm>
            <a:off x="4846320" y="2743200"/>
            <a:ext cx="3749041" cy="1371600"/>
          </a:xfrm>
          <a:prstGeom prst="rect">
            <a:avLst/>
          </a:prstGeom>
          <a:solidFill>
            <a:srgbClr val="1A1D2B"/>
          </a:solidFill>
          <a:ln w="12700">
            <a:miter lim="400000"/>
          </a:ln>
        </p:spPr>
        <p:txBody>
          <a:bodyPr lIns="0" tIns="0" rIns="0" bIns="0" anchor="ctr"/>
          <a:lstStyle/>
          <a:p>
            <a:pPr/>
          </a:p>
        </p:txBody>
      </p:sp>
      <p:sp>
        <p:nvSpPr>
          <p:cNvPr id="1073" name="Google Shape;1073;p84"/>
          <p:cNvSpPr/>
          <p:nvPr/>
        </p:nvSpPr>
        <p:spPr>
          <a:xfrm>
            <a:off x="4846320" y="2743200"/>
            <a:ext cx="54865" cy="1371600"/>
          </a:xfrm>
          <a:prstGeom prst="rect">
            <a:avLst/>
          </a:prstGeom>
          <a:solidFill>
            <a:srgbClr val="F97316"/>
          </a:solidFill>
          <a:ln w="12700">
            <a:miter lim="400000"/>
          </a:ln>
        </p:spPr>
        <p:txBody>
          <a:bodyPr lIns="0" tIns="0" rIns="0" bIns="0" anchor="ctr"/>
          <a:lstStyle/>
          <a:p>
            <a:pPr/>
          </a:p>
        </p:txBody>
      </p:sp>
      <p:sp>
        <p:nvSpPr>
          <p:cNvPr id="1074" name="Google Shape;1074;p84"/>
          <p:cNvSpPr txBox="1"/>
          <p:nvPr/>
        </p:nvSpPr>
        <p:spPr>
          <a:xfrm>
            <a:off x="5074920" y="2975609"/>
            <a:ext cx="3200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800">
                <a:solidFill>
                  <a:srgbClr val="F97316"/>
                </a:solidFill>
                <a:latin typeface="Georgia"/>
                <a:ea typeface="Georgia"/>
                <a:cs typeface="Georgia"/>
                <a:sym typeface="Georgia"/>
              </a:defRPr>
            </a:lvl1pPr>
          </a:lstStyle>
          <a:p>
            <a:pPr/>
            <a:r>
              <a:t>Java 17+</a:t>
            </a:r>
          </a:p>
        </p:txBody>
      </p:sp>
      <p:sp>
        <p:nvSpPr>
          <p:cNvPr id="1075" name="Google Shape;1075;p84"/>
          <p:cNvSpPr txBox="1"/>
          <p:nvPr/>
        </p:nvSpPr>
        <p:spPr>
          <a:xfrm>
            <a:off x="5074920" y="3533447"/>
            <a:ext cx="3200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9CA3AF"/>
                </a:solidFill>
                <a:latin typeface="Calibri Light"/>
                <a:ea typeface="Calibri Light"/>
                <a:cs typeface="Calibri Light"/>
                <a:sym typeface="Calibri Light"/>
              </a:defRPr>
            </a:lvl1pPr>
          </a:lstStyle>
          <a:p>
            <a:pPr/>
            <a:r>
              <a:t>Optional&lt;T&gt;, record, sealed classes</a:t>
            </a:r>
          </a:p>
        </p:txBody>
      </p:sp>
      <p:sp>
        <p:nvSpPr>
          <p:cNvPr id="1076" name="Google Shape;1076;p84"/>
          <p:cNvSpPr txBox="1"/>
          <p:nvPr/>
        </p:nvSpPr>
        <p:spPr>
          <a:xfrm>
            <a:off x="685800" y="4754879"/>
            <a:ext cx="7772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E5E7EB"/>
                </a:solidFill>
                <a:latin typeface="Calibri Light"/>
                <a:ea typeface="Calibri Light"/>
                <a:cs typeface="Calibri Light"/>
                <a:sym typeface="Calibri Light"/>
              </a:defRPr>
            </a:lvl1pPr>
          </a:lstStyle>
          <a:p>
            <a:pPr/>
            <a:r>
              <a:t>Non dobbiamo imparare Rust. Dobbiamo applicare queste idee nel linguaggio che già usiamo.</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80" name="Google Shape;1082;p85"/>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81" name="Google Shape;1083;p85"/>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82" name="Google Shape;1084;p85"/>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50 / 57</a:t>
            </a:r>
          </a:p>
        </p:txBody>
      </p:sp>
      <p:sp>
        <p:nvSpPr>
          <p:cNvPr id="1083" name="Google Shape;1085;p85"/>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084" name="Google Shape;1086;p85"/>
          <p:cNvSpPr/>
          <p:nvPr/>
        </p:nvSpPr>
        <p:spPr>
          <a:xfrm>
            <a:off x="457200" y="4983479"/>
            <a:ext cx="7218947" cy="36577"/>
          </a:xfrm>
          <a:prstGeom prst="rect">
            <a:avLst/>
          </a:prstGeom>
          <a:solidFill>
            <a:srgbClr val="F97316"/>
          </a:solidFill>
          <a:ln w="12700">
            <a:miter lim="400000"/>
          </a:ln>
        </p:spPr>
        <p:txBody>
          <a:bodyPr lIns="0" tIns="0" rIns="0" bIns="0" anchor="ctr"/>
          <a:lstStyle/>
          <a:p>
            <a:pPr/>
          </a:p>
        </p:txBody>
      </p:sp>
      <p:sp>
        <p:nvSpPr>
          <p:cNvPr id="1085" name="Google Shape;1087;p85"/>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Immutabilità come default</a:t>
            </a:r>
          </a:p>
        </p:txBody>
      </p:sp>
      <p:sp>
        <p:nvSpPr>
          <p:cNvPr id="1086" name="Google Shape;1088;p85"/>
          <p:cNvSpPr/>
          <p:nvPr/>
        </p:nvSpPr>
        <p:spPr>
          <a:xfrm>
            <a:off x="731519" y="1097280"/>
            <a:ext cx="3657601" cy="2286001"/>
          </a:xfrm>
          <a:prstGeom prst="rect">
            <a:avLst/>
          </a:prstGeom>
          <a:solidFill>
            <a:srgbClr val="1A1D2B"/>
          </a:solidFill>
          <a:ln w="12700">
            <a:miter lim="400000"/>
          </a:ln>
        </p:spPr>
        <p:txBody>
          <a:bodyPr lIns="0" tIns="0" rIns="0" bIns="0" anchor="ctr"/>
          <a:lstStyle/>
          <a:p>
            <a:pPr/>
          </a:p>
        </p:txBody>
      </p:sp>
      <p:sp>
        <p:nvSpPr>
          <p:cNvPr id="1087" name="Google Shape;1089;p85"/>
          <p:cNvSpPr/>
          <p:nvPr/>
        </p:nvSpPr>
        <p:spPr>
          <a:xfrm>
            <a:off x="731519" y="1097280"/>
            <a:ext cx="3657601" cy="45721"/>
          </a:xfrm>
          <a:prstGeom prst="rect">
            <a:avLst/>
          </a:prstGeom>
          <a:solidFill>
            <a:srgbClr val="22C55E"/>
          </a:solidFill>
          <a:ln w="12700">
            <a:miter lim="400000"/>
          </a:ln>
        </p:spPr>
        <p:txBody>
          <a:bodyPr lIns="0" tIns="0" rIns="0" bIns="0" anchor="ctr"/>
          <a:lstStyle/>
          <a:p>
            <a:pPr/>
          </a:p>
        </p:txBody>
      </p:sp>
      <p:sp>
        <p:nvSpPr>
          <p:cNvPr id="1088" name="Google Shape;1090;p85"/>
          <p:cNvSpPr txBox="1"/>
          <p:nvPr/>
        </p:nvSpPr>
        <p:spPr>
          <a:xfrm>
            <a:off x="1005839" y="1328420"/>
            <a:ext cx="3200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2C55E"/>
                </a:solidFill>
                <a:latin typeface="Consolas"/>
                <a:ea typeface="Consolas"/>
                <a:cs typeface="Consolas"/>
                <a:sym typeface="Consolas"/>
              </a:defRPr>
            </a:lvl1pPr>
          </a:lstStyle>
          <a:p>
            <a:pPr/>
            <a:r>
              <a:t>Rust</a:t>
            </a:r>
          </a:p>
        </p:txBody>
      </p:sp>
      <p:sp>
        <p:nvSpPr>
          <p:cNvPr id="1089" name="Google Shape;1091;p85"/>
          <p:cNvSpPr txBox="1"/>
          <p:nvPr/>
        </p:nvSpPr>
        <p:spPr>
          <a:xfrm>
            <a:off x="1005839" y="2082799"/>
            <a:ext cx="3200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E5E7EB"/>
                </a:solidFill>
                <a:latin typeface="Consolas"/>
                <a:ea typeface="Consolas"/>
                <a:cs typeface="Consolas"/>
                <a:sym typeface="Consolas"/>
              </a:defRPr>
            </a:pPr>
            <a:r>
              <a:t>let x = 5;     </a:t>
            </a:r>
            <a:r>
              <a:rPr>
                <a:solidFill>
                  <a:srgbClr val="6B7280"/>
                </a:solidFill>
              </a:rPr>
              <a:t>// immutabile</a:t>
            </a:r>
            <a:endParaRPr>
              <a:latin typeface="Calibri Light"/>
              <a:ea typeface="Calibri Light"/>
              <a:cs typeface="Calibri Light"/>
              <a:sym typeface="Calibri Light"/>
            </a:endParaRPr>
          </a:p>
          <a:p>
            <a:pPr>
              <a:defRPr sz="1300">
                <a:solidFill>
                  <a:srgbClr val="E5E7EB"/>
                </a:solidFill>
                <a:latin typeface="Consolas"/>
                <a:ea typeface="Consolas"/>
                <a:cs typeface="Consolas"/>
                <a:sym typeface="Consolas"/>
              </a:defRPr>
            </a:pPr>
            <a:r>
              <a:t>let mut y = 5; </a:t>
            </a:r>
            <a:r>
              <a:rPr>
                <a:solidFill>
                  <a:srgbClr val="6B7280"/>
                </a:solidFill>
              </a:rPr>
              <a:t>// opt-in</a:t>
            </a:r>
          </a:p>
        </p:txBody>
      </p:sp>
      <p:sp>
        <p:nvSpPr>
          <p:cNvPr id="1090" name="Google Shape;1092;p85"/>
          <p:cNvSpPr/>
          <p:nvPr/>
        </p:nvSpPr>
        <p:spPr>
          <a:xfrm>
            <a:off x="4754879" y="1097280"/>
            <a:ext cx="3657601" cy="2286001"/>
          </a:xfrm>
          <a:prstGeom prst="rect">
            <a:avLst/>
          </a:prstGeom>
          <a:solidFill>
            <a:srgbClr val="1A1D2B"/>
          </a:solidFill>
          <a:ln w="12700">
            <a:miter lim="400000"/>
          </a:ln>
        </p:spPr>
        <p:txBody>
          <a:bodyPr lIns="0" tIns="0" rIns="0" bIns="0" anchor="ctr"/>
          <a:lstStyle/>
          <a:p>
            <a:pPr/>
          </a:p>
        </p:txBody>
      </p:sp>
      <p:sp>
        <p:nvSpPr>
          <p:cNvPr id="1091" name="Google Shape;1093;p85"/>
          <p:cNvSpPr/>
          <p:nvPr/>
        </p:nvSpPr>
        <p:spPr>
          <a:xfrm>
            <a:off x="4754879" y="1097280"/>
            <a:ext cx="3657601" cy="45721"/>
          </a:xfrm>
          <a:prstGeom prst="rect">
            <a:avLst/>
          </a:prstGeom>
          <a:solidFill>
            <a:srgbClr val="EF4444"/>
          </a:solidFill>
          <a:ln w="12700">
            <a:miter lim="400000"/>
          </a:ln>
        </p:spPr>
        <p:txBody>
          <a:bodyPr lIns="0" tIns="0" rIns="0" bIns="0" anchor="ctr"/>
          <a:lstStyle/>
          <a:p>
            <a:pPr/>
          </a:p>
        </p:txBody>
      </p:sp>
      <p:sp>
        <p:nvSpPr>
          <p:cNvPr id="1092" name="Google Shape;1094;p85"/>
          <p:cNvSpPr txBox="1"/>
          <p:nvPr/>
        </p:nvSpPr>
        <p:spPr>
          <a:xfrm>
            <a:off x="5029200" y="1328420"/>
            <a:ext cx="32004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F4444"/>
                </a:solidFill>
                <a:latin typeface="Consolas"/>
                <a:ea typeface="Consolas"/>
                <a:cs typeface="Consolas"/>
                <a:sym typeface="Consolas"/>
              </a:defRPr>
            </a:lvl1pPr>
          </a:lstStyle>
          <a:p>
            <a:pPr/>
            <a:r>
              <a:t>Java / JS / Python</a:t>
            </a:r>
          </a:p>
        </p:txBody>
      </p:sp>
      <p:sp>
        <p:nvSpPr>
          <p:cNvPr id="1093" name="Google Shape;1095;p85"/>
          <p:cNvSpPr txBox="1"/>
          <p:nvPr/>
        </p:nvSpPr>
        <p:spPr>
          <a:xfrm>
            <a:off x="5029200" y="2082799"/>
            <a:ext cx="320040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rgbClr val="E5E7EB"/>
                </a:solidFill>
                <a:latin typeface="Consolas"/>
                <a:ea typeface="Consolas"/>
                <a:cs typeface="Consolas"/>
                <a:sym typeface="Consolas"/>
              </a:defRPr>
            </a:pPr>
            <a:r>
              <a:t>x = 5;         </a:t>
            </a:r>
            <a:r>
              <a:rPr>
                <a:solidFill>
                  <a:srgbClr val="6B7280"/>
                </a:solidFill>
              </a:rPr>
              <a:t>// mutabile</a:t>
            </a:r>
            <a:endParaRPr>
              <a:latin typeface="Calibri Light"/>
              <a:ea typeface="Calibri Light"/>
              <a:cs typeface="Calibri Light"/>
              <a:sym typeface="Calibri Light"/>
            </a:endParaRPr>
          </a:p>
          <a:p>
            <a:pPr>
              <a:defRPr sz="1300">
                <a:solidFill>
                  <a:srgbClr val="E5E7EB"/>
                </a:solidFill>
                <a:latin typeface="Consolas"/>
                <a:ea typeface="Consolas"/>
                <a:cs typeface="Consolas"/>
                <a:sym typeface="Consolas"/>
              </a:defRPr>
            </a:pPr>
            <a:r>
              <a:t>final y = 5;   </a:t>
            </a:r>
            <a:r>
              <a:rPr>
                <a:solidFill>
                  <a:srgbClr val="6B7280"/>
                </a:solidFill>
              </a:rPr>
              <a:t>// opt-in</a:t>
            </a:r>
          </a:p>
        </p:txBody>
      </p:sp>
      <p:sp>
        <p:nvSpPr>
          <p:cNvPr id="1094" name="Google Shape;1096;p85"/>
          <p:cNvSpPr txBox="1"/>
          <p:nvPr/>
        </p:nvSpPr>
        <p:spPr>
          <a:xfrm>
            <a:off x="914400" y="3928680"/>
            <a:ext cx="7315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B7280"/>
                </a:solidFill>
                <a:latin typeface="Calibri Light"/>
                <a:ea typeface="Calibri Light"/>
                <a:cs typeface="Calibri Light"/>
                <a:sym typeface="Calibri Light"/>
              </a:defRPr>
            </a:lvl1pPr>
          </a:lstStyle>
          <a:p>
            <a:pPr/>
            <a:r>
              <a:t>"Chi potrebbe aver modificato questo valore?" → Nessuno.</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90"/>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091"/>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092"/>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09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5" fill="hold">
                                  <p:stCondLst>
                                    <p:cond delay="0"/>
                                  </p:stCondLst>
                                  <p:iterate type="el" backwards="0">
                                    <p:tmAbs val="0"/>
                                  </p:iterate>
                                  <p:childTnLst>
                                    <p:set>
                                      <p:cBhvr>
                                        <p:cTn id="19" fill="hold"/>
                                        <p:tgtEl>
                                          <p:spTgt spid="10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91" grpId="2"/>
      <p:bldP build="whole" bldLvl="1" animBg="1" rev="0" advAuto="0" spid="1092" grpId="3"/>
      <p:bldP build="whole" bldLvl="1" animBg="1" rev="0" advAuto="0" spid="1093" grpId="4"/>
      <p:bldP build="whole" bldLvl="1" animBg="1" rev="0" advAuto="0" spid="1090" grpId="1"/>
      <p:bldP build="whole" bldLvl="1" animBg="1" rev="0" advAuto="0" spid="1094" grpId="5"/>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096" name="Google Shape;1102;p86"/>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097" name="Google Shape;1103;p86"/>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4</a:t>
            </a:r>
          </a:p>
        </p:txBody>
      </p:sp>
      <p:sp>
        <p:nvSpPr>
          <p:cNvPr id="1098" name="Google Shape;1104;p86"/>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51 / 57</a:t>
            </a:r>
          </a:p>
        </p:txBody>
      </p:sp>
      <p:sp>
        <p:nvSpPr>
          <p:cNvPr id="1099" name="Google Shape;1105;p86"/>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00" name="Google Shape;1106;p86"/>
          <p:cNvSpPr/>
          <p:nvPr/>
        </p:nvSpPr>
        <p:spPr>
          <a:xfrm>
            <a:off x="457200" y="4983479"/>
            <a:ext cx="7363325" cy="36577"/>
          </a:xfrm>
          <a:prstGeom prst="rect">
            <a:avLst/>
          </a:prstGeom>
          <a:solidFill>
            <a:srgbClr val="F97316"/>
          </a:solidFill>
          <a:ln w="12700">
            <a:miter lim="400000"/>
          </a:ln>
        </p:spPr>
        <p:txBody>
          <a:bodyPr lIns="0" tIns="0" rIns="0" bIns="0" anchor="ctr"/>
          <a:lstStyle/>
          <a:p>
            <a:pPr/>
          </a:p>
        </p:txBody>
      </p:sp>
      <p:sp>
        <p:nvSpPr>
          <p:cNvPr id="1101" name="Google Shape;1107;p86"/>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Composizione in pratica</a:t>
            </a:r>
          </a:p>
        </p:txBody>
      </p:sp>
      <p:sp>
        <p:nvSpPr>
          <p:cNvPr id="1102" name="Google Shape;1108;p86"/>
          <p:cNvSpPr/>
          <p:nvPr/>
        </p:nvSpPr>
        <p:spPr>
          <a:xfrm>
            <a:off x="731519" y="1097280"/>
            <a:ext cx="3657601" cy="2560321"/>
          </a:xfrm>
          <a:prstGeom prst="rect">
            <a:avLst/>
          </a:prstGeom>
          <a:solidFill>
            <a:srgbClr val="1A1D2B"/>
          </a:solidFill>
          <a:ln w="12700">
            <a:miter lim="400000"/>
          </a:ln>
        </p:spPr>
        <p:txBody>
          <a:bodyPr lIns="0" tIns="0" rIns="0" bIns="0" anchor="ctr"/>
          <a:lstStyle/>
          <a:p>
            <a:pPr/>
          </a:p>
        </p:txBody>
      </p:sp>
      <p:sp>
        <p:nvSpPr>
          <p:cNvPr id="1103" name="Google Shape;1109;p86"/>
          <p:cNvSpPr/>
          <p:nvPr/>
        </p:nvSpPr>
        <p:spPr>
          <a:xfrm>
            <a:off x="731519" y="1097280"/>
            <a:ext cx="3657601" cy="45721"/>
          </a:xfrm>
          <a:prstGeom prst="rect">
            <a:avLst/>
          </a:prstGeom>
          <a:solidFill>
            <a:srgbClr val="EF4444"/>
          </a:solidFill>
          <a:ln w="12700">
            <a:miter lim="400000"/>
          </a:ln>
        </p:spPr>
        <p:txBody>
          <a:bodyPr lIns="0" tIns="0" rIns="0" bIns="0" anchor="ctr"/>
          <a:lstStyle/>
          <a:p>
            <a:pPr/>
          </a:p>
        </p:txBody>
      </p:sp>
      <p:sp>
        <p:nvSpPr>
          <p:cNvPr id="1104" name="Google Shape;1110;p86"/>
          <p:cNvSpPr txBox="1"/>
          <p:nvPr/>
        </p:nvSpPr>
        <p:spPr>
          <a:xfrm>
            <a:off x="1005839" y="1315720"/>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F4444"/>
                </a:solidFill>
                <a:latin typeface="Consolas"/>
                <a:ea typeface="Consolas"/>
                <a:cs typeface="Consolas"/>
                <a:sym typeface="Consolas"/>
              </a:defRPr>
            </a:lvl1pPr>
          </a:lstStyle>
          <a:p>
            <a:pPr/>
            <a:r>
              <a:t>Ereditarietà</a:t>
            </a:r>
          </a:p>
        </p:txBody>
      </p:sp>
      <p:sp>
        <p:nvSpPr>
          <p:cNvPr id="1105" name="Google Shape;1111;p86"/>
          <p:cNvSpPr txBox="1"/>
          <p:nvPr/>
        </p:nvSpPr>
        <p:spPr>
          <a:xfrm>
            <a:off x="1005839" y="2009579"/>
            <a:ext cx="3200401"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Gerarchia, metodi ridefiniti, stato condiviso, comportamento accoppiato</a:t>
            </a:r>
          </a:p>
        </p:txBody>
      </p:sp>
      <p:sp>
        <p:nvSpPr>
          <p:cNvPr id="1106" name="Google Shape;1112;p86"/>
          <p:cNvSpPr/>
          <p:nvPr/>
        </p:nvSpPr>
        <p:spPr>
          <a:xfrm>
            <a:off x="4754879" y="1097280"/>
            <a:ext cx="3657601" cy="2560321"/>
          </a:xfrm>
          <a:prstGeom prst="rect">
            <a:avLst/>
          </a:prstGeom>
          <a:solidFill>
            <a:srgbClr val="1A1D2B"/>
          </a:solidFill>
          <a:ln w="12700">
            <a:miter lim="400000"/>
          </a:ln>
        </p:spPr>
        <p:txBody>
          <a:bodyPr lIns="0" tIns="0" rIns="0" bIns="0" anchor="ctr"/>
          <a:lstStyle/>
          <a:p>
            <a:pPr/>
          </a:p>
        </p:txBody>
      </p:sp>
      <p:sp>
        <p:nvSpPr>
          <p:cNvPr id="1107" name="Google Shape;1113;p86"/>
          <p:cNvSpPr/>
          <p:nvPr/>
        </p:nvSpPr>
        <p:spPr>
          <a:xfrm>
            <a:off x="4754879" y="1097280"/>
            <a:ext cx="3657601" cy="45721"/>
          </a:xfrm>
          <a:prstGeom prst="rect">
            <a:avLst/>
          </a:prstGeom>
          <a:solidFill>
            <a:srgbClr val="22C55E"/>
          </a:solidFill>
          <a:ln w="12700">
            <a:miter lim="400000"/>
          </a:ln>
        </p:spPr>
        <p:txBody>
          <a:bodyPr lIns="0" tIns="0" rIns="0" bIns="0" anchor="ctr"/>
          <a:lstStyle/>
          <a:p>
            <a:pPr/>
          </a:p>
        </p:txBody>
      </p:sp>
      <p:sp>
        <p:nvSpPr>
          <p:cNvPr id="1108" name="Google Shape;1114;p86"/>
          <p:cNvSpPr txBox="1"/>
          <p:nvPr/>
        </p:nvSpPr>
        <p:spPr>
          <a:xfrm>
            <a:off x="5029200" y="1315720"/>
            <a:ext cx="32004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2C55E"/>
                </a:solidFill>
                <a:latin typeface="Consolas"/>
                <a:ea typeface="Consolas"/>
                <a:cs typeface="Consolas"/>
                <a:sym typeface="Consolas"/>
              </a:defRPr>
            </a:lvl1pPr>
          </a:lstStyle>
          <a:p>
            <a:pPr/>
            <a:r>
              <a:t>Composizione + Traits</a:t>
            </a:r>
          </a:p>
        </p:txBody>
      </p:sp>
      <p:sp>
        <p:nvSpPr>
          <p:cNvPr id="1109" name="Google Shape;1115;p86"/>
          <p:cNvSpPr txBox="1"/>
          <p:nvPr/>
        </p:nvSpPr>
        <p:spPr>
          <a:xfrm>
            <a:off x="5029200" y="2009579"/>
            <a:ext cx="3200400"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Tipi separati, comportamento esplicito, nessun accoppiamento</a:t>
            </a:r>
          </a:p>
        </p:txBody>
      </p:sp>
      <p:sp>
        <p:nvSpPr>
          <p:cNvPr id="1110" name="Google Shape;1116;p86"/>
          <p:cNvSpPr txBox="1"/>
          <p:nvPr/>
        </p:nvSpPr>
        <p:spPr>
          <a:xfrm>
            <a:off x="731519" y="4111560"/>
            <a:ext cx="7315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9CA3AF"/>
                </a:solidFill>
                <a:latin typeface="Calibri Light"/>
                <a:ea typeface="Calibri Light"/>
                <a:cs typeface="Calibri Light"/>
                <a:sym typeface="Calibri Light"/>
              </a:defRPr>
            </a:lvl1pPr>
          </a:lstStyle>
          <a:p>
            <a:pPr/>
            <a:r>
              <a:t>Più facile da testare. Più facile da modificare. Più facile da capire.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06"/>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107"/>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108"/>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10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5" fill="hold">
                                  <p:stCondLst>
                                    <p:cond delay="0"/>
                                  </p:stCondLst>
                                  <p:iterate type="el" backwards="0">
                                    <p:tmAbs val="0"/>
                                  </p:iterate>
                                  <p:childTnLst>
                                    <p:set>
                                      <p:cBhvr>
                                        <p:cTn id="19" fill="hold"/>
                                        <p:tgtEl>
                                          <p:spTgt spid="1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07" grpId="2"/>
      <p:bldP build="whole" bldLvl="1" animBg="1" rev="0" advAuto="0" spid="1108" grpId="3"/>
      <p:bldP build="whole" bldLvl="1" animBg="1" rev="0" advAuto="0" spid="1110" grpId="5"/>
      <p:bldP build="whole" bldLvl="1" animBg="1" rev="0" advAuto="0" spid="1106" grpId="1"/>
      <p:bldP build="whole" bldLvl="1" animBg="1" rev="0" advAuto="0" spid="1109" grpId="4"/>
    </p:bld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114" name="Google Shape;1122;p87"/>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115" name="Google Shape;1123;p87"/>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5</a:t>
            </a:r>
          </a:p>
        </p:txBody>
      </p:sp>
      <p:sp>
        <p:nvSpPr>
          <p:cNvPr id="1116" name="Google Shape;1124;p87"/>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52 / 57</a:t>
            </a:r>
          </a:p>
        </p:txBody>
      </p:sp>
      <p:sp>
        <p:nvSpPr>
          <p:cNvPr id="1117" name="Google Shape;1125;p87"/>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18" name="Google Shape;1126;p87"/>
          <p:cNvSpPr/>
          <p:nvPr/>
        </p:nvSpPr>
        <p:spPr>
          <a:xfrm>
            <a:off x="457199" y="4983479"/>
            <a:ext cx="7507707" cy="36577"/>
          </a:xfrm>
          <a:prstGeom prst="rect">
            <a:avLst/>
          </a:prstGeom>
          <a:solidFill>
            <a:srgbClr val="F97316"/>
          </a:solidFill>
          <a:ln w="12700">
            <a:miter lim="400000"/>
          </a:ln>
        </p:spPr>
        <p:txBody>
          <a:bodyPr lIns="0" tIns="0" rIns="0" bIns="0" anchor="ctr"/>
          <a:lstStyle/>
          <a:p>
            <a:pPr/>
          </a:p>
        </p:txBody>
      </p:sp>
      <p:sp>
        <p:nvSpPr>
          <p:cNvPr id="1119" name="Google Shape;1127;p87"/>
          <p:cNvSpPr txBox="1"/>
          <p:nvPr/>
        </p:nvSpPr>
        <p:spPr>
          <a:xfrm>
            <a:off x="457200" y="1079499"/>
            <a:ext cx="822960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000">
                <a:solidFill>
                  <a:srgbClr val="FFFFFF"/>
                </a:solidFill>
                <a:latin typeface="Georgia"/>
                <a:ea typeface="Georgia"/>
                <a:cs typeface="Georgia"/>
                <a:sym typeface="Georgia"/>
              </a:defRPr>
            </a:lvl1pPr>
          </a:lstStyle>
          <a:p>
            <a:pPr/>
            <a:r>
              <a:t>OOP non è sbagliato.</a:t>
            </a:r>
          </a:p>
        </p:txBody>
      </p:sp>
      <p:sp>
        <p:nvSpPr>
          <p:cNvPr id="1120" name="Google Shape;1128;p87"/>
          <p:cNvSpPr txBox="1"/>
          <p:nvPr/>
        </p:nvSpPr>
        <p:spPr>
          <a:xfrm>
            <a:off x="914400" y="2237303"/>
            <a:ext cx="731520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600">
                <a:solidFill>
                  <a:srgbClr val="9CA3AF"/>
                </a:solidFill>
                <a:latin typeface="Calibri Light"/>
                <a:ea typeface="Calibri Light"/>
                <a:cs typeface="Calibri Light"/>
                <a:sym typeface="Calibri Light"/>
              </a:defRPr>
            </a:pPr>
            <a:r>
              <a:t>Ha un trentennio di successi reali.</a:t>
            </a:r>
          </a:p>
          <a:p>
            <a:pPr algn="ctr">
              <a:defRPr sz="1600">
                <a:solidFill>
                  <a:srgbClr val="9CA3AF"/>
                </a:solidFill>
                <a:latin typeface="Calibri Light"/>
                <a:ea typeface="Calibri Light"/>
                <a:cs typeface="Calibri Light"/>
                <a:sym typeface="Calibri Light"/>
              </a:defRPr>
            </a:pPr>
            <a:r>
              <a:t>Miliardi di righe in produzione che funzionano.</a:t>
            </a:r>
          </a:p>
        </p:txBody>
      </p:sp>
      <p:sp>
        <p:nvSpPr>
          <p:cNvPr id="1121" name="Google Shape;1129;p87"/>
          <p:cNvSpPr/>
          <p:nvPr/>
        </p:nvSpPr>
        <p:spPr>
          <a:xfrm>
            <a:off x="1097279" y="3200400"/>
            <a:ext cx="6949442" cy="1097281"/>
          </a:xfrm>
          <a:prstGeom prst="rect">
            <a:avLst/>
          </a:prstGeom>
          <a:solidFill>
            <a:srgbClr val="1A1D2B"/>
          </a:solidFill>
          <a:ln w="12700">
            <a:miter lim="400000"/>
          </a:ln>
        </p:spPr>
        <p:txBody>
          <a:bodyPr lIns="0" tIns="0" rIns="0" bIns="0" anchor="ctr"/>
          <a:lstStyle/>
          <a:p>
            <a:pPr/>
          </a:p>
        </p:txBody>
      </p:sp>
      <p:sp>
        <p:nvSpPr>
          <p:cNvPr id="1122" name="Google Shape;1130;p87"/>
          <p:cNvSpPr/>
          <p:nvPr/>
        </p:nvSpPr>
        <p:spPr>
          <a:xfrm>
            <a:off x="1097280" y="3200400"/>
            <a:ext cx="54865" cy="1097281"/>
          </a:xfrm>
          <a:prstGeom prst="rect">
            <a:avLst/>
          </a:prstGeom>
          <a:solidFill>
            <a:srgbClr val="F97316"/>
          </a:solidFill>
          <a:ln w="12700">
            <a:miter lim="400000"/>
          </a:ln>
        </p:spPr>
        <p:txBody>
          <a:bodyPr lIns="0" tIns="0" rIns="0" bIns="0" anchor="ctr"/>
          <a:lstStyle/>
          <a:p>
            <a:pPr/>
          </a:p>
        </p:txBody>
      </p:sp>
      <p:sp>
        <p:nvSpPr>
          <p:cNvPr id="1123" name="Google Shape;1131;p87"/>
          <p:cNvSpPr txBox="1"/>
          <p:nvPr/>
        </p:nvSpPr>
        <p:spPr>
          <a:xfrm>
            <a:off x="1371600" y="3427162"/>
            <a:ext cx="6400800"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F97316"/>
                </a:solidFill>
                <a:latin typeface="Calibri Light"/>
                <a:ea typeface="Calibri Light"/>
                <a:cs typeface="Calibri Light"/>
                <a:sym typeface="Calibri Light"/>
              </a:defRPr>
            </a:pPr>
            <a:r>
              <a:t>C'è differenza tra "questo strumento ha dei limiti"</a:t>
            </a:r>
          </a:p>
          <a:p>
            <a:pPr>
              <a:defRPr sz="1500">
                <a:solidFill>
                  <a:srgbClr val="F97316"/>
                </a:solidFill>
                <a:latin typeface="Calibri Light"/>
                <a:ea typeface="Calibri Light"/>
                <a:cs typeface="Calibri Light"/>
                <a:sym typeface="Calibri Light"/>
              </a:defRPr>
            </a:pPr>
            <a:r>
              <a:t>e "questo strumento è inutile".</a:t>
            </a:r>
          </a:p>
          <a:p>
            <a:pPr>
              <a:defRPr sz="1500">
                <a:solidFill>
                  <a:srgbClr val="F97316"/>
                </a:solidFill>
                <a:latin typeface="Calibri Light"/>
                <a:ea typeface="Calibri Light"/>
                <a:cs typeface="Calibri Light"/>
                <a:sym typeface="Calibri Light"/>
              </a:defRPr>
            </a:pPr>
            <a:r>
              <a:t>Oggi ho parlato dei limiti.</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121"/>
                                        </p:tgtEl>
                                        <p:attrNameLst>
                                          <p:attrName>style.visibility</p:attrName>
                                        </p:attrNameLst>
                                      </p:cBhvr>
                                      <p:to>
                                        <p:strVal val="visible"/>
                                      </p:to>
                                    </p:set>
                                  </p:childTnLst>
                                </p:cTn>
                              </p:par>
                            </p:childTnLst>
                          </p:cTn>
                        </p:par>
                        <p:par>
                          <p:cTn id="11" fill="hold">
                            <p:stCondLst>
                              <p:cond delay="0"/>
                            </p:stCondLst>
                            <p:childTnLst>
                              <p:par>
                                <p:cTn id="12" presetClass="entr" nodeType="afterEffect" presetSubtype="0" presetID="1" grpId="3" fill="hold">
                                  <p:stCondLst>
                                    <p:cond delay="0"/>
                                  </p:stCondLst>
                                  <p:iterate type="el" backwards="0">
                                    <p:tmAbs val="0"/>
                                  </p:iterate>
                                  <p:childTnLst>
                                    <p:set>
                                      <p:cBhvr>
                                        <p:cTn id="13" fill="hold"/>
                                        <p:tgtEl>
                                          <p:spTgt spid="1122"/>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1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20" grpId="1"/>
      <p:bldP build="whole" bldLvl="1" animBg="1" rev="0" advAuto="0" spid="1121" grpId="2"/>
      <p:bldP build="whole" bldLvl="1" animBg="1" rev="0" advAuto="0" spid="1122" grpId="3"/>
      <p:bldP build="whole" bldLvl="1" animBg="1" rev="0" advAuto="0" spid="1123" grpId="4"/>
    </p:bldLst>
  </p:timing>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125" name="Google Shape;1137;p88"/>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126" name="Google Shape;1138;p88"/>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5</a:t>
            </a:r>
          </a:p>
        </p:txBody>
      </p:sp>
      <p:sp>
        <p:nvSpPr>
          <p:cNvPr id="1127" name="Google Shape;1139;p88"/>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53 / 57</a:t>
            </a:r>
          </a:p>
        </p:txBody>
      </p:sp>
      <p:sp>
        <p:nvSpPr>
          <p:cNvPr id="1128" name="Google Shape;1140;p88"/>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29" name="Google Shape;1141;p88"/>
          <p:cNvSpPr/>
          <p:nvPr/>
        </p:nvSpPr>
        <p:spPr>
          <a:xfrm>
            <a:off x="457199" y="4983479"/>
            <a:ext cx="7652086" cy="36577"/>
          </a:xfrm>
          <a:prstGeom prst="rect">
            <a:avLst/>
          </a:prstGeom>
          <a:solidFill>
            <a:srgbClr val="F97316"/>
          </a:solidFill>
          <a:ln w="12700">
            <a:miter lim="400000"/>
          </a:ln>
        </p:spPr>
        <p:txBody>
          <a:bodyPr lIns="0" tIns="0" rIns="0" bIns="0" anchor="ctr"/>
          <a:lstStyle/>
          <a:p>
            <a:pPr/>
          </a:p>
        </p:txBody>
      </p:sp>
      <p:sp>
        <p:nvSpPr>
          <p:cNvPr id="1130" name="Google Shape;1142;p88"/>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Cosa disimparare</a:t>
            </a:r>
          </a:p>
        </p:txBody>
      </p:sp>
      <p:sp>
        <p:nvSpPr>
          <p:cNvPr id="1131" name="Google Shape;1143;p88"/>
          <p:cNvSpPr txBox="1"/>
          <p:nvPr/>
        </p:nvSpPr>
        <p:spPr>
          <a:xfrm>
            <a:off x="731519" y="1127759"/>
            <a:ext cx="4572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97316"/>
                </a:solidFill>
                <a:latin typeface="Consolas"/>
                <a:ea typeface="Consolas"/>
                <a:cs typeface="Consolas"/>
                <a:sym typeface="Consolas"/>
              </a:defRPr>
            </a:lvl1pPr>
          </a:lstStyle>
          <a:p>
            <a:pPr/>
            <a:r>
              <a:t>1</a:t>
            </a:r>
          </a:p>
        </p:txBody>
      </p:sp>
      <p:sp>
        <p:nvSpPr>
          <p:cNvPr id="1132" name="Google Shape;1144;p88"/>
          <p:cNvSpPr txBox="1"/>
          <p:nvPr/>
        </p:nvSpPr>
        <p:spPr>
          <a:xfrm>
            <a:off x="1280160" y="1045209"/>
            <a:ext cx="6400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Georgia"/>
                <a:ea typeface="Georgia"/>
                <a:cs typeface="Georgia"/>
                <a:sym typeface="Georgia"/>
              </a:defRPr>
            </a:lvl1pPr>
          </a:lstStyle>
          <a:p>
            <a:pPr/>
            <a:r>
              <a:t>extends come primo istinto</a:t>
            </a:r>
          </a:p>
        </p:txBody>
      </p:sp>
      <p:sp>
        <p:nvSpPr>
          <p:cNvPr id="1133" name="Google Shape;1145;p88"/>
          <p:cNvSpPr txBox="1"/>
          <p:nvPr/>
        </p:nvSpPr>
        <p:spPr>
          <a:xfrm>
            <a:off x="1280160" y="1379659"/>
            <a:ext cx="6400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Serve davvero ereditarietà, o basta composizione?</a:t>
            </a:r>
          </a:p>
        </p:txBody>
      </p:sp>
      <p:sp>
        <p:nvSpPr>
          <p:cNvPr id="1134" name="Google Shape;1146;p88"/>
          <p:cNvSpPr txBox="1"/>
          <p:nvPr/>
        </p:nvSpPr>
        <p:spPr>
          <a:xfrm>
            <a:off x="731519" y="1859280"/>
            <a:ext cx="4572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97316"/>
                </a:solidFill>
                <a:latin typeface="Consolas"/>
                <a:ea typeface="Consolas"/>
                <a:cs typeface="Consolas"/>
                <a:sym typeface="Consolas"/>
              </a:defRPr>
            </a:lvl1pPr>
          </a:lstStyle>
          <a:p>
            <a:pPr/>
            <a:r>
              <a:t>2</a:t>
            </a:r>
          </a:p>
        </p:txBody>
      </p:sp>
      <p:sp>
        <p:nvSpPr>
          <p:cNvPr id="1135" name="Google Shape;1147;p88"/>
          <p:cNvSpPr txBox="1"/>
          <p:nvPr/>
        </p:nvSpPr>
        <p:spPr>
          <a:xfrm>
            <a:off x="1280160" y="1776730"/>
            <a:ext cx="6400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Georgia"/>
                <a:ea typeface="Georgia"/>
                <a:cs typeface="Georgia"/>
                <a:sym typeface="Georgia"/>
              </a:defRPr>
            </a:lvl1pPr>
          </a:lstStyle>
          <a:p>
            <a:pPr/>
            <a:r>
              <a:t>Null come valore legittimo</a:t>
            </a:r>
          </a:p>
        </p:txBody>
      </p:sp>
      <p:sp>
        <p:nvSpPr>
          <p:cNvPr id="1136" name="Google Shape;1148;p88"/>
          <p:cNvSpPr txBox="1"/>
          <p:nvPr/>
        </p:nvSpPr>
        <p:spPr>
          <a:xfrm>
            <a:off x="1280160" y="2111179"/>
            <a:ext cx="64008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Usa Optional. Il tipo deve dire la verità.</a:t>
            </a:r>
          </a:p>
        </p:txBody>
      </p:sp>
      <p:sp>
        <p:nvSpPr>
          <p:cNvPr id="1137" name="Google Shape;1149;p88"/>
          <p:cNvSpPr txBox="1"/>
          <p:nvPr/>
        </p:nvSpPr>
        <p:spPr>
          <a:xfrm>
            <a:off x="731519" y="2590800"/>
            <a:ext cx="4572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97316"/>
                </a:solidFill>
                <a:latin typeface="Consolas"/>
                <a:ea typeface="Consolas"/>
                <a:cs typeface="Consolas"/>
                <a:sym typeface="Consolas"/>
              </a:defRPr>
            </a:lvl1pPr>
          </a:lstStyle>
          <a:p>
            <a:pPr/>
            <a:r>
              <a:t>3</a:t>
            </a:r>
          </a:p>
        </p:txBody>
      </p:sp>
      <p:sp>
        <p:nvSpPr>
          <p:cNvPr id="1138" name="Google Shape;1150;p88"/>
          <p:cNvSpPr txBox="1"/>
          <p:nvPr/>
        </p:nvSpPr>
        <p:spPr>
          <a:xfrm>
            <a:off x="1280160" y="2508249"/>
            <a:ext cx="6400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Georgia"/>
                <a:ea typeface="Georgia"/>
                <a:cs typeface="Georgia"/>
                <a:sym typeface="Georgia"/>
              </a:defRPr>
            </a:lvl1pPr>
          </a:lstStyle>
          <a:p>
            <a:pPr/>
            <a:r>
              <a:t>Eccezioni per il control flow</a:t>
            </a:r>
          </a:p>
        </p:txBody>
      </p:sp>
      <p:sp>
        <p:nvSpPr>
          <p:cNvPr id="1139" name="Google Shape;1151;p88"/>
          <p:cNvSpPr txBox="1"/>
          <p:nvPr/>
        </p:nvSpPr>
        <p:spPr>
          <a:xfrm>
            <a:off x="1280160" y="2842699"/>
            <a:ext cx="6400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Gli errori previsti sono valori, non eccezioni.</a:t>
            </a:r>
          </a:p>
        </p:txBody>
      </p:sp>
      <p:sp>
        <p:nvSpPr>
          <p:cNvPr id="1140" name="Google Shape;1152;p88"/>
          <p:cNvSpPr txBox="1"/>
          <p:nvPr/>
        </p:nvSpPr>
        <p:spPr>
          <a:xfrm>
            <a:off x="731519" y="3322320"/>
            <a:ext cx="4572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97316"/>
                </a:solidFill>
                <a:latin typeface="Consolas"/>
                <a:ea typeface="Consolas"/>
                <a:cs typeface="Consolas"/>
                <a:sym typeface="Consolas"/>
              </a:defRPr>
            </a:lvl1pPr>
          </a:lstStyle>
          <a:p>
            <a:pPr/>
            <a:r>
              <a:t>4</a:t>
            </a:r>
          </a:p>
        </p:txBody>
      </p:sp>
      <p:sp>
        <p:nvSpPr>
          <p:cNvPr id="1141" name="Google Shape;1153;p88"/>
          <p:cNvSpPr txBox="1"/>
          <p:nvPr/>
        </p:nvSpPr>
        <p:spPr>
          <a:xfrm>
            <a:off x="1280160" y="3239770"/>
            <a:ext cx="6400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Georgia"/>
                <a:ea typeface="Georgia"/>
                <a:cs typeface="Georgia"/>
                <a:sym typeface="Georgia"/>
              </a:defRPr>
            </a:lvl1pPr>
          </a:lstStyle>
          <a:p>
            <a:pPr/>
            <a:r>
              <a:t>Stato mutabile condiviso</a:t>
            </a:r>
          </a:p>
        </p:txBody>
      </p:sp>
      <p:sp>
        <p:nvSpPr>
          <p:cNvPr id="1142" name="Google Shape;1154;p88"/>
          <p:cNvSpPr txBox="1"/>
          <p:nvPr/>
        </p:nvSpPr>
        <p:spPr>
          <a:xfrm>
            <a:off x="1280160" y="3574219"/>
            <a:ext cx="64008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Chi possiede questo? Chi può modificarlo?</a:t>
            </a:r>
          </a:p>
        </p:txBody>
      </p:sp>
      <p:sp>
        <p:nvSpPr>
          <p:cNvPr id="1143" name="Google Shape;1155;p88"/>
          <p:cNvSpPr txBox="1"/>
          <p:nvPr/>
        </p:nvSpPr>
        <p:spPr>
          <a:xfrm>
            <a:off x="731519" y="4053840"/>
            <a:ext cx="4572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97316"/>
                </a:solidFill>
                <a:latin typeface="Consolas"/>
                <a:ea typeface="Consolas"/>
                <a:cs typeface="Consolas"/>
                <a:sym typeface="Consolas"/>
              </a:defRPr>
            </a:lvl1pPr>
          </a:lstStyle>
          <a:p>
            <a:pPr/>
            <a:r>
              <a:t>5</a:t>
            </a:r>
          </a:p>
        </p:txBody>
      </p:sp>
      <p:sp>
        <p:nvSpPr>
          <p:cNvPr id="1144" name="Google Shape;1156;p88"/>
          <p:cNvSpPr txBox="1"/>
          <p:nvPr/>
        </p:nvSpPr>
        <p:spPr>
          <a:xfrm>
            <a:off x="1280160" y="3971290"/>
            <a:ext cx="6400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Georgia"/>
                <a:ea typeface="Georgia"/>
                <a:cs typeface="Georgia"/>
                <a:sym typeface="Georgia"/>
              </a:defRPr>
            </a:lvl1pPr>
          </a:lstStyle>
          <a:p>
            <a:pPr/>
            <a:r>
              <a:t>I pattern come obiettivo</a:t>
            </a:r>
          </a:p>
        </p:txBody>
      </p:sp>
      <p:sp>
        <p:nvSpPr>
          <p:cNvPr id="1145" name="Google Shape;1157;p88"/>
          <p:cNvSpPr txBox="1"/>
          <p:nvPr/>
        </p:nvSpPr>
        <p:spPr>
          <a:xfrm>
            <a:off x="1280160" y="4305738"/>
            <a:ext cx="6400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Se non hai il problema, non applicare la soluzione.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31"/>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132"/>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1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4" fill="hold">
                                  <p:stCondLst>
                                    <p:cond delay="0"/>
                                  </p:stCondLst>
                                  <p:iterate type="el" backwards="0">
                                    <p:tmAbs val="0"/>
                                  </p:iterate>
                                  <p:childTnLst>
                                    <p:set>
                                      <p:cBhvr>
                                        <p:cTn id="16" fill="hold"/>
                                        <p:tgtEl>
                                          <p:spTgt spid="1134"/>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5" fill="hold">
                                  <p:stCondLst>
                                    <p:cond delay="0"/>
                                  </p:stCondLst>
                                  <p:iterate type="el" backwards="0">
                                    <p:tmAbs val="0"/>
                                  </p:iterate>
                                  <p:childTnLst>
                                    <p:set>
                                      <p:cBhvr>
                                        <p:cTn id="19" fill="hold"/>
                                        <p:tgtEl>
                                          <p:spTgt spid="1135"/>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11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7" fill="hold">
                                  <p:stCondLst>
                                    <p:cond delay="0"/>
                                  </p:stCondLst>
                                  <p:iterate type="el" backwards="0">
                                    <p:tmAbs val="0"/>
                                  </p:iterate>
                                  <p:childTnLst>
                                    <p:set>
                                      <p:cBhvr>
                                        <p:cTn id="26" fill="hold"/>
                                        <p:tgtEl>
                                          <p:spTgt spid="1137"/>
                                        </p:tgtEl>
                                        <p:attrNameLst>
                                          <p:attrName>style.visibility</p:attrName>
                                        </p:attrNameLst>
                                      </p:cBhvr>
                                      <p:to>
                                        <p:strVal val="visible"/>
                                      </p:to>
                                    </p:set>
                                  </p:childTnLst>
                                </p:cTn>
                              </p:par>
                            </p:childTnLst>
                          </p:cTn>
                        </p:par>
                        <p:par>
                          <p:cTn id="27" fill="hold">
                            <p:stCondLst>
                              <p:cond delay="0"/>
                            </p:stCondLst>
                            <p:childTnLst>
                              <p:par>
                                <p:cTn id="28" presetClass="entr" nodeType="afterEffect" presetSubtype="0" presetID="1" grpId="8" fill="hold">
                                  <p:stCondLst>
                                    <p:cond delay="0"/>
                                  </p:stCondLst>
                                  <p:iterate type="el" backwards="0">
                                    <p:tmAbs val="0"/>
                                  </p:iterate>
                                  <p:childTnLst>
                                    <p:set>
                                      <p:cBhvr>
                                        <p:cTn id="29" fill="hold"/>
                                        <p:tgtEl>
                                          <p:spTgt spid="1138"/>
                                        </p:tgtEl>
                                        <p:attrNameLst>
                                          <p:attrName>style.visibility</p:attrName>
                                        </p:attrNameLst>
                                      </p:cBhvr>
                                      <p:to>
                                        <p:strVal val="visible"/>
                                      </p:to>
                                    </p:set>
                                  </p:childTnLst>
                                </p:cTn>
                              </p:par>
                            </p:childTnLst>
                          </p:cTn>
                        </p:par>
                        <p:par>
                          <p:cTn id="30" fill="hold">
                            <p:stCondLst>
                              <p:cond delay="0"/>
                            </p:stCondLst>
                            <p:childTnLst>
                              <p:par>
                                <p:cTn id="31" presetClass="entr" nodeType="afterEffect" presetSubtype="0" presetID="1" grpId="9" fill="hold">
                                  <p:stCondLst>
                                    <p:cond delay="0"/>
                                  </p:stCondLst>
                                  <p:iterate type="el" backwards="0">
                                    <p:tmAbs val="0"/>
                                  </p:iterate>
                                  <p:childTnLst>
                                    <p:set>
                                      <p:cBhvr>
                                        <p:cTn id="32" fill="hold"/>
                                        <p:tgtEl>
                                          <p:spTgt spid="11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0" presetID="1" grpId="10" fill="hold">
                                  <p:stCondLst>
                                    <p:cond delay="0"/>
                                  </p:stCondLst>
                                  <p:iterate type="el" backwards="0">
                                    <p:tmAbs val="0"/>
                                  </p:iterate>
                                  <p:childTnLst>
                                    <p:set>
                                      <p:cBhvr>
                                        <p:cTn id="36" fill="hold"/>
                                        <p:tgtEl>
                                          <p:spTgt spid="1140"/>
                                        </p:tgtEl>
                                        <p:attrNameLst>
                                          <p:attrName>style.visibility</p:attrName>
                                        </p:attrNameLst>
                                      </p:cBhvr>
                                      <p:to>
                                        <p:strVal val="visible"/>
                                      </p:to>
                                    </p:set>
                                  </p:childTnLst>
                                </p:cTn>
                              </p:par>
                            </p:childTnLst>
                          </p:cTn>
                        </p:par>
                        <p:par>
                          <p:cTn id="37" fill="hold">
                            <p:stCondLst>
                              <p:cond delay="0"/>
                            </p:stCondLst>
                            <p:childTnLst>
                              <p:par>
                                <p:cTn id="38" presetClass="entr" nodeType="afterEffect" presetSubtype="0" presetID="1" grpId="11" fill="hold">
                                  <p:stCondLst>
                                    <p:cond delay="0"/>
                                  </p:stCondLst>
                                  <p:iterate type="el" backwards="0">
                                    <p:tmAbs val="0"/>
                                  </p:iterate>
                                  <p:childTnLst>
                                    <p:set>
                                      <p:cBhvr>
                                        <p:cTn id="39" fill="hold"/>
                                        <p:tgtEl>
                                          <p:spTgt spid="1141"/>
                                        </p:tgtEl>
                                        <p:attrNameLst>
                                          <p:attrName>style.visibility</p:attrName>
                                        </p:attrNameLst>
                                      </p:cBhvr>
                                      <p:to>
                                        <p:strVal val="visible"/>
                                      </p:to>
                                    </p:set>
                                  </p:childTnLst>
                                </p:cTn>
                              </p:par>
                            </p:childTnLst>
                          </p:cTn>
                        </p:par>
                        <p:par>
                          <p:cTn id="40" fill="hold">
                            <p:stCondLst>
                              <p:cond delay="0"/>
                            </p:stCondLst>
                            <p:childTnLst>
                              <p:par>
                                <p:cTn id="41" presetClass="entr" nodeType="afterEffect" presetSubtype="0" presetID="1" grpId="12" fill="hold">
                                  <p:stCondLst>
                                    <p:cond delay="0"/>
                                  </p:stCondLst>
                                  <p:iterate type="el" backwards="0">
                                    <p:tmAbs val="0"/>
                                  </p:iterate>
                                  <p:childTnLst>
                                    <p:set>
                                      <p:cBhvr>
                                        <p:cTn id="42" fill="hold"/>
                                        <p:tgtEl>
                                          <p:spTgt spid="11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0" presetID="1" grpId="13" fill="hold">
                                  <p:stCondLst>
                                    <p:cond delay="0"/>
                                  </p:stCondLst>
                                  <p:iterate type="el" backwards="0">
                                    <p:tmAbs val="0"/>
                                  </p:iterate>
                                  <p:childTnLst>
                                    <p:set>
                                      <p:cBhvr>
                                        <p:cTn id="46" fill="hold"/>
                                        <p:tgtEl>
                                          <p:spTgt spid="1143"/>
                                        </p:tgtEl>
                                        <p:attrNameLst>
                                          <p:attrName>style.visibility</p:attrName>
                                        </p:attrNameLst>
                                      </p:cBhvr>
                                      <p:to>
                                        <p:strVal val="visible"/>
                                      </p:to>
                                    </p:set>
                                  </p:childTnLst>
                                </p:cTn>
                              </p:par>
                            </p:childTnLst>
                          </p:cTn>
                        </p:par>
                        <p:par>
                          <p:cTn id="47" fill="hold">
                            <p:stCondLst>
                              <p:cond delay="0"/>
                            </p:stCondLst>
                            <p:childTnLst>
                              <p:par>
                                <p:cTn id="48" presetClass="entr" nodeType="afterEffect" presetSubtype="0" presetID="1" grpId="14" fill="hold">
                                  <p:stCondLst>
                                    <p:cond delay="0"/>
                                  </p:stCondLst>
                                  <p:iterate type="el" backwards="0">
                                    <p:tmAbs val="0"/>
                                  </p:iterate>
                                  <p:childTnLst>
                                    <p:set>
                                      <p:cBhvr>
                                        <p:cTn id="49" fill="hold"/>
                                        <p:tgtEl>
                                          <p:spTgt spid="1144"/>
                                        </p:tgtEl>
                                        <p:attrNameLst>
                                          <p:attrName>style.visibility</p:attrName>
                                        </p:attrNameLst>
                                      </p:cBhvr>
                                      <p:to>
                                        <p:strVal val="visible"/>
                                      </p:to>
                                    </p:set>
                                  </p:childTnLst>
                                </p:cTn>
                              </p:par>
                            </p:childTnLst>
                          </p:cTn>
                        </p:par>
                        <p:par>
                          <p:cTn id="50" fill="hold">
                            <p:stCondLst>
                              <p:cond delay="0"/>
                            </p:stCondLst>
                            <p:childTnLst>
                              <p:par>
                                <p:cTn id="51" presetClass="entr" nodeType="afterEffect" presetSubtype="0" presetID="1" grpId="15" fill="hold">
                                  <p:stCondLst>
                                    <p:cond delay="0"/>
                                  </p:stCondLst>
                                  <p:iterate type="el" backwards="0">
                                    <p:tmAbs val="0"/>
                                  </p:iterate>
                                  <p:childTnLst>
                                    <p:set>
                                      <p:cBhvr>
                                        <p:cTn id="52" fill="hold"/>
                                        <p:tgtEl>
                                          <p:spTgt spid="1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35" grpId="5"/>
      <p:bldP build="whole" bldLvl="1" animBg="1" rev="0" advAuto="0" spid="1138" grpId="8"/>
      <p:bldP build="whole" bldLvl="1" animBg="1" rev="0" advAuto="0" spid="1141" grpId="11"/>
      <p:bldP build="whole" bldLvl="1" animBg="1" rev="0" advAuto="0" spid="1134" grpId="4"/>
      <p:bldP build="whole" bldLvl="1" animBg="1" rev="0" advAuto="0" spid="1143" grpId="13"/>
      <p:bldP build="whole" bldLvl="1" animBg="1" rev="0" advAuto="0" spid="1132" grpId="2"/>
      <p:bldP build="whole" bldLvl="1" animBg="1" rev="0" advAuto="0" spid="1145" grpId="15"/>
      <p:bldP build="whole" bldLvl="1" animBg="1" rev="0" advAuto="0" spid="1139" grpId="9"/>
      <p:bldP build="whole" bldLvl="1" animBg="1" rev="0" advAuto="0" spid="1133" grpId="3"/>
      <p:bldP build="whole" bldLvl="1" animBg="1" rev="0" advAuto="0" spid="1140" grpId="10"/>
      <p:bldP build="whole" bldLvl="1" animBg="1" rev="0" advAuto="0" spid="1142" grpId="12"/>
      <p:bldP build="whole" bldLvl="1" animBg="1" rev="0" advAuto="0" spid="1136" grpId="6"/>
      <p:bldP build="whole" bldLvl="1" animBg="1" rev="0" advAuto="0" spid="1144" grpId="14"/>
      <p:bldP build="whole" bldLvl="1" animBg="1" rev="0" advAuto="0" spid="1131" grpId="1"/>
      <p:bldP build="whole" bldLvl="1" animBg="1" rev="0" advAuto="0" spid="1137" grpId="7"/>
    </p:bld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147" name="Google Shape;1163;p89"/>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148" name="Google Shape;1164;p89"/>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5</a:t>
            </a:r>
          </a:p>
        </p:txBody>
      </p:sp>
      <p:sp>
        <p:nvSpPr>
          <p:cNvPr id="1149" name="Google Shape;1165;p89"/>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54 / 57</a:t>
            </a:r>
          </a:p>
        </p:txBody>
      </p:sp>
      <p:sp>
        <p:nvSpPr>
          <p:cNvPr id="1150" name="Google Shape;1166;p89"/>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51" name="Google Shape;1167;p89"/>
          <p:cNvSpPr/>
          <p:nvPr/>
        </p:nvSpPr>
        <p:spPr>
          <a:xfrm>
            <a:off x="457200" y="4983479"/>
            <a:ext cx="7796463" cy="36577"/>
          </a:xfrm>
          <a:prstGeom prst="rect">
            <a:avLst/>
          </a:prstGeom>
          <a:solidFill>
            <a:srgbClr val="F97316"/>
          </a:solidFill>
          <a:ln w="12700">
            <a:miter lim="400000"/>
          </a:ln>
        </p:spPr>
        <p:txBody>
          <a:bodyPr lIns="0" tIns="0" rIns="0" bIns="0" anchor="ctr"/>
          <a:lstStyle/>
          <a:p>
            <a:pPr/>
          </a:p>
        </p:txBody>
      </p:sp>
      <p:sp>
        <p:nvSpPr>
          <p:cNvPr id="1152" name="Google Shape;1168;p89"/>
          <p:cNvSpPr txBox="1"/>
          <p:nvPr/>
        </p:nvSpPr>
        <p:spPr>
          <a:xfrm>
            <a:off x="457200" y="377190"/>
            <a:ext cx="8229600"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Georgia"/>
                <a:ea typeface="Georgia"/>
                <a:cs typeface="Georgia"/>
                <a:sym typeface="Georgia"/>
              </a:defRPr>
            </a:lvl1pPr>
          </a:lstStyle>
          <a:p>
            <a:pPr/>
            <a:r>
              <a:t>Tre domande da portarsi a casa</a:t>
            </a:r>
          </a:p>
        </p:txBody>
      </p:sp>
      <p:sp>
        <p:nvSpPr>
          <p:cNvPr id="1153" name="Google Shape;1169;p89"/>
          <p:cNvSpPr/>
          <p:nvPr/>
        </p:nvSpPr>
        <p:spPr>
          <a:xfrm>
            <a:off x="731520" y="1097280"/>
            <a:ext cx="7680960" cy="1005840"/>
          </a:xfrm>
          <a:prstGeom prst="rect">
            <a:avLst/>
          </a:prstGeom>
          <a:solidFill>
            <a:srgbClr val="1A1D2B"/>
          </a:solidFill>
          <a:ln w="12700">
            <a:miter lim="400000"/>
          </a:ln>
        </p:spPr>
        <p:txBody>
          <a:bodyPr lIns="0" tIns="0" rIns="0" bIns="0" anchor="ctr"/>
          <a:lstStyle/>
          <a:p>
            <a:pPr/>
          </a:p>
        </p:txBody>
      </p:sp>
      <p:sp>
        <p:nvSpPr>
          <p:cNvPr id="1154" name="Google Shape;1170;p89"/>
          <p:cNvSpPr/>
          <p:nvPr/>
        </p:nvSpPr>
        <p:spPr>
          <a:xfrm>
            <a:off x="731519" y="1097280"/>
            <a:ext cx="54865" cy="1005840"/>
          </a:xfrm>
          <a:prstGeom prst="rect">
            <a:avLst/>
          </a:prstGeom>
          <a:solidFill>
            <a:srgbClr val="3B82F6"/>
          </a:solidFill>
          <a:ln w="12700">
            <a:miter lim="400000"/>
          </a:ln>
        </p:spPr>
        <p:txBody>
          <a:bodyPr lIns="0" tIns="0" rIns="0" bIns="0" anchor="ctr"/>
          <a:lstStyle/>
          <a:p>
            <a:pPr/>
          </a:p>
        </p:txBody>
      </p:sp>
      <p:sp>
        <p:nvSpPr>
          <p:cNvPr id="1155" name="Google Shape;1171;p89"/>
          <p:cNvSpPr txBox="1"/>
          <p:nvPr/>
        </p:nvSpPr>
        <p:spPr>
          <a:xfrm>
            <a:off x="1005839" y="1332229"/>
            <a:ext cx="713232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3B82F6"/>
                </a:solidFill>
                <a:latin typeface="Georgia"/>
                <a:ea typeface="Georgia"/>
                <a:cs typeface="Georgia"/>
                <a:sym typeface="Georgia"/>
              </a:defRPr>
            </a:lvl1pPr>
          </a:lstStyle>
          <a:p>
            <a:pPr/>
            <a:r>
              <a:t>Stai modellando un "è un" o un "ha un"?</a:t>
            </a:r>
          </a:p>
        </p:txBody>
      </p:sp>
      <p:sp>
        <p:nvSpPr>
          <p:cNvPr id="1156" name="Google Shape;1172;p89"/>
          <p:cNvSpPr txBox="1"/>
          <p:nvPr/>
        </p:nvSpPr>
        <p:spPr>
          <a:xfrm>
            <a:off x="1005839" y="1722559"/>
            <a:ext cx="713232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Se ambiguo → composizione.</a:t>
            </a:r>
          </a:p>
        </p:txBody>
      </p:sp>
      <p:sp>
        <p:nvSpPr>
          <p:cNvPr id="1157" name="Google Shape;1173;p89"/>
          <p:cNvSpPr/>
          <p:nvPr/>
        </p:nvSpPr>
        <p:spPr>
          <a:xfrm>
            <a:off x="731520" y="2286000"/>
            <a:ext cx="7680960" cy="1005839"/>
          </a:xfrm>
          <a:prstGeom prst="rect">
            <a:avLst/>
          </a:prstGeom>
          <a:solidFill>
            <a:srgbClr val="1A1D2B"/>
          </a:solidFill>
          <a:ln w="12700">
            <a:miter lim="400000"/>
          </a:ln>
        </p:spPr>
        <p:txBody>
          <a:bodyPr lIns="0" tIns="0" rIns="0" bIns="0" anchor="ctr"/>
          <a:lstStyle/>
          <a:p>
            <a:pPr/>
          </a:p>
        </p:txBody>
      </p:sp>
      <p:sp>
        <p:nvSpPr>
          <p:cNvPr id="1158" name="Google Shape;1174;p89"/>
          <p:cNvSpPr/>
          <p:nvPr/>
        </p:nvSpPr>
        <p:spPr>
          <a:xfrm>
            <a:off x="731519" y="2286000"/>
            <a:ext cx="54865" cy="1005839"/>
          </a:xfrm>
          <a:prstGeom prst="rect">
            <a:avLst/>
          </a:prstGeom>
          <a:solidFill>
            <a:srgbClr val="A855F7"/>
          </a:solidFill>
          <a:ln w="12700">
            <a:miter lim="400000"/>
          </a:ln>
        </p:spPr>
        <p:txBody>
          <a:bodyPr lIns="0" tIns="0" rIns="0" bIns="0" anchor="ctr"/>
          <a:lstStyle/>
          <a:p>
            <a:pPr/>
          </a:p>
        </p:txBody>
      </p:sp>
      <p:sp>
        <p:nvSpPr>
          <p:cNvPr id="1159" name="Google Shape;1175;p89"/>
          <p:cNvSpPr txBox="1"/>
          <p:nvPr/>
        </p:nvSpPr>
        <p:spPr>
          <a:xfrm>
            <a:off x="1005839" y="2520949"/>
            <a:ext cx="713232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855F7"/>
                </a:solidFill>
                <a:latin typeface="Georgia"/>
                <a:ea typeface="Georgia"/>
                <a:cs typeface="Georgia"/>
                <a:sym typeface="Georgia"/>
              </a:defRPr>
            </a:lvl1pPr>
          </a:lstStyle>
          <a:p>
            <a:pPr/>
            <a:r>
              <a:t>La sottoclasse può sostituire la superclasse?</a:t>
            </a:r>
          </a:p>
        </p:txBody>
      </p:sp>
      <p:sp>
        <p:nvSpPr>
          <p:cNvPr id="1160" name="Google Shape;1176;p89"/>
          <p:cNvSpPr txBox="1"/>
          <p:nvPr/>
        </p:nvSpPr>
        <p:spPr>
          <a:xfrm>
            <a:off x="1005839" y="2911279"/>
            <a:ext cx="713232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Liskov Substitution. Se no → la gerarchia è sbagliata.</a:t>
            </a:r>
          </a:p>
        </p:txBody>
      </p:sp>
      <p:sp>
        <p:nvSpPr>
          <p:cNvPr id="1161" name="Google Shape;1177;p89"/>
          <p:cNvSpPr/>
          <p:nvPr/>
        </p:nvSpPr>
        <p:spPr>
          <a:xfrm>
            <a:off x="731520" y="3474720"/>
            <a:ext cx="7680960" cy="1005840"/>
          </a:xfrm>
          <a:prstGeom prst="rect">
            <a:avLst/>
          </a:prstGeom>
          <a:solidFill>
            <a:srgbClr val="1A1D2B"/>
          </a:solidFill>
          <a:ln w="12700">
            <a:miter lim="400000"/>
          </a:ln>
        </p:spPr>
        <p:txBody>
          <a:bodyPr lIns="0" tIns="0" rIns="0" bIns="0" anchor="ctr"/>
          <a:lstStyle/>
          <a:p>
            <a:pPr/>
          </a:p>
        </p:txBody>
      </p:sp>
      <p:sp>
        <p:nvSpPr>
          <p:cNvPr id="1162" name="Google Shape;1178;p89"/>
          <p:cNvSpPr/>
          <p:nvPr/>
        </p:nvSpPr>
        <p:spPr>
          <a:xfrm>
            <a:off x="731519" y="3474720"/>
            <a:ext cx="54865" cy="1005840"/>
          </a:xfrm>
          <a:prstGeom prst="rect">
            <a:avLst/>
          </a:prstGeom>
          <a:solidFill>
            <a:srgbClr val="22C55E"/>
          </a:solidFill>
          <a:ln w="12700">
            <a:miter lim="400000"/>
          </a:ln>
        </p:spPr>
        <p:txBody>
          <a:bodyPr lIns="0" tIns="0" rIns="0" bIns="0" anchor="ctr"/>
          <a:lstStyle/>
          <a:p>
            <a:pPr/>
          </a:p>
        </p:txBody>
      </p:sp>
      <p:sp>
        <p:nvSpPr>
          <p:cNvPr id="1163" name="Google Shape;1179;p89"/>
          <p:cNvSpPr txBox="1"/>
          <p:nvPr/>
        </p:nvSpPr>
        <p:spPr>
          <a:xfrm>
            <a:off x="1005839" y="3709670"/>
            <a:ext cx="713232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2C55E"/>
                </a:solidFill>
                <a:latin typeface="Georgia"/>
                <a:ea typeface="Georgia"/>
                <a:cs typeface="Georgia"/>
                <a:sym typeface="Georgia"/>
              </a:defRPr>
            </a:lvl1pPr>
          </a:lstStyle>
          <a:p>
            <a:pPr/>
            <a:r>
              <a:t>Stai ereditando comportamento o riutilizzando codice?</a:t>
            </a:r>
          </a:p>
        </p:txBody>
      </p:sp>
      <p:sp>
        <p:nvSpPr>
          <p:cNvPr id="1164" name="Google Shape;1180;p89"/>
          <p:cNvSpPr txBox="1"/>
          <p:nvPr/>
        </p:nvSpPr>
        <p:spPr>
          <a:xfrm>
            <a:off x="1005839" y="4099998"/>
            <a:ext cx="713232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alibri Light"/>
                <a:ea typeface="Calibri Light"/>
                <a:cs typeface="Calibri Light"/>
                <a:sym typeface="Calibri Light"/>
              </a:defRPr>
            </a:lvl1pPr>
          </a:lstStyle>
          <a:p>
            <a:pPr/>
            <a:r>
              <a:t>Per riutilizzare codice, basta una funzione.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5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154"/>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1155"/>
                                        </p:tgtEl>
                                        <p:attrNameLst>
                                          <p:attrName>style.visibility</p:attrName>
                                        </p:attrNameLst>
                                      </p:cBhvr>
                                      <p:to>
                                        <p:strVal val="visible"/>
                                      </p:to>
                                    </p:set>
                                  </p:childTnLst>
                                </p:cTn>
                              </p:par>
                            </p:childTnLst>
                          </p:cTn>
                        </p:par>
                        <p:par>
                          <p:cTn id="13" fill="hold">
                            <p:stCondLst>
                              <p:cond delay="0"/>
                            </p:stCondLst>
                            <p:childTnLst>
                              <p:par>
                                <p:cTn id="14" presetClass="entr" nodeType="afterEffect" presetSubtype="0" presetID="1" grpId="4" fill="hold">
                                  <p:stCondLst>
                                    <p:cond delay="0"/>
                                  </p:stCondLst>
                                  <p:iterate type="el" backwards="0">
                                    <p:tmAbs val="0"/>
                                  </p:iterate>
                                  <p:childTnLst>
                                    <p:set>
                                      <p:cBhvr>
                                        <p:cTn id="15" fill="hold"/>
                                        <p:tgtEl>
                                          <p:spTgt spid="115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5" fill="hold">
                                  <p:stCondLst>
                                    <p:cond delay="0"/>
                                  </p:stCondLst>
                                  <p:iterate type="el" backwards="0">
                                    <p:tmAbs val="0"/>
                                  </p:iterate>
                                  <p:childTnLst>
                                    <p:set>
                                      <p:cBhvr>
                                        <p:cTn id="19" fill="hold"/>
                                        <p:tgtEl>
                                          <p:spTgt spid="1157"/>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1158"/>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1159"/>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8" fill="hold">
                                  <p:stCondLst>
                                    <p:cond delay="0"/>
                                  </p:stCondLst>
                                  <p:iterate type="el" backwards="0">
                                    <p:tmAbs val="0"/>
                                  </p:iterate>
                                  <p:childTnLst>
                                    <p:set>
                                      <p:cBhvr>
                                        <p:cTn id="28" fill="hold"/>
                                        <p:tgtEl>
                                          <p:spTgt spid="11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9" fill="hold">
                                  <p:stCondLst>
                                    <p:cond delay="0"/>
                                  </p:stCondLst>
                                  <p:iterate type="el" backwards="0">
                                    <p:tmAbs val="0"/>
                                  </p:iterate>
                                  <p:childTnLst>
                                    <p:set>
                                      <p:cBhvr>
                                        <p:cTn id="32" fill="hold"/>
                                        <p:tgtEl>
                                          <p:spTgt spid="1161"/>
                                        </p:tgtEl>
                                        <p:attrNameLst>
                                          <p:attrName>style.visibility</p:attrName>
                                        </p:attrNameLst>
                                      </p:cBhvr>
                                      <p:to>
                                        <p:strVal val="visible"/>
                                      </p:to>
                                    </p:set>
                                  </p:childTnLst>
                                </p:cTn>
                              </p:par>
                            </p:childTnLst>
                          </p:cTn>
                        </p:par>
                        <p:par>
                          <p:cTn id="33" fill="hold">
                            <p:stCondLst>
                              <p:cond delay="0"/>
                            </p:stCondLst>
                            <p:childTnLst>
                              <p:par>
                                <p:cTn id="34" presetClass="entr" nodeType="afterEffect" presetSubtype="0" presetID="1" grpId="10" fill="hold">
                                  <p:stCondLst>
                                    <p:cond delay="0"/>
                                  </p:stCondLst>
                                  <p:iterate type="el" backwards="0">
                                    <p:tmAbs val="0"/>
                                  </p:iterate>
                                  <p:childTnLst>
                                    <p:set>
                                      <p:cBhvr>
                                        <p:cTn id="35" fill="hold"/>
                                        <p:tgtEl>
                                          <p:spTgt spid="1162"/>
                                        </p:tgtEl>
                                        <p:attrNameLst>
                                          <p:attrName>style.visibility</p:attrName>
                                        </p:attrNameLst>
                                      </p:cBhvr>
                                      <p:to>
                                        <p:strVal val="visible"/>
                                      </p:to>
                                    </p:set>
                                  </p:childTnLst>
                                </p:cTn>
                              </p:par>
                            </p:childTnLst>
                          </p:cTn>
                        </p:par>
                        <p:par>
                          <p:cTn id="36" fill="hold">
                            <p:stCondLst>
                              <p:cond delay="0"/>
                            </p:stCondLst>
                            <p:childTnLst>
                              <p:par>
                                <p:cTn id="37" presetClass="entr" nodeType="afterEffect" presetSubtype="0" presetID="1" grpId="11" fill="hold">
                                  <p:stCondLst>
                                    <p:cond delay="0"/>
                                  </p:stCondLst>
                                  <p:iterate type="el" backwards="0">
                                    <p:tmAbs val="0"/>
                                  </p:iterate>
                                  <p:childTnLst>
                                    <p:set>
                                      <p:cBhvr>
                                        <p:cTn id="38" fill="hold"/>
                                        <p:tgtEl>
                                          <p:spTgt spid="1163"/>
                                        </p:tgtEl>
                                        <p:attrNameLst>
                                          <p:attrName>style.visibility</p:attrName>
                                        </p:attrNameLst>
                                      </p:cBhvr>
                                      <p:to>
                                        <p:strVal val="visible"/>
                                      </p:to>
                                    </p:set>
                                  </p:childTnLst>
                                </p:cTn>
                              </p:par>
                            </p:childTnLst>
                          </p:cTn>
                        </p:par>
                        <p:par>
                          <p:cTn id="39" fill="hold">
                            <p:stCondLst>
                              <p:cond delay="0"/>
                            </p:stCondLst>
                            <p:childTnLst>
                              <p:par>
                                <p:cTn id="40" presetClass="entr" nodeType="afterEffect" presetSubtype="0" presetID="1" grpId="12" fill="hold">
                                  <p:stCondLst>
                                    <p:cond delay="0"/>
                                  </p:stCondLst>
                                  <p:iterate type="el" backwards="0">
                                    <p:tmAbs val="0"/>
                                  </p:iterate>
                                  <p:childTnLst>
                                    <p:set>
                                      <p:cBhvr>
                                        <p:cTn id="41" fill="hold"/>
                                        <p:tgtEl>
                                          <p:spTgt spid="1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56" grpId="4"/>
      <p:bldP build="whole" bldLvl="1" animBg="1" rev="0" advAuto="0" spid="1159" grpId="7"/>
      <p:bldP build="whole" bldLvl="1" animBg="1" rev="0" advAuto="0" spid="1161" grpId="9"/>
      <p:bldP build="whole" bldLvl="1" animBg="1" rev="0" advAuto="0" spid="1163" grpId="11"/>
      <p:bldP build="whole" bldLvl="1" animBg="1" rev="0" advAuto="0" spid="1164" grpId="12"/>
      <p:bldP build="whole" bldLvl="1" animBg="1" rev="0" advAuto="0" spid="1154" grpId="2"/>
      <p:bldP build="whole" bldLvl="1" animBg="1" rev="0" advAuto="0" spid="1155" grpId="3"/>
      <p:bldP build="whole" bldLvl="1" animBg="1" rev="0" advAuto="0" spid="1157" grpId="5"/>
      <p:bldP build="whole" bldLvl="1" animBg="1" rev="0" advAuto="0" spid="1160" grpId="8"/>
      <p:bldP build="whole" bldLvl="1" animBg="1" rev="0" advAuto="0" spid="1162" grpId="10"/>
      <p:bldP build="whole" bldLvl="1" animBg="1" rev="0" advAuto="0" spid="1158" grpId="6"/>
      <p:bldP build="whole" bldLvl="1" animBg="1" rev="0" advAuto="0" spid="1153" grpId="1"/>
    </p:bld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166" name="Google Shape;1186;p90"/>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167" name="Google Shape;1187;p90"/>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5</a:t>
            </a:r>
          </a:p>
        </p:txBody>
      </p:sp>
      <p:sp>
        <p:nvSpPr>
          <p:cNvPr id="1168" name="Google Shape;1188;p90"/>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55 / 57</a:t>
            </a:r>
          </a:p>
        </p:txBody>
      </p:sp>
      <p:sp>
        <p:nvSpPr>
          <p:cNvPr id="1169" name="Google Shape;1189;p90"/>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70" name="Google Shape;1190;p90"/>
          <p:cNvSpPr/>
          <p:nvPr/>
        </p:nvSpPr>
        <p:spPr>
          <a:xfrm>
            <a:off x="457200" y="4983479"/>
            <a:ext cx="7940841" cy="36577"/>
          </a:xfrm>
          <a:prstGeom prst="rect">
            <a:avLst/>
          </a:prstGeom>
          <a:solidFill>
            <a:srgbClr val="F97316"/>
          </a:solidFill>
          <a:ln w="12700">
            <a:miter lim="400000"/>
          </a:ln>
        </p:spPr>
        <p:txBody>
          <a:bodyPr lIns="0" tIns="0" rIns="0" bIns="0" anchor="ctr"/>
          <a:lstStyle/>
          <a:p>
            <a:pPr/>
          </a:p>
        </p:txBody>
      </p:sp>
      <p:sp>
        <p:nvSpPr>
          <p:cNvPr id="1171" name="Google Shape;1191;p90"/>
          <p:cNvSpPr/>
          <p:nvPr/>
        </p:nvSpPr>
        <p:spPr>
          <a:xfrm>
            <a:off x="1828800" y="731519"/>
            <a:ext cx="5486400" cy="3200401"/>
          </a:xfrm>
          <a:prstGeom prst="rect">
            <a:avLst/>
          </a:prstGeom>
          <a:solidFill>
            <a:srgbClr val="12141F"/>
          </a:solidFill>
          <a:ln w="12700">
            <a:miter lim="400000"/>
          </a:ln>
        </p:spPr>
        <p:txBody>
          <a:bodyPr lIns="0" tIns="0" rIns="0" bIns="0" anchor="ctr"/>
          <a:lstStyle/>
          <a:p>
            <a:pPr/>
          </a:p>
        </p:txBody>
      </p:sp>
      <p:sp>
        <p:nvSpPr>
          <p:cNvPr id="1172" name="Google Shape;1192;p90"/>
          <p:cNvSpPr txBox="1"/>
          <p:nvPr/>
        </p:nvSpPr>
        <p:spPr>
          <a:xfrm>
            <a:off x="2194560" y="1087119"/>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onsolas"/>
                <a:ea typeface="Consolas"/>
                <a:cs typeface="Consolas"/>
                <a:sym typeface="Consolas"/>
              </a:defRPr>
            </a:lvl1pPr>
          </a:lstStyle>
          <a:p>
            <a:pPr/>
            <a:r>
              <a:t>&gt; rethinking inheritance...</a:t>
            </a:r>
          </a:p>
        </p:txBody>
      </p:sp>
      <p:sp>
        <p:nvSpPr>
          <p:cNvPr id="1173" name="Google Shape;1193;p90"/>
          <p:cNvSpPr txBox="1"/>
          <p:nvPr/>
        </p:nvSpPr>
        <p:spPr>
          <a:xfrm>
            <a:off x="5486400" y="1105453"/>
            <a:ext cx="1645921" cy="1665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22C55E"/>
                </a:solidFill>
                <a:latin typeface="Consolas"/>
                <a:ea typeface="Consolas"/>
                <a:cs typeface="Consolas"/>
                <a:sym typeface="Consolas"/>
              </a:defRPr>
            </a:lvl1pPr>
          </a:lstStyle>
          <a:p>
            <a:pPr/>
            <a:r>
              <a:t>✓ DONE</a:t>
            </a:r>
          </a:p>
        </p:txBody>
      </p:sp>
      <p:sp>
        <p:nvSpPr>
          <p:cNvPr id="1174" name="Google Shape;1194;p90"/>
          <p:cNvSpPr txBox="1"/>
          <p:nvPr/>
        </p:nvSpPr>
        <p:spPr>
          <a:xfrm>
            <a:off x="2194560" y="1590039"/>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onsolas"/>
                <a:ea typeface="Consolas"/>
                <a:cs typeface="Consolas"/>
                <a:sym typeface="Consolas"/>
              </a:defRPr>
            </a:lvl1pPr>
          </a:lstStyle>
          <a:p>
            <a:pPr/>
            <a:r>
              <a:t>&gt; making ownership explicit...</a:t>
            </a:r>
          </a:p>
        </p:txBody>
      </p:sp>
      <p:sp>
        <p:nvSpPr>
          <p:cNvPr id="1175" name="Google Shape;1195;p90"/>
          <p:cNvSpPr txBox="1"/>
          <p:nvPr/>
        </p:nvSpPr>
        <p:spPr>
          <a:xfrm>
            <a:off x="5486400" y="1608373"/>
            <a:ext cx="1645921" cy="1665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22C55E"/>
                </a:solidFill>
                <a:latin typeface="Consolas"/>
                <a:ea typeface="Consolas"/>
                <a:cs typeface="Consolas"/>
                <a:sym typeface="Consolas"/>
              </a:defRPr>
            </a:lvl1pPr>
          </a:lstStyle>
          <a:p>
            <a:pPr/>
            <a:r>
              <a:t>✓ DONE</a:t>
            </a:r>
          </a:p>
        </p:txBody>
      </p:sp>
      <p:sp>
        <p:nvSpPr>
          <p:cNvPr id="1176" name="Google Shape;1196;p90"/>
          <p:cNvSpPr txBox="1"/>
          <p:nvPr/>
        </p:nvSpPr>
        <p:spPr>
          <a:xfrm>
            <a:off x="2194560" y="2092959"/>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onsolas"/>
                <a:ea typeface="Consolas"/>
                <a:cs typeface="Consolas"/>
                <a:sym typeface="Consolas"/>
              </a:defRPr>
            </a:lvl1pPr>
          </a:lstStyle>
          <a:p>
            <a:pPr/>
            <a:r>
              <a:t>&gt; treating errors as values...</a:t>
            </a:r>
          </a:p>
        </p:txBody>
      </p:sp>
      <p:sp>
        <p:nvSpPr>
          <p:cNvPr id="1177" name="Google Shape;1197;p90"/>
          <p:cNvSpPr txBox="1"/>
          <p:nvPr/>
        </p:nvSpPr>
        <p:spPr>
          <a:xfrm>
            <a:off x="5486400" y="2111293"/>
            <a:ext cx="1645921" cy="1665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22C55E"/>
                </a:solidFill>
                <a:latin typeface="Consolas"/>
                <a:ea typeface="Consolas"/>
                <a:cs typeface="Consolas"/>
                <a:sym typeface="Consolas"/>
              </a:defRPr>
            </a:lvl1pPr>
          </a:lstStyle>
          <a:p>
            <a:pPr/>
            <a:r>
              <a:t>✓ DONE</a:t>
            </a:r>
          </a:p>
        </p:txBody>
      </p:sp>
      <p:sp>
        <p:nvSpPr>
          <p:cNvPr id="1178" name="Google Shape;1198;p90"/>
          <p:cNvSpPr txBox="1"/>
          <p:nvPr/>
        </p:nvSpPr>
        <p:spPr>
          <a:xfrm>
            <a:off x="2194560" y="2595879"/>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onsolas"/>
                <a:ea typeface="Consolas"/>
                <a:cs typeface="Consolas"/>
                <a:sym typeface="Consolas"/>
              </a:defRPr>
            </a:lvl1pPr>
          </a:lstStyle>
          <a:p>
            <a:pPr/>
            <a:r>
              <a:t>&gt; defaulting to immutability...</a:t>
            </a:r>
          </a:p>
        </p:txBody>
      </p:sp>
      <p:sp>
        <p:nvSpPr>
          <p:cNvPr id="1179" name="Google Shape;1199;p90"/>
          <p:cNvSpPr txBox="1"/>
          <p:nvPr/>
        </p:nvSpPr>
        <p:spPr>
          <a:xfrm>
            <a:off x="5486400" y="2614213"/>
            <a:ext cx="1645921" cy="1665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22C55E"/>
                </a:solidFill>
                <a:latin typeface="Consolas"/>
                <a:ea typeface="Consolas"/>
                <a:cs typeface="Consolas"/>
                <a:sym typeface="Consolas"/>
              </a:defRPr>
            </a:lvl1pPr>
          </a:lstStyle>
          <a:p>
            <a:pPr/>
            <a:r>
              <a:t>✓ DONE</a:t>
            </a:r>
          </a:p>
        </p:txBody>
      </p:sp>
      <p:sp>
        <p:nvSpPr>
          <p:cNvPr id="1180" name="Google Shape;1200;p90"/>
          <p:cNvSpPr txBox="1"/>
          <p:nvPr/>
        </p:nvSpPr>
        <p:spPr>
          <a:xfrm>
            <a:off x="2194560" y="3098800"/>
            <a:ext cx="32004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9CA3AF"/>
                </a:solidFill>
                <a:latin typeface="Consolas"/>
                <a:ea typeface="Consolas"/>
                <a:cs typeface="Consolas"/>
                <a:sym typeface="Consolas"/>
              </a:defRPr>
            </a:lvl1pPr>
          </a:lstStyle>
          <a:p>
            <a:pPr/>
            <a:r>
              <a:t>&gt; unlearning...</a:t>
            </a:r>
          </a:p>
        </p:txBody>
      </p:sp>
      <p:sp>
        <p:nvSpPr>
          <p:cNvPr id="1181" name="Google Shape;1201;p90"/>
          <p:cNvSpPr txBox="1"/>
          <p:nvPr/>
        </p:nvSpPr>
        <p:spPr>
          <a:xfrm>
            <a:off x="5486400" y="3117133"/>
            <a:ext cx="1645921" cy="1665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EAB308"/>
                </a:solidFill>
                <a:latin typeface="Consolas"/>
                <a:ea typeface="Consolas"/>
                <a:cs typeface="Consolas"/>
                <a:sym typeface="Consolas"/>
              </a:defRPr>
            </a:lvl1pPr>
          </a:lstStyle>
          <a:p>
            <a:pPr/>
            <a:r>
              <a:t>░░░░░ IN PROGRESS</a:t>
            </a:r>
          </a:p>
        </p:txBody>
      </p:sp>
      <p:sp>
        <p:nvSpPr>
          <p:cNvPr id="1182" name="Google Shape;1202;p90"/>
          <p:cNvSpPr txBox="1"/>
          <p:nvPr/>
        </p:nvSpPr>
        <p:spPr>
          <a:xfrm>
            <a:off x="914400" y="4330263"/>
            <a:ext cx="7315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9CA3AF"/>
                </a:solidFill>
                <a:latin typeface="Calibri Light"/>
                <a:ea typeface="Calibri Light"/>
                <a:cs typeface="Calibri Light"/>
                <a:sym typeface="Calibri Light"/>
              </a:defRPr>
            </a:lvl1pPr>
          </a:lstStyle>
          <a:p>
            <a:pPr/>
            <a:r>
              <a:t>L'ultimo non finisce mai. Ed è okay.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72"/>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17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174"/>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117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5" fill="hold">
                                  <p:stCondLst>
                                    <p:cond delay="0"/>
                                  </p:stCondLst>
                                  <p:iterate type="el" backwards="0">
                                    <p:tmAbs val="0"/>
                                  </p:iterate>
                                  <p:childTnLst>
                                    <p:set>
                                      <p:cBhvr>
                                        <p:cTn id="20" fill="hold"/>
                                        <p:tgtEl>
                                          <p:spTgt spid="1176"/>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6" fill="hold">
                                  <p:stCondLst>
                                    <p:cond delay="0"/>
                                  </p:stCondLst>
                                  <p:iterate type="el" backwards="0">
                                    <p:tmAbs val="0"/>
                                  </p:iterate>
                                  <p:childTnLst>
                                    <p:set>
                                      <p:cBhvr>
                                        <p:cTn id="23" fill="hold"/>
                                        <p:tgtEl>
                                          <p:spTgt spid="117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7" fill="hold">
                                  <p:stCondLst>
                                    <p:cond delay="0"/>
                                  </p:stCondLst>
                                  <p:iterate type="el" backwards="0">
                                    <p:tmAbs val="0"/>
                                  </p:iterate>
                                  <p:childTnLst>
                                    <p:set>
                                      <p:cBhvr>
                                        <p:cTn id="27" fill="hold"/>
                                        <p:tgtEl>
                                          <p:spTgt spid="1178"/>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8" fill="hold">
                                  <p:stCondLst>
                                    <p:cond delay="0"/>
                                  </p:stCondLst>
                                  <p:iterate type="el" backwards="0">
                                    <p:tmAbs val="0"/>
                                  </p:iterate>
                                  <p:childTnLst>
                                    <p:set>
                                      <p:cBhvr>
                                        <p:cTn id="30" fill="hold"/>
                                        <p:tgtEl>
                                          <p:spTgt spid="117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9" fill="hold">
                                  <p:stCondLst>
                                    <p:cond delay="0"/>
                                  </p:stCondLst>
                                  <p:iterate type="el" backwards="0">
                                    <p:tmAbs val="0"/>
                                  </p:iterate>
                                  <p:childTnLst>
                                    <p:set>
                                      <p:cBhvr>
                                        <p:cTn id="34" fill="hold"/>
                                        <p:tgtEl>
                                          <p:spTgt spid="118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0" presetID="1" grpId="10" fill="hold">
                                  <p:stCondLst>
                                    <p:cond delay="0"/>
                                  </p:stCondLst>
                                  <p:iterate type="el" backwards="0">
                                    <p:tmAbs val="0"/>
                                  </p:iterate>
                                  <p:childTnLst>
                                    <p:set>
                                      <p:cBhvr>
                                        <p:cTn id="38" fill="hold"/>
                                        <p:tgtEl>
                                          <p:spTgt spid="118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0" presetID="1" grpId="11" fill="hold">
                                  <p:stCondLst>
                                    <p:cond delay="0"/>
                                  </p:stCondLst>
                                  <p:iterate type="el" backwards="0">
                                    <p:tmAbs val="0"/>
                                  </p:iterate>
                                  <p:childTnLst>
                                    <p:set>
                                      <p:cBhvr>
                                        <p:cTn id="42" fill="hold"/>
                                        <p:tgtEl>
                                          <p:spTgt spid="1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75" grpId="4"/>
      <p:bldP build="whole" bldLvl="1" animBg="1" rev="0" advAuto="0" spid="1180" grpId="9"/>
      <p:bldP build="whole" bldLvl="1" animBg="1" rev="0" advAuto="0" spid="1172" grpId="1"/>
      <p:bldP build="whole" bldLvl="1" animBg="1" rev="0" advAuto="0" spid="1176" grpId="5"/>
      <p:bldP build="whole" bldLvl="1" animBg="1" rev="0" advAuto="0" spid="1181" grpId="10"/>
      <p:bldP build="whole" bldLvl="1" animBg="1" rev="0" advAuto="0" spid="1182" grpId="11"/>
      <p:bldP build="whole" bldLvl="1" animBg="1" rev="0" advAuto="0" spid="1173" grpId="2"/>
      <p:bldP build="whole" bldLvl="1" animBg="1" rev="0" advAuto="0" spid="1178" grpId="7"/>
      <p:bldP build="whole" bldLvl="1" animBg="1" rev="0" advAuto="0" spid="1177" grpId="6"/>
      <p:bldP build="whole" bldLvl="1" animBg="1" rev="0" advAuto="0" spid="1174" grpId="3"/>
      <p:bldP build="whole" bldLvl="1" animBg="1" rev="0" advAuto="0" spid="1179" grpId="8"/>
    </p:bld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184" name="Google Shape;1208;p91"/>
          <p:cNvSpPr/>
          <p:nvPr/>
        </p:nvSpPr>
        <p:spPr>
          <a:xfrm>
            <a:off x="365759" y="274320"/>
            <a:ext cx="822962" cy="292609"/>
          </a:xfrm>
          <a:prstGeom prst="rect">
            <a:avLst/>
          </a:prstGeom>
          <a:solidFill>
            <a:srgbClr val="2A1A08"/>
          </a:solidFill>
          <a:ln w="12700">
            <a:miter lim="400000"/>
          </a:ln>
        </p:spPr>
        <p:txBody>
          <a:bodyPr lIns="0" tIns="0" rIns="0" bIns="0" anchor="ctr"/>
          <a:lstStyle/>
          <a:p>
            <a:pPr/>
          </a:p>
        </p:txBody>
      </p:sp>
      <p:sp>
        <p:nvSpPr>
          <p:cNvPr id="1185" name="Google Shape;1209;p91"/>
          <p:cNvSpPr txBox="1"/>
          <p:nvPr/>
        </p:nvSpPr>
        <p:spPr>
          <a:xfrm>
            <a:off x="365759" y="350773"/>
            <a:ext cx="82296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F97316"/>
                </a:solidFill>
                <a:latin typeface="Consolas"/>
                <a:ea typeface="Consolas"/>
                <a:cs typeface="Consolas"/>
                <a:sym typeface="Consolas"/>
              </a:defRPr>
            </a:lvl1pPr>
          </a:lstStyle>
          <a:p>
            <a:pPr/>
            <a:r>
              <a:t>ACT 5</a:t>
            </a:r>
          </a:p>
        </p:txBody>
      </p:sp>
      <p:sp>
        <p:nvSpPr>
          <p:cNvPr id="1186" name="Google Shape;1210;p91"/>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56 / 57</a:t>
            </a:r>
          </a:p>
        </p:txBody>
      </p:sp>
      <p:sp>
        <p:nvSpPr>
          <p:cNvPr id="1187" name="Google Shape;1211;p91"/>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188" name="Google Shape;1212;p91"/>
          <p:cNvSpPr/>
          <p:nvPr/>
        </p:nvSpPr>
        <p:spPr>
          <a:xfrm>
            <a:off x="457199" y="4983479"/>
            <a:ext cx="8085223" cy="36577"/>
          </a:xfrm>
          <a:prstGeom prst="rect">
            <a:avLst/>
          </a:prstGeom>
          <a:solidFill>
            <a:srgbClr val="F97316"/>
          </a:solidFill>
          <a:ln w="12700">
            <a:miter lim="400000"/>
          </a:ln>
        </p:spPr>
        <p:txBody>
          <a:bodyPr lIns="0" tIns="0" rIns="0" bIns="0" anchor="ctr"/>
          <a:lstStyle/>
          <a:p>
            <a:pPr/>
          </a:p>
        </p:txBody>
      </p:sp>
      <p:sp>
        <p:nvSpPr>
          <p:cNvPr id="1189" name="Google Shape;1213;p91"/>
          <p:cNvSpPr txBox="1"/>
          <p:nvPr/>
        </p:nvSpPr>
        <p:spPr>
          <a:xfrm>
            <a:off x="457200" y="358140"/>
            <a:ext cx="82296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FFFFF"/>
                </a:solidFill>
                <a:latin typeface="Georgia"/>
                <a:ea typeface="Georgia"/>
                <a:cs typeface="Georgia"/>
                <a:sym typeface="Georgia"/>
              </a:defRPr>
            </a:lvl1pPr>
          </a:lstStyle>
          <a:p>
            <a:pPr/>
            <a:r>
              <a:t>Risorse</a:t>
            </a:r>
          </a:p>
        </p:txBody>
      </p:sp>
      <p:sp>
        <p:nvSpPr>
          <p:cNvPr id="1190" name="Google Shape;1214;p91"/>
          <p:cNvSpPr txBox="1"/>
          <p:nvPr/>
        </p:nvSpPr>
        <p:spPr>
          <a:xfrm>
            <a:off x="1097280" y="1199152"/>
            <a:ext cx="274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97316"/>
                </a:solidFill>
                <a:latin typeface="Calibri Light"/>
                <a:ea typeface="Calibri Light"/>
                <a:cs typeface="Calibri Light"/>
                <a:sym typeface="Calibri Light"/>
              </a:defRPr>
            </a:lvl1pPr>
          </a:lstStyle>
          <a:p>
            <a:pPr/>
            <a:r>
              <a:t>▸</a:t>
            </a:r>
          </a:p>
        </p:txBody>
      </p:sp>
      <p:sp>
        <p:nvSpPr>
          <p:cNvPr id="1191" name="Google Shape;1215;p91"/>
          <p:cNvSpPr txBox="1"/>
          <p:nvPr/>
        </p:nvSpPr>
        <p:spPr>
          <a:xfrm>
            <a:off x="1463039" y="1213823"/>
            <a:ext cx="64008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alibri Light"/>
                <a:ea typeface="Calibri Light"/>
                <a:cs typeface="Calibri Light"/>
                <a:sym typeface="Calibri Light"/>
              </a:defRPr>
            </a:lvl1pPr>
          </a:lstStyle>
          <a:p>
            <a:pPr/>
            <a:r>
              <a:t>Design Patterns — Gamma, Helm, Johnson, Vlissides</a:t>
            </a:r>
          </a:p>
        </p:txBody>
      </p:sp>
      <p:sp>
        <p:nvSpPr>
          <p:cNvPr id="1192" name="Google Shape;1216;p91"/>
          <p:cNvSpPr txBox="1"/>
          <p:nvPr/>
        </p:nvSpPr>
        <p:spPr>
          <a:xfrm>
            <a:off x="1097280" y="1839231"/>
            <a:ext cx="274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97316"/>
                </a:solidFill>
                <a:latin typeface="Calibri Light"/>
                <a:ea typeface="Calibri Light"/>
                <a:cs typeface="Calibri Light"/>
                <a:sym typeface="Calibri Light"/>
              </a:defRPr>
            </a:lvl1pPr>
          </a:lstStyle>
          <a:p>
            <a:pPr/>
            <a:r>
              <a:t>▸</a:t>
            </a:r>
          </a:p>
        </p:txBody>
      </p:sp>
      <p:sp>
        <p:nvSpPr>
          <p:cNvPr id="1193" name="Google Shape;1217;p91"/>
          <p:cNvSpPr txBox="1"/>
          <p:nvPr/>
        </p:nvSpPr>
        <p:spPr>
          <a:xfrm>
            <a:off x="1463039" y="1853903"/>
            <a:ext cx="6400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alibri Light"/>
                <a:ea typeface="Calibri Light"/>
                <a:cs typeface="Calibri Light"/>
                <a:sym typeface="Calibri Light"/>
              </a:defRPr>
            </a:lvl1pPr>
          </a:lstStyle>
          <a:p>
            <a:pPr/>
            <a:r>
              <a:t>Effective Java — Joshua Bloch</a:t>
            </a:r>
          </a:p>
        </p:txBody>
      </p:sp>
      <p:sp>
        <p:nvSpPr>
          <p:cNvPr id="1194" name="Google Shape;1218;p91"/>
          <p:cNvSpPr txBox="1"/>
          <p:nvPr/>
        </p:nvSpPr>
        <p:spPr>
          <a:xfrm>
            <a:off x="1097280" y="2479312"/>
            <a:ext cx="274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97316"/>
                </a:solidFill>
                <a:latin typeface="Calibri Light"/>
                <a:ea typeface="Calibri Light"/>
                <a:cs typeface="Calibri Light"/>
                <a:sym typeface="Calibri Light"/>
              </a:defRPr>
            </a:lvl1pPr>
          </a:lstStyle>
          <a:p>
            <a:pPr/>
            <a:r>
              <a:t>▸</a:t>
            </a:r>
          </a:p>
        </p:txBody>
      </p:sp>
      <p:sp>
        <p:nvSpPr>
          <p:cNvPr id="1195" name="Google Shape;1219;p91"/>
          <p:cNvSpPr txBox="1"/>
          <p:nvPr/>
        </p:nvSpPr>
        <p:spPr>
          <a:xfrm>
            <a:off x="1463039" y="2493984"/>
            <a:ext cx="6400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alibri Light"/>
                <a:ea typeface="Calibri Light"/>
                <a:cs typeface="Calibri Light"/>
                <a:sym typeface="Calibri Light"/>
              </a:defRPr>
            </a:lvl1pPr>
          </a:lstStyle>
          <a:p>
            <a:pPr/>
            <a:r>
              <a:t>Programming Rust — Blandy, Orendorff, Tindall</a:t>
            </a:r>
          </a:p>
        </p:txBody>
      </p:sp>
      <p:sp>
        <p:nvSpPr>
          <p:cNvPr id="1196" name="Google Shape;1220;p91"/>
          <p:cNvSpPr txBox="1"/>
          <p:nvPr/>
        </p:nvSpPr>
        <p:spPr>
          <a:xfrm>
            <a:off x="1097280" y="3073672"/>
            <a:ext cx="274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97316"/>
                </a:solidFill>
                <a:latin typeface="Calibri Light"/>
                <a:ea typeface="Calibri Light"/>
                <a:cs typeface="Calibri Light"/>
                <a:sym typeface="Calibri Light"/>
              </a:defRPr>
            </a:lvl1pPr>
          </a:lstStyle>
          <a:p>
            <a:pPr/>
            <a:r>
              <a:t>▸</a:t>
            </a:r>
          </a:p>
        </p:txBody>
      </p:sp>
      <p:sp>
        <p:nvSpPr>
          <p:cNvPr id="1197" name="Google Shape;1221;p91"/>
          <p:cNvSpPr txBox="1"/>
          <p:nvPr/>
        </p:nvSpPr>
        <p:spPr>
          <a:xfrm>
            <a:off x="1463039" y="3088344"/>
            <a:ext cx="6400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alibri Light"/>
                <a:ea typeface="Calibri Light"/>
                <a:cs typeface="Calibri Light"/>
                <a:sym typeface="Calibri Light"/>
              </a:defRPr>
            </a:lvl1pPr>
          </a:lstStyle>
          <a:p>
            <a:pPr/>
            <a:r>
              <a:t>"Simple Made Easy" — Rich Hickey</a:t>
            </a:r>
          </a:p>
        </p:txBody>
      </p:sp>
      <p:sp>
        <p:nvSpPr>
          <p:cNvPr id="1198" name="Google Shape;1222;p91"/>
          <p:cNvSpPr txBox="1"/>
          <p:nvPr/>
        </p:nvSpPr>
        <p:spPr>
          <a:xfrm>
            <a:off x="1114968" y="3642450"/>
            <a:ext cx="2742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97316"/>
                </a:solidFill>
                <a:latin typeface="Calibri Light"/>
                <a:ea typeface="Calibri Light"/>
                <a:cs typeface="Calibri Light"/>
                <a:sym typeface="Calibri Light"/>
              </a:defRPr>
            </a:lvl1pPr>
          </a:lstStyle>
          <a:p>
            <a:pPr/>
            <a:r>
              <a:t>▸</a:t>
            </a:r>
          </a:p>
        </p:txBody>
      </p:sp>
      <p:sp>
        <p:nvSpPr>
          <p:cNvPr id="1199" name="Google Shape;1223;p91"/>
          <p:cNvSpPr txBox="1"/>
          <p:nvPr/>
        </p:nvSpPr>
        <p:spPr>
          <a:xfrm>
            <a:off x="1480728" y="3657122"/>
            <a:ext cx="6400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E5E7EB"/>
                </a:solidFill>
                <a:latin typeface="Calibri Light"/>
                <a:ea typeface="Calibri Light"/>
                <a:cs typeface="Calibri Light"/>
                <a:sym typeface="Calibri Light"/>
              </a:defRPr>
            </a:lvl1pPr>
          </a:lstStyle>
          <a:p>
            <a:pPr/>
            <a:r>
              <a:t>"OOP to Rust" — Enzo Lombardi</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1117"/>
        </a:solidFill>
      </p:bgPr>
    </p:bg>
    <p:spTree>
      <p:nvGrpSpPr>
        <p:cNvPr id="1" name=""/>
        <p:cNvGrpSpPr/>
        <p:nvPr/>
      </p:nvGrpSpPr>
      <p:grpSpPr>
        <a:xfrm>
          <a:off x="0" y="0"/>
          <a:ext cx="0" cy="0"/>
          <a:chOff x="0" y="0"/>
          <a:chExt cx="0" cy="0"/>
        </a:xfrm>
      </p:grpSpPr>
      <p:sp>
        <p:nvSpPr>
          <p:cNvPr id="1201" name="Google Shape;1229;p92"/>
          <p:cNvSpPr txBox="1"/>
          <p:nvPr/>
        </p:nvSpPr>
        <p:spPr>
          <a:xfrm>
            <a:off x="7818125" y="4776489"/>
            <a:ext cx="1005831"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900">
                <a:solidFill>
                  <a:srgbClr val="6B7280"/>
                </a:solidFill>
                <a:latin typeface="Consolas"/>
                <a:ea typeface="Consolas"/>
                <a:cs typeface="Consolas"/>
                <a:sym typeface="Consolas"/>
              </a:defRPr>
            </a:lvl1pPr>
          </a:lstStyle>
          <a:p>
            <a:pPr/>
            <a:r>
              <a:t>57 / 57</a:t>
            </a:r>
          </a:p>
        </p:txBody>
      </p:sp>
      <p:sp>
        <p:nvSpPr>
          <p:cNvPr id="1202" name="Google Shape;1230;p92"/>
          <p:cNvSpPr/>
          <p:nvPr/>
        </p:nvSpPr>
        <p:spPr>
          <a:xfrm>
            <a:off x="457200" y="4983479"/>
            <a:ext cx="8229600" cy="36577"/>
          </a:xfrm>
          <a:prstGeom prst="rect">
            <a:avLst/>
          </a:prstGeom>
          <a:solidFill>
            <a:srgbClr val="374151"/>
          </a:solidFill>
          <a:ln w="12700">
            <a:miter lim="400000"/>
          </a:ln>
        </p:spPr>
        <p:txBody>
          <a:bodyPr lIns="0" tIns="0" rIns="0" bIns="0" anchor="ctr"/>
          <a:lstStyle/>
          <a:p>
            <a:pPr/>
          </a:p>
        </p:txBody>
      </p:sp>
      <p:sp>
        <p:nvSpPr>
          <p:cNvPr id="1203" name="Google Shape;1231;p92"/>
          <p:cNvSpPr/>
          <p:nvPr/>
        </p:nvSpPr>
        <p:spPr>
          <a:xfrm>
            <a:off x="457200" y="4983479"/>
            <a:ext cx="8229600" cy="36577"/>
          </a:xfrm>
          <a:prstGeom prst="rect">
            <a:avLst/>
          </a:prstGeom>
          <a:solidFill>
            <a:srgbClr val="F97316"/>
          </a:solidFill>
          <a:ln w="12700">
            <a:miter lim="400000"/>
          </a:ln>
        </p:spPr>
        <p:txBody>
          <a:bodyPr lIns="0" tIns="0" rIns="0" bIns="0" anchor="ctr"/>
          <a:lstStyle/>
          <a:p>
            <a:pPr/>
          </a:p>
        </p:txBody>
      </p:sp>
      <p:sp>
        <p:nvSpPr>
          <p:cNvPr id="1204" name="Google Shape;1232;p92"/>
          <p:cNvSpPr txBox="1"/>
          <p:nvPr/>
        </p:nvSpPr>
        <p:spPr>
          <a:xfrm>
            <a:off x="457200" y="1593850"/>
            <a:ext cx="8229600" cy="927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6400">
                <a:solidFill>
                  <a:srgbClr val="F97316"/>
                </a:solidFill>
                <a:latin typeface="Georgia"/>
                <a:ea typeface="Georgia"/>
                <a:cs typeface="Georgia"/>
                <a:sym typeface="Georgia"/>
              </a:defRPr>
            </a:lvl1pPr>
          </a:lstStyle>
          <a:p>
            <a:pPr/>
            <a:r>
              <a:t>Grazie.</a:t>
            </a:r>
          </a:p>
        </p:txBody>
      </p:sp>
      <p:sp>
        <p:nvSpPr>
          <p:cNvPr id="1205" name="Google Shape;1233;p92"/>
          <p:cNvSpPr/>
          <p:nvPr/>
        </p:nvSpPr>
        <p:spPr>
          <a:xfrm>
            <a:off x="3840479" y="2926079"/>
            <a:ext cx="1463041" cy="36577"/>
          </a:xfrm>
          <a:prstGeom prst="rect">
            <a:avLst/>
          </a:prstGeom>
          <a:solidFill>
            <a:srgbClr val="F97316"/>
          </a:solidFill>
          <a:ln w="12700">
            <a:miter lim="400000"/>
          </a:ln>
        </p:spPr>
        <p:txBody>
          <a:bodyPr lIns="0" tIns="0" rIns="0" bIns="0" anchor="ctr"/>
          <a:lstStyle/>
          <a:p>
            <a:pPr/>
          </a:p>
        </p:txBody>
      </p:sp>
      <p:sp>
        <p:nvSpPr>
          <p:cNvPr id="1206" name="Google Shape;1234;p92"/>
          <p:cNvSpPr txBox="1"/>
          <p:nvPr/>
        </p:nvSpPr>
        <p:spPr>
          <a:xfrm>
            <a:off x="914400" y="3098626"/>
            <a:ext cx="7315200" cy="11179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800">
                <a:solidFill>
                  <a:srgbClr val="9CA3AF"/>
                </a:solidFill>
                <a:latin typeface="Calibri Light"/>
                <a:ea typeface="Calibri Light"/>
                <a:cs typeface="Calibri Light"/>
                <a:sym typeface="Calibri Light"/>
              </a:defRPr>
            </a:pPr>
            <a:r>
              <a:t>Domande? Obiezioni?</a:t>
            </a:r>
          </a:p>
          <a:p>
            <a:pPr algn="ctr">
              <a:defRPr sz="1800">
                <a:solidFill>
                  <a:srgbClr val="9CA3AF"/>
                </a:solidFill>
                <a:latin typeface="Calibri Light"/>
                <a:ea typeface="Calibri Light"/>
                <a:cs typeface="Calibri Light"/>
                <a:sym typeface="Calibri Light"/>
              </a:defRPr>
            </a:pPr>
            <a:r>
              <a:t>Difensori dell'ereditarietà multipla?</a:t>
            </a:r>
            <a:br/>
            <a:r>
              <a:rPr u="sng">
                <a:solidFill>
                  <a:schemeClr val="accent5"/>
                </a:solidFill>
                <a:uFill>
                  <a:solidFill>
                    <a:schemeClr val="accent5"/>
                  </a:solidFill>
                </a:uFill>
                <a:hlinkClick r:id="rId3" invalidUrl="" action="" tgtFrame="" tooltip="" history="1" highlightClick="0" endSnd="0"/>
              </a:rPr>
              <a:t>https://enzolombardi.net</a:t>
            </a:r>
            <a:br/>
            <a:r>
              <a:rPr u="sng">
                <a:solidFill>
                  <a:schemeClr val="accent5"/>
                </a:solidFill>
                <a:uFill>
                  <a:solidFill>
                    <a:schemeClr val="accent5"/>
                  </a:solidFill>
                </a:uFill>
                <a:hlinkClick r:id="rId4" invalidUrl="" action="" tgtFrame="" tooltip="" history="1" highlightClick="0" endSnd="0"/>
              </a:rPr>
              <a:t>https://www.linkedin.com/in/enzo-lombardi-ab8a19/</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06" grpId="1"/>
    </p:bldLst>
  </p:timing>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